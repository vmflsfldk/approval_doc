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29" r:id="rId2"/>
    <p:sldId id="4027" r:id="rId3"/>
    <p:sldId id="4028" r:id="rId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CFCF"/>
    <a:srgbClr val="0000FF"/>
    <a:srgbClr val="DEDEDE"/>
    <a:srgbClr val="009296"/>
    <a:srgbClr val="F75443"/>
    <a:srgbClr val="EDEDED"/>
    <a:srgbClr val="E7E7E7"/>
    <a:srgbClr val="F2F2F2"/>
    <a:srgbClr val="3B4B5F"/>
    <a:srgbClr val="405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4614" autoAdjust="0"/>
  </p:normalViewPr>
  <p:slideViewPr>
    <p:cSldViewPr snapToGrid="0">
      <p:cViewPr>
        <p:scale>
          <a:sx n="100" d="100"/>
          <a:sy n="100" d="100"/>
        </p:scale>
        <p:origin x="1260" y="3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63208D-54E3-47D6-81F3-811465471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4BA11-92D9-448D-ABDB-5E7FB0340E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2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B80EE26C-51DA-4DAF-A168-3A71E27B6D3D}" type="datetimeFigureOut">
              <a:rPr lang="ko-KR" altLang="en-US" smtClean="0"/>
              <a:t>2024-02-29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13F8B7-0556-4AF8-ADD8-E39F567F6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2EC5AC-1669-414C-884C-297003091C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5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8C46F0D7-2F1C-432C-8DCB-605A26590E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653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2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EE70301D-BD39-4B7A-85F3-950C031BB8F1}" type="datetimeFigureOut">
              <a:rPr lang="ko-KR" altLang="en-US" smtClean="0"/>
              <a:t>2024-02-29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1425"/>
            <a:ext cx="5949950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8"/>
            <a:ext cx="5438140" cy="3908613"/>
          </a:xfrm>
          <a:prstGeom prst="rect">
            <a:avLst/>
          </a:prstGeom>
        </p:spPr>
        <p:txBody>
          <a:bodyPr vert="horz" lIns="91467" tIns="45734" rIns="91467" bIns="4573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068BF6EB-4656-4A42-A8B3-0125CF75F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418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386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718D-E124-9DBE-C384-4B6D78A1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F6CCEE-10AF-7ECB-4F49-98BEDB313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ACE12C-C7AC-E400-3D11-EDF3A2166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3E03E3-C5B3-6DE0-4816-387564EEB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517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F49A-386C-3D90-8E27-486356D2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64ECF6-E5AB-94EB-2FB6-EFAB87D7C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534793-14DC-307A-FD5D-C3B194834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C2B640-5377-CFB9-5464-D4D68921A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00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 shadeToTitle="1">
        <a:gradFill flip="none" rotWithShape="1">
          <a:gsLst>
            <a:gs pos="0">
              <a:schemeClr val="bg1">
                <a:lumMod val="95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잘린 대각선 방향 모서리 31">
            <a:extLst>
              <a:ext uri="{FF2B5EF4-FFF2-40B4-BE49-F238E27FC236}">
                <a16:creationId xmlns:a16="http://schemas.microsoft.com/office/drawing/2014/main" id="{7649CA9F-CAB9-4A1A-90DC-0C8163EA8989}"/>
              </a:ext>
            </a:extLst>
          </p:cNvPr>
          <p:cNvSpPr/>
          <p:nvPr userDrawn="1"/>
        </p:nvSpPr>
        <p:spPr>
          <a:xfrm>
            <a:off x="2038350" y="1821301"/>
            <a:ext cx="8124826" cy="2684462"/>
          </a:xfrm>
          <a:prstGeom prst="snip2DiagRect">
            <a:avLst>
              <a:gd name="adj1" fmla="val 0"/>
              <a:gd name="adj2" fmla="val 34384"/>
            </a:avLst>
          </a:prstGeom>
          <a:solidFill>
            <a:schemeClr val="bg1">
              <a:lumMod val="95000"/>
            </a:schemeClr>
          </a:solidFill>
          <a:ln w="127000" cap="sq">
            <a:gradFill>
              <a:gsLst>
                <a:gs pos="0">
                  <a:schemeClr val="accent3">
                    <a:lumMod val="40000"/>
                    <a:lumOff val="60000"/>
                    <a:alpha val="50000"/>
                  </a:schemeClr>
                </a:gs>
                <a:gs pos="74000">
                  <a:schemeClr val="accent3">
                    <a:lumMod val="20000"/>
                    <a:lumOff val="80000"/>
                  </a:schemeClr>
                </a:gs>
                <a:gs pos="83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lumMod val="60000"/>
                    <a:lumOff val="40000"/>
                    <a:alpha val="5900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675A5D-73F0-4345-8C41-D16AE957434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F7595-9A03-4449-9361-A3ECF46FDA65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 txBox="1">
            <a:spLocks/>
          </p:cNvSpPr>
          <p:nvPr userDrawn="1"/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5BA45A-4289-481B-8909-73EE20B93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SEGYUNG HITECH  l</a:t>
            </a:r>
            <a:r>
              <a:rPr lang="ko-KR" altLang="en-US"/>
              <a:t>  </a:t>
            </a:r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350FEF67-B76B-4CB0-71EE-CE7F6D4E9B21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김종현 차장</a:t>
            </a:r>
            <a:r>
              <a:rPr lang="en-US" altLang="ko-KR" dirty="0"/>
              <a:t>, </a:t>
            </a:r>
            <a:r>
              <a:rPr lang="ko-KR" altLang="en-US" dirty="0"/>
              <a:t>이근현 과장</a:t>
            </a:r>
          </a:p>
        </p:txBody>
      </p:sp>
    </p:spTree>
    <p:extLst>
      <p:ext uri="{BB962C8B-B14F-4D97-AF65-F5344CB8AC3E}">
        <p14:creationId xmlns:p14="http://schemas.microsoft.com/office/powerpoint/2010/main" val="167558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E675A5D-73F0-4345-8C41-D16AE957434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EF7595-9A03-4449-9361-A3ECF46FDA65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 txBox="1">
            <a:spLocks/>
          </p:cNvSpPr>
          <p:nvPr userDrawn="1"/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C166B8-75FA-314F-5EE8-1D82377497CB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김종현 차장</a:t>
            </a:r>
            <a:r>
              <a:rPr lang="en-US" altLang="ko-KR" dirty="0"/>
              <a:t>, </a:t>
            </a:r>
            <a:r>
              <a:rPr lang="ko-KR" altLang="en-US" dirty="0"/>
              <a:t>이근현 과장</a:t>
            </a:r>
          </a:p>
        </p:txBody>
      </p:sp>
    </p:spTree>
    <p:extLst>
      <p:ext uri="{BB962C8B-B14F-4D97-AF65-F5344CB8AC3E}">
        <p14:creationId xmlns:p14="http://schemas.microsoft.com/office/powerpoint/2010/main" val="88546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 shadeToTitle="1">
        <a:gradFill flip="none" rotWithShape="1"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8B56C3-6A92-4990-B687-42768ABB269F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6563F6-1F31-4467-8C11-6BD9AEA8BE0F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8770128" y="6253988"/>
            <a:ext cx="3313922" cy="409343"/>
            <a:chOff x="8770128" y="6215888"/>
            <a:chExt cx="3313922" cy="40934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B8AFE64-8F16-48E8-AE83-FF0BAF7F5046}"/>
                </a:ext>
              </a:extLst>
            </p:cNvPr>
            <p:cNvGrpSpPr/>
            <p:nvPr/>
          </p:nvGrpSpPr>
          <p:grpSpPr>
            <a:xfrm>
              <a:off x="8770128" y="6215888"/>
              <a:ext cx="3267776" cy="409343"/>
              <a:chOff x="117722" y="46910"/>
              <a:chExt cx="2165629" cy="267091"/>
            </a:xfrm>
          </p:grpSpPr>
          <p:pic>
            <p:nvPicPr>
              <p:cNvPr id="15" name="그래픽 5">
                <a:extLst>
                  <a:ext uri="{FF2B5EF4-FFF2-40B4-BE49-F238E27FC236}">
                    <a16:creationId xmlns:a16="http://schemas.microsoft.com/office/drawing/2014/main" id="{8D0D1A31-34CD-438C-A293-8E45ECA1D9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7722" y="46910"/>
                <a:ext cx="298267" cy="190322"/>
              </a:xfrm>
              <a:prstGeom prst="rect">
                <a:avLst/>
              </a:prstGeom>
            </p:spPr>
          </p:pic>
          <p:pic>
            <p:nvPicPr>
              <p:cNvPr id="16" name="그래픽 6">
                <a:extLst>
                  <a:ext uri="{FF2B5EF4-FFF2-40B4-BE49-F238E27FC236}">
                    <a16:creationId xmlns:a16="http://schemas.microsoft.com/office/drawing/2014/main" id="{7646B6B4-7CEA-44C7-9340-3DB2E0E8C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8727" y="53979"/>
                <a:ext cx="1814624" cy="260022"/>
              </a:xfrm>
              <a:prstGeom prst="rect">
                <a:avLst/>
              </a:prstGeom>
            </p:spPr>
          </p:pic>
        </p:grpSp>
        <p:sp>
          <p:nvSpPr>
            <p:cNvPr id="14" name="직사각형 13"/>
            <p:cNvSpPr/>
            <p:nvPr/>
          </p:nvSpPr>
          <p:spPr>
            <a:xfrm>
              <a:off x="10617200" y="6494874"/>
              <a:ext cx="1466850" cy="130357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C84EEBFB-6D96-E417-25A9-D132C4AA96B9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김종현 차장</a:t>
            </a:r>
            <a:r>
              <a:rPr lang="en-US" altLang="ko-KR" dirty="0"/>
              <a:t>, </a:t>
            </a:r>
            <a:r>
              <a:rPr lang="ko-KR" altLang="en-US" dirty="0"/>
              <a:t>이근현 과장</a:t>
            </a:r>
          </a:p>
        </p:txBody>
      </p:sp>
    </p:spTree>
    <p:extLst>
      <p:ext uri="{BB962C8B-B14F-4D97-AF65-F5344CB8AC3E}">
        <p14:creationId xmlns:p14="http://schemas.microsoft.com/office/powerpoint/2010/main" val="319470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 shadeToTitle="1">
        <a:gradFill flip="none" rotWithShape="1"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AAEAF18-B8B4-4B91-9075-48BEA43EFB7F}"/>
              </a:ext>
            </a:extLst>
          </p:cNvPr>
          <p:cNvGrpSpPr/>
          <p:nvPr userDrawn="1"/>
        </p:nvGrpSpPr>
        <p:grpSpPr>
          <a:xfrm>
            <a:off x="-12526" y="-9525"/>
            <a:ext cx="12204525" cy="647703"/>
            <a:chOff x="-12526" y="-9525"/>
            <a:chExt cx="12204525" cy="64770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BBE7039-DBB8-4C4C-96B2-C5247D103483}"/>
                </a:ext>
              </a:extLst>
            </p:cNvPr>
            <p:cNvSpPr/>
            <p:nvPr userDrawn="1"/>
          </p:nvSpPr>
          <p:spPr>
            <a:xfrm>
              <a:off x="-12526" y="-9522"/>
              <a:ext cx="12192000" cy="647700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74000">
                  <a:srgbClr val="009999"/>
                </a:gs>
                <a:gs pos="83000">
                  <a:srgbClr val="009999"/>
                </a:gs>
                <a:gs pos="100000">
                  <a:srgbClr val="00999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/>
                <a:t> </a:t>
              </a:r>
              <a:endParaRPr lang="ko-KR" altLang="en-US"/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36732C21-5F54-432E-9EFF-ED12B1B1D899}"/>
                </a:ext>
              </a:extLst>
            </p:cNvPr>
            <p:cNvSpPr/>
            <p:nvPr userDrawn="1"/>
          </p:nvSpPr>
          <p:spPr>
            <a:xfrm>
              <a:off x="9339259" y="-9525"/>
              <a:ext cx="1552577" cy="647702"/>
            </a:xfrm>
            <a:prstGeom prst="triangl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598918-880D-420B-A104-D7E39733DB81}"/>
                </a:ext>
              </a:extLst>
            </p:cNvPr>
            <p:cNvSpPr/>
            <p:nvPr userDrawn="1"/>
          </p:nvSpPr>
          <p:spPr>
            <a:xfrm rot="10800000">
              <a:off x="10115549" y="-9525"/>
              <a:ext cx="2076450" cy="64770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3264473-A8C2-4985-8A22-7EF5A5D9F5C8}"/>
              </a:ext>
            </a:extLst>
          </p:cNvPr>
          <p:cNvCxnSpPr/>
          <p:nvPr userDrawn="1"/>
        </p:nvCxnSpPr>
        <p:spPr>
          <a:xfrm>
            <a:off x="338203" y="6743699"/>
            <a:ext cx="115239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B8AFE64-8F16-48E8-AE83-FF0BAF7F5046}"/>
              </a:ext>
            </a:extLst>
          </p:cNvPr>
          <p:cNvGrpSpPr/>
          <p:nvPr/>
        </p:nvGrpSpPr>
        <p:grpSpPr>
          <a:xfrm>
            <a:off x="9921240" y="226001"/>
            <a:ext cx="2156487" cy="270136"/>
            <a:chOff x="117722" y="46910"/>
            <a:chExt cx="2165629" cy="267091"/>
          </a:xfrm>
        </p:grpSpPr>
        <p:pic>
          <p:nvPicPr>
            <p:cNvPr id="19" name="그래픽 5">
              <a:extLst>
                <a:ext uri="{FF2B5EF4-FFF2-40B4-BE49-F238E27FC236}">
                  <a16:creationId xmlns:a16="http://schemas.microsoft.com/office/drawing/2014/main" id="{8D0D1A31-34CD-438C-A293-8E45ECA1D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722" y="46910"/>
              <a:ext cx="298267" cy="190322"/>
            </a:xfrm>
            <a:prstGeom prst="rect">
              <a:avLst/>
            </a:prstGeom>
          </p:spPr>
        </p:pic>
        <p:pic>
          <p:nvPicPr>
            <p:cNvPr id="20" name="그래픽 6">
              <a:extLst>
                <a:ext uri="{FF2B5EF4-FFF2-40B4-BE49-F238E27FC236}">
                  <a16:creationId xmlns:a16="http://schemas.microsoft.com/office/drawing/2014/main" id="{7646B6B4-7CEA-44C7-9340-3DB2E0E8C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727" y="53979"/>
              <a:ext cx="1814624" cy="260022"/>
            </a:xfrm>
            <a:prstGeom prst="rect">
              <a:avLst/>
            </a:prstGeom>
          </p:spPr>
        </p:pic>
      </p:grpSp>
      <p:sp>
        <p:nvSpPr>
          <p:cNvPr id="18" name="직사각형 17"/>
          <p:cNvSpPr/>
          <p:nvPr/>
        </p:nvSpPr>
        <p:spPr>
          <a:xfrm>
            <a:off x="11140169" y="410111"/>
            <a:ext cx="968011" cy="8602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26108E6E-78C7-4BBA-D840-2B2813639647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김종현 차장</a:t>
            </a:r>
            <a:r>
              <a:rPr lang="en-US" altLang="ko-KR" dirty="0"/>
              <a:t>, </a:t>
            </a:r>
            <a:r>
              <a:rPr lang="ko-KR" altLang="en-US" dirty="0"/>
              <a:t>이근현 과장</a:t>
            </a:r>
          </a:p>
        </p:txBody>
      </p:sp>
    </p:spTree>
    <p:extLst>
      <p:ext uri="{BB962C8B-B14F-4D97-AF65-F5344CB8AC3E}">
        <p14:creationId xmlns:p14="http://schemas.microsoft.com/office/powerpoint/2010/main" val="206602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 shadeToTitle="1">
        <a:gradFill flip="none" rotWithShape="1"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5F731A-F22B-387E-AAF7-732A228ED0DA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김종현 차장</a:t>
            </a:r>
            <a:r>
              <a:rPr lang="en-US" altLang="ko-KR" dirty="0"/>
              <a:t>, </a:t>
            </a:r>
            <a:r>
              <a:rPr lang="ko-KR" altLang="en-US" dirty="0"/>
              <a:t>이근현 과장</a:t>
            </a:r>
          </a:p>
        </p:txBody>
      </p:sp>
    </p:spTree>
    <p:extLst>
      <p:ext uri="{BB962C8B-B14F-4D97-AF65-F5344CB8AC3E}">
        <p14:creationId xmlns:p14="http://schemas.microsoft.com/office/powerpoint/2010/main" val="25647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gradFill flip="none" rotWithShape="1">
          <a:gsLst>
            <a:gs pos="10000">
              <a:srgbClr val="009999"/>
            </a:gs>
            <a:gs pos="30000">
              <a:srgbClr val="178189"/>
            </a:gs>
            <a:gs pos="100000">
              <a:srgbClr val="44546A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81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2C97F6-B7E6-2469-6E90-B0BCA99E3095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김종현 차장</a:t>
            </a:r>
            <a:r>
              <a:rPr lang="en-US" altLang="ko-KR" dirty="0"/>
              <a:t>, </a:t>
            </a:r>
            <a:r>
              <a:rPr lang="ko-KR" altLang="en-US" dirty="0"/>
              <a:t>이근현 과장</a:t>
            </a:r>
          </a:p>
        </p:txBody>
      </p:sp>
    </p:spTree>
    <p:extLst>
      <p:ext uri="{BB962C8B-B14F-4D97-AF65-F5344CB8AC3E}">
        <p14:creationId xmlns:p14="http://schemas.microsoft.com/office/powerpoint/2010/main" val="162562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18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SEGYUNG HITECH  l</a:t>
            </a:r>
            <a:r>
              <a:rPr lang="ko-KR" altLang="en-US"/>
              <a:t>  </a:t>
            </a:r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48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  <p:sldLayoutId id="2147483650" r:id="rId4"/>
    <p:sldLayoutId id="2147483652" r:id="rId5"/>
    <p:sldLayoutId id="2147483653" r:id="rId6"/>
    <p:sldLayoutId id="2147483655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5AE662EC-4E11-4BEA-8770-756329D28306}"/>
              </a:ext>
            </a:extLst>
          </p:cNvPr>
          <p:cNvSpPr txBox="1"/>
          <p:nvPr/>
        </p:nvSpPr>
        <p:spPr>
          <a:xfrm>
            <a:off x="96256" y="38100"/>
            <a:ext cx="64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모니터링 시스템 구축</a:t>
            </a:r>
            <a:endParaRPr lang="ko-KR" altLang="en-US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818752" y="6544767"/>
            <a:ext cx="358405" cy="218125"/>
          </a:xfrm>
        </p:spPr>
        <p:txBody>
          <a:bodyPr/>
          <a:lstStyle/>
          <a:p>
            <a:fld id="{AB2A6665-3514-4948-8E09-39272CC142EA}" type="slidenum">
              <a:rPr lang="ko-KR" altLang="en-US" smtClean="0"/>
              <a:pPr/>
              <a:t>1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C54D00B-0BAB-44DA-8928-940CE8ED1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7440"/>
              </p:ext>
            </p:extLst>
          </p:nvPr>
        </p:nvGraphicFramePr>
        <p:xfrm>
          <a:off x="609458" y="1071369"/>
          <a:ext cx="11070714" cy="1620074"/>
        </p:xfrm>
        <a:graphic>
          <a:graphicData uri="http://schemas.openxmlformats.org/drawingml/2006/table">
            <a:tbl>
              <a:tblPr/>
              <a:tblGrid>
                <a:gridCol w="1131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121">
                  <a:extLst>
                    <a:ext uri="{9D8B030D-6E8A-4147-A177-3AD203B41FA5}">
                      <a16:colId xmlns:a16="http://schemas.microsoft.com/office/drawing/2014/main" val="1105689650"/>
                    </a:ext>
                  </a:extLst>
                </a:gridCol>
                <a:gridCol w="736122">
                  <a:extLst>
                    <a:ext uri="{9D8B030D-6E8A-4147-A177-3AD203B41FA5}">
                      <a16:colId xmlns:a16="http://schemas.microsoft.com/office/drawing/2014/main" val="299144407"/>
                    </a:ext>
                  </a:extLst>
                </a:gridCol>
                <a:gridCol w="736121">
                  <a:extLst>
                    <a:ext uri="{9D8B030D-6E8A-4147-A177-3AD203B41FA5}">
                      <a16:colId xmlns:a16="http://schemas.microsoft.com/office/drawing/2014/main" val="4176466702"/>
                    </a:ext>
                  </a:extLst>
                </a:gridCol>
                <a:gridCol w="839638">
                  <a:extLst>
                    <a:ext uri="{9D8B030D-6E8A-4147-A177-3AD203B41FA5}">
                      <a16:colId xmlns:a16="http://schemas.microsoft.com/office/drawing/2014/main" val="211622756"/>
                    </a:ext>
                  </a:extLst>
                </a:gridCol>
                <a:gridCol w="839638">
                  <a:extLst>
                    <a:ext uri="{9D8B030D-6E8A-4147-A177-3AD203B41FA5}">
                      <a16:colId xmlns:a16="http://schemas.microsoft.com/office/drawing/2014/main" val="1325680526"/>
                    </a:ext>
                  </a:extLst>
                </a:gridCol>
                <a:gridCol w="839638">
                  <a:extLst>
                    <a:ext uri="{9D8B030D-6E8A-4147-A177-3AD203B41FA5}">
                      <a16:colId xmlns:a16="http://schemas.microsoft.com/office/drawing/2014/main" val="1034520080"/>
                    </a:ext>
                  </a:extLst>
                </a:gridCol>
              </a:tblGrid>
              <a:tr h="26392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1Q</a:t>
                      </a:r>
                      <a:endParaRPr lang="ko-KR" altLang="en-US" sz="12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2Q</a:t>
                      </a:r>
                      <a:endParaRPr lang="ko-KR" altLang="en-US" sz="12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980">
                <a:tc rowSpan="2"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VINA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시스템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중앙화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VINA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취합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 컨트롤 타워 체계 구축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1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시스템 화면 구성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2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대형모니터 화면 구성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1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rtl="0" fontAlgn="ctr">
                        <a:lnSpc>
                          <a:spcPct val="150000"/>
                        </a:lnSpc>
                      </a:pP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품의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lnSpc>
                          <a:spcPct val="150000"/>
                        </a:lnSpc>
                      </a:pP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vl="0"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서버구축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lvl="0"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화면구성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lnSpc>
                          <a:spcPct val="150000"/>
                        </a:lnSpc>
                      </a:pP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vl="0"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lvl="0"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추가개선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lnSpc>
                          <a:spcPct val="150000"/>
                        </a:lnSpc>
                      </a:pP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lnSpc>
                          <a:spcPct val="150000"/>
                        </a:lnSpc>
                      </a:pP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679126"/>
                  </a:ext>
                </a:extLst>
              </a:tr>
            </a:tbl>
          </a:graphicData>
        </a:graphic>
      </p:graphicFrame>
      <p:sp>
        <p:nvSpPr>
          <p:cNvPr id="13" name="제목 4">
            <a:extLst>
              <a:ext uri="{FF2B5EF4-FFF2-40B4-BE49-F238E27FC236}">
                <a16:creationId xmlns:a16="http://schemas.microsoft.com/office/drawing/2014/main" id="{5B778F3E-2437-44C7-80ED-51A3855EB029}"/>
              </a:ext>
            </a:extLst>
          </p:cNvPr>
          <p:cNvSpPr txBox="1">
            <a:spLocks/>
          </p:cNvSpPr>
          <p:nvPr/>
        </p:nvSpPr>
        <p:spPr>
          <a:xfrm>
            <a:off x="279862" y="752771"/>
            <a:ext cx="7200000" cy="346050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 dirty="0"/>
              <a:t> 2. </a:t>
            </a:r>
            <a:r>
              <a:rPr lang="ko-KR" altLang="en-US" sz="1400" dirty="0"/>
              <a:t>모니터링 시스템 구축</a:t>
            </a:r>
            <a:r>
              <a:rPr lang="en-US" altLang="ko-KR" sz="1400" dirty="0"/>
              <a:t>(</a:t>
            </a:r>
            <a:r>
              <a:rPr lang="ko-KR" altLang="en-US" sz="1400" dirty="0"/>
              <a:t>눈에 보이는 관리체계 구축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4" name="오른쪽 화살표 17">
            <a:extLst>
              <a:ext uri="{FF2B5EF4-FFF2-40B4-BE49-F238E27FC236}">
                <a16:creationId xmlns:a16="http://schemas.microsoft.com/office/drawing/2014/main" id="{F725AA91-6BA1-44E3-92DA-2DD882E1E7AE}"/>
              </a:ext>
            </a:extLst>
          </p:cNvPr>
          <p:cNvSpPr/>
          <p:nvPr/>
        </p:nvSpPr>
        <p:spPr>
          <a:xfrm>
            <a:off x="7733516" y="1642601"/>
            <a:ext cx="2273126" cy="229333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566FAB91-76D2-4CBC-B200-39221BFA7242}"/>
              </a:ext>
            </a:extLst>
          </p:cNvPr>
          <p:cNvSpPr txBox="1">
            <a:spLocks/>
          </p:cNvSpPr>
          <p:nvPr/>
        </p:nvSpPr>
        <p:spPr>
          <a:xfrm>
            <a:off x="279862" y="2950257"/>
            <a:ext cx="7171984" cy="344704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395" dirty="0"/>
              <a:t> 2-1. </a:t>
            </a:r>
            <a:r>
              <a:rPr lang="ko-KR" altLang="en-US" sz="1395" dirty="0"/>
              <a:t>모니터링 시스템 모식도</a:t>
            </a:r>
          </a:p>
        </p:txBody>
      </p:sp>
      <p:sp>
        <p:nvSpPr>
          <p:cNvPr id="2" name="모서리가 둥근 직사각형 67">
            <a:extLst>
              <a:ext uri="{FF2B5EF4-FFF2-40B4-BE49-F238E27FC236}">
                <a16:creationId xmlns:a16="http://schemas.microsoft.com/office/drawing/2014/main" id="{2CD6628A-0FED-4193-9DE6-3195C7DA84D7}"/>
              </a:ext>
            </a:extLst>
          </p:cNvPr>
          <p:cNvSpPr/>
          <p:nvPr/>
        </p:nvSpPr>
        <p:spPr>
          <a:xfrm>
            <a:off x="608111" y="3365611"/>
            <a:ext cx="5487889" cy="2725371"/>
          </a:xfrm>
          <a:prstGeom prst="roundRect">
            <a:avLst>
              <a:gd name="adj" fmla="val 6095"/>
            </a:avLst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1">
              <a:lnSpc>
                <a:spcPct val="150000"/>
              </a:lnSpc>
              <a:defRPr/>
            </a:pP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모서리가 둥근 직사각형 67">
            <a:extLst>
              <a:ext uri="{FF2B5EF4-FFF2-40B4-BE49-F238E27FC236}">
                <a16:creationId xmlns:a16="http://schemas.microsoft.com/office/drawing/2014/main" id="{95F0DC50-4DB2-42BA-A759-E6C3ED99C2B0}"/>
              </a:ext>
            </a:extLst>
          </p:cNvPr>
          <p:cNvSpPr/>
          <p:nvPr/>
        </p:nvSpPr>
        <p:spPr>
          <a:xfrm>
            <a:off x="6143704" y="3365611"/>
            <a:ext cx="5440185" cy="2725371"/>
          </a:xfrm>
          <a:prstGeom prst="roundRect">
            <a:avLst>
              <a:gd name="adj" fmla="val 6095"/>
            </a:avLst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1">
              <a:lnSpc>
                <a:spcPct val="150000"/>
              </a:lnSpc>
              <a:defRPr/>
            </a:pPr>
            <a:endParaRPr lang="en-US" altLang="ko-KR" sz="1100" dirty="0">
              <a:solidFill>
                <a:srgbClr val="0000FF"/>
              </a:solidFill>
            </a:endParaRPr>
          </a:p>
        </p:txBody>
      </p:sp>
      <p:sp>
        <p:nvSpPr>
          <p:cNvPr id="8" name="평행 사변형 7">
            <a:extLst>
              <a:ext uri="{FF2B5EF4-FFF2-40B4-BE49-F238E27FC236}">
                <a16:creationId xmlns:a16="http://schemas.microsoft.com/office/drawing/2014/main" id="{6972D7A3-F8BE-4CC1-8129-872473E0A5F2}"/>
              </a:ext>
            </a:extLst>
          </p:cNvPr>
          <p:cNvSpPr/>
          <p:nvPr/>
        </p:nvSpPr>
        <p:spPr>
          <a:xfrm>
            <a:off x="5316597" y="3109319"/>
            <a:ext cx="1654214" cy="344704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/>
              <a:t>모니터링 시스템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779628CF-A570-3BFF-339E-146190EB8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35" y="3795174"/>
            <a:ext cx="5411027" cy="184176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1E39BA2-2D1D-0D68-F0DD-9CBEF106526F}"/>
              </a:ext>
            </a:extLst>
          </p:cNvPr>
          <p:cNvSpPr txBox="1"/>
          <p:nvPr/>
        </p:nvSpPr>
        <p:spPr>
          <a:xfrm>
            <a:off x="2339056" y="3631416"/>
            <a:ext cx="15408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본사 서버</a:t>
            </a:r>
            <a:r>
              <a:rPr lang="en-US" altLang="ko-KR" sz="105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취합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22CD0D-FFD0-35A1-3696-A74BCF11F292}"/>
              </a:ext>
            </a:extLst>
          </p:cNvPr>
          <p:cNvSpPr txBox="1"/>
          <p:nvPr/>
        </p:nvSpPr>
        <p:spPr>
          <a:xfrm>
            <a:off x="1508045" y="454287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8BC878-B198-1620-FC9F-10BF9F7948A0}"/>
              </a:ext>
            </a:extLst>
          </p:cNvPr>
          <p:cNvSpPr txBox="1"/>
          <p:nvPr/>
        </p:nvSpPr>
        <p:spPr>
          <a:xfrm>
            <a:off x="1735030" y="4074182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데이터전송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5332A0-E1FB-8A04-093B-283745FE05F0}"/>
              </a:ext>
            </a:extLst>
          </p:cNvPr>
          <p:cNvSpPr txBox="1"/>
          <p:nvPr/>
        </p:nvSpPr>
        <p:spPr>
          <a:xfrm>
            <a:off x="4499714" y="3697992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현황판</a:t>
            </a: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62E14D54-9F11-1B2C-DD2D-45D03A1A33AD}"/>
              </a:ext>
            </a:extLst>
          </p:cNvPr>
          <p:cNvGrpSpPr/>
          <p:nvPr/>
        </p:nvGrpSpPr>
        <p:grpSpPr>
          <a:xfrm>
            <a:off x="6328099" y="3657155"/>
            <a:ext cx="5114045" cy="2236987"/>
            <a:chOff x="1208543" y="1799280"/>
            <a:chExt cx="8731309" cy="4266223"/>
          </a:xfrm>
        </p:grpSpPr>
        <p:sp>
          <p:nvSpPr>
            <p:cNvPr id="150" name="원형: 비어 있음 149">
              <a:extLst>
                <a:ext uri="{FF2B5EF4-FFF2-40B4-BE49-F238E27FC236}">
                  <a16:creationId xmlns:a16="http://schemas.microsoft.com/office/drawing/2014/main" id="{357A93B5-548F-E9A6-10B4-7A24B9F11DDA}"/>
                </a:ext>
              </a:extLst>
            </p:cNvPr>
            <p:cNvSpPr/>
            <p:nvPr/>
          </p:nvSpPr>
          <p:spPr>
            <a:xfrm>
              <a:off x="2416383" y="3641921"/>
              <a:ext cx="1617981" cy="1617981"/>
            </a:xfrm>
            <a:prstGeom prst="donut">
              <a:avLst>
                <a:gd name="adj" fmla="val 366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94157FA7-E6C5-0BDD-7DC6-55A5D759035D}"/>
                </a:ext>
              </a:extLst>
            </p:cNvPr>
            <p:cNvSpPr/>
            <p:nvPr/>
          </p:nvSpPr>
          <p:spPr>
            <a:xfrm>
              <a:off x="2416384" y="1865448"/>
              <a:ext cx="1279216" cy="60772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ko-KR" altLang="en-US" sz="1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설비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7568B23-863A-968F-A442-E4A0DF443D59}"/>
                </a:ext>
              </a:extLst>
            </p:cNvPr>
            <p:cNvSpPr/>
            <p:nvPr/>
          </p:nvSpPr>
          <p:spPr>
            <a:xfrm>
              <a:off x="6143869" y="1865448"/>
              <a:ext cx="1279216" cy="60772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ko-KR" sz="1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POP</a:t>
              </a:r>
              <a:endParaRPr lang="ko-KR" altLang="en-US" sz="14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8DF4F0E8-EF6E-93B0-14A9-7C38B10C7AFB}"/>
                </a:ext>
              </a:extLst>
            </p:cNvPr>
            <p:cNvSpPr/>
            <p:nvPr/>
          </p:nvSpPr>
          <p:spPr>
            <a:xfrm>
              <a:off x="6143869" y="3710607"/>
              <a:ext cx="1279216" cy="60772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ko-KR" sz="1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MES</a:t>
              </a:r>
              <a:endParaRPr lang="ko-KR" altLang="en-US" sz="14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FA59140-ECE7-1C74-CE9E-057633A51595}"/>
                </a:ext>
              </a:extLst>
            </p:cNvPr>
            <p:cNvSpPr/>
            <p:nvPr/>
          </p:nvSpPr>
          <p:spPr>
            <a:xfrm>
              <a:off x="8660636" y="3733954"/>
              <a:ext cx="1279216" cy="60772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ko-KR" sz="1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ERP</a:t>
              </a:r>
              <a:endParaRPr lang="ko-KR" altLang="en-US" sz="14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B459908F-D052-95AB-50FB-12C3BEF31D2E}"/>
                </a:ext>
              </a:extLst>
            </p:cNvPr>
            <p:cNvCxnSpPr>
              <a:cxnSpLocks/>
              <a:stCxn id="151" idx="3"/>
              <a:endCxn id="153" idx="1"/>
            </p:cNvCxnSpPr>
            <p:nvPr/>
          </p:nvCxnSpPr>
          <p:spPr>
            <a:xfrm>
              <a:off x="3695600" y="2169311"/>
              <a:ext cx="2448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0FBC1C67-CB9F-F47A-9D21-88BE756C7B70}"/>
                </a:ext>
              </a:extLst>
            </p:cNvPr>
            <p:cNvSpPr txBox="1"/>
            <p:nvPr/>
          </p:nvSpPr>
          <p:spPr>
            <a:xfrm>
              <a:off x="4373700" y="1799280"/>
              <a:ext cx="1145115" cy="38618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ko-KR" altLang="en-US" sz="900" b="1">
                  <a:latin typeface="+mn-ea"/>
                </a:rPr>
                <a:t>실적입력</a:t>
              </a:r>
            </a:p>
          </p:txBody>
        </p:sp>
        <p:cxnSp>
          <p:nvCxnSpPr>
            <p:cNvPr id="158" name="직선 화살표 연결선 157">
              <a:extLst>
                <a:ext uri="{FF2B5EF4-FFF2-40B4-BE49-F238E27FC236}">
                  <a16:creationId xmlns:a16="http://schemas.microsoft.com/office/drawing/2014/main" id="{2DE052FD-B45B-8E50-2BC6-821F3292656C}"/>
                </a:ext>
              </a:extLst>
            </p:cNvPr>
            <p:cNvCxnSpPr>
              <a:cxnSpLocks/>
              <a:stCxn id="153" idx="2"/>
              <a:endCxn id="154" idx="0"/>
            </p:cNvCxnSpPr>
            <p:nvPr/>
          </p:nvCxnSpPr>
          <p:spPr>
            <a:xfrm>
              <a:off x="6783477" y="2473174"/>
              <a:ext cx="0" cy="1237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9A234DC0-5953-3935-3B58-BB9172A4DDC7}"/>
                </a:ext>
              </a:extLst>
            </p:cNvPr>
            <p:cNvSpPr txBox="1"/>
            <p:nvPr/>
          </p:nvSpPr>
          <p:spPr>
            <a:xfrm>
              <a:off x="6736292" y="2814082"/>
              <a:ext cx="1397726" cy="46052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ko-KR" altLang="en-US" sz="900" b="1">
                  <a:latin typeface="+mn-ea"/>
                </a:rPr>
                <a:t>실시간 실적</a:t>
              </a:r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9725B3A5-31AE-62EE-AEF7-FFF124033E73}"/>
                </a:ext>
              </a:extLst>
            </p:cNvPr>
            <p:cNvCxnSpPr>
              <a:cxnSpLocks/>
              <a:stCxn id="155" idx="1"/>
              <a:endCxn id="154" idx="3"/>
            </p:cNvCxnSpPr>
            <p:nvPr/>
          </p:nvCxnSpPr>
          <p:spPr>
            <a:xfrm flipH="1" flipV="1">
              <a:off x="7423085" y="4014470"/>
              <a:ext cx="1237551" cy="23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96CBCF9-659D-1CA8-4161-C698C16DD8C4}"/>
                </a:ext>
              </a:extLst>
            </p:cNvPr>
            <p:cNvSpPr txBox="1"/>
            <p:nvPr/>
          </p:nvSpPr>
          <p:spPr>
            <a:xfrm>
              <a:off x="7454795" y="4270561"/>
              <a:ext cx="1221809" cy="69181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800" b="1">
                  <a:latin typeface="+mn-ea"/>
                </a:rPr>
                <a:t>일단위 기준정보</a:t>
              </a:r>
              <a:endParaRPr lang="en-US" altLang="ko-KR" sz="800" b="1">
                <a:latin typeface="+mn-ea"/>
              </a:endParaRPr>
            </a:p>
            <a:p>
              <a:pPr algn="ctr"/>
              <a:r>
                <a:rPr lang="ko-KR" altLang="en-US" sz="800" b="1">
                  <a:latin typeface="+mn-ea"/>
                </a:rPr>
                <a:t>생산계획 </a:t>
              </a:r>
              <a:r>
                <a:rPr lang="en-US" altLang="ko-KR" sz="800" b="1">
                  <a:latin typeface="+mn-ea"/>
                </a:rPr>
                <a:t>I/F</a:t>
              </a:r>
              <a:endParaRPr lang="ko-KR" altLang="en-US" sz="800" b="1">
                <a:latin typeface="+mn-ea"/>
              </a:endParaRPr>
            </a:p>
          </p:txBody>
        </p:sp>
        <p:cxnSp>
          <p:nvCxnSpPr>
            <p:cNvPr id="163" name="직선 화살표 연결선 22">
              <a:extLst>
                <a:ext uri="{FF2B5EF4-FFF2-40B4-BE49-F238E27FC236}">
                  <a16:creationId xmlns:a16="http://schemas.microsoft.com/office/drawing/2014/main" id="{4EBF08B6-36D1-5197-137C-D2B293F80D3D}"/>
                </a:ext>
              </a:extLst>
            </p:cNvPr>
            <p:cNvCxnSpPr>
              <a:cxnSpLocks/>
              <a:stCxn id="154" idx="2"/>
              <a:endCxn id="155" idx="2"/>
            </p:cNvCxnSpPr>
            <p:nvPr/>
          </p:nvCxnSpPr>
          <p:spPr>
            <a:xfrm rot="16200000" flipH="1">
              <a:off x="8030187" y="3071623"/>
              <a:ext cx="23347" cy="2516767"/>
            </a:xfrm>
            <a:prstGeom prst="bentConnector3">
              <a:avLst>
                <a:gd name="adj1" fmla="val 309478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64A36553-AAF1-CBC0-9D8D-5CDBA20BC9BC}"/>
                </a:ext>
              </a:extLst>
            </p:cNvPr>
            <p:cNvSpPr txBox="1"/>
            <p:nvPr/>
          </p:nvSpPr>
          <p:spPr>
            <a:xfrm>
              <a:off x="7210546" y="5037150"/>
              <a:ext cx="1574519" cy="609448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ko-KR" altLang="en-US" sz="900" b="1">
                  <a:latin typeface="+mn-ea"/>
                </a:rPr>
                <a:t>실시간 실적 </a:t>
              </a:r>
              <a:r>
                <a:rPr lang="en-US" altLang="ko-KR" sz="900" b="1">
                  <a:latin typeface="+mn-ea"/>
                </a:rPr>
                <a:t>I/F</a:t>
              </a:r>
              <a:endParaRPr lang="ko-KR" altLang="en-US" sz="900" b="1">
                <a:latin typeface="+mn-ea"/>
              </a:endParaRPr>
            </a:p>
          </p:txBody>
        </p:sp>
        <p:pic>
          <p:nvPicPr>
            <p:cNvPr id="165" name="그림 164">
              <a:extLst>
                <a:ext uri="{FF2B5EF4-FFF2-40B4-BE49-F238E27FC236}">
                  <a16:creationId xmlns:a16="http://schemas.microsoft.com/office/drawing/2014/main" id="{09A1E479-4AFC-2F8F-ED2D-A19F7B6C9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5601" y="3309594"/>
              <a:ext cx="1628931" cy="923264"/>
            </a:xfrm>
            <a:prstGeom prst="rect">
              <a:avLst/>
            </a:prstGeom>
          </p:spPr>
        </p:pic>
        <p:pic>
          <p:nvPicPr>
            <p:cNvPr id="166" name="그림 165" descr="텍스트, 검은색, 손, 여러개이(가) 표시된 사진&#10;&#10;자동 생성된 설명">
              <a:extLst>
                <a:ext uri="{FF2B5EF4-FFF2-40B4-BE49-F238E27FC236}">
                  <a16:creationId xmlns:a16="http://schemas.microsoft.com/office/drawing/2014/main" id="{0189A43D-E575-8681-06B3-54CDF1849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5675" y="3309594"/>
              <a:ext cx="1628931" cy="923264"/>
            </a:xfrm>
            <a:prstGeom prst="rect">
              <a:avLst/>
            </a:prstGeom>
          </p:spPr>
        </p:pic>
        <p:pic>
          <p:nvPicPr>
            <p:cNvPr id="167" name="그림 166" descr="텍스트, 전자기기이(가) 표시된 사진">
              <a:extLst>
                <a:ext uri="{FF2B5EF4-FFF2-40B4-BE49-F238E27FC236}">
                  <a16:creationId xmlns:a16="http://schemas.microsoft.com/office/drawing/2014/main" id="{C8FFAF2C-A6AA-5851-86D2-3BEAFACBF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343" y="4668964"/>
              <a:ext cx="1622189" cy="919443"/>
            </a:xfrm>
            <a:prstGeom prst="rect">
              <a:avLst/>
            </a:prstGeom>
          </p:spPr>
        </p:pic>
        <p:pic>
          <p:nvPicPr>
            <p:cNvPr id="168" name="그림 167" descr="텍스트, 모니터, 검은색, 스크린샷이(가) 표시된 사진&#10;&#10;자동 생성된 설명">
              <a:extLst>
                <a:ext uri="{FF2B5EF4-FFF2-40B4-BE49-F238E27FC236}">
                  <a16:creationId xmlns:a16="http://schemas.microsoft.com/office/drawing/2014/main" id="{7460BEF0-D894-AD4F-D1FD-FF16CB6D8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0575" y="4689552"/>
              <a:ext cx="1622189" cy="91944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F0EBD8D-29C1-FEC1-0C22-733D39CE6A8F}"/>
                </a:ext>
              </a:extLst>
            </p:cNvPr>
            <p:cNvSpPr txBox="1"/>
            <p:nvPr/>
          </p:nvSpPr>
          <p:spPr>
            <a:xfrm>
              <a:off x="1340952" y="2949269"/>
              <a:ext cx="1659515" cy="30777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900" b="1"/>
                <a:t>임원실 모니터링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C24713D-E319-BC49-ED2E-89B56833C7D5}"/>
                </a:ext>
              </a:extLst>
            </p:cNvPr>
            <p:cNvSpPr txBox="1"/>
            <p:nvPr/>
          </p:nvSpPr>
          <p:spPr>
            <a:xfrm>
              <a:off x="1340952" y="5608995"/>
              <a:ext cx="1659515" cy="30777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900" b="1"/>
                <a:t>공장별 모니터링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59565A4-971B-DD13-408E-A7849671137B}"/>
                </a:ext>
              </a:extLst>
            </p:cNvPr>
            <p:cNvSpPr txBox="1"/>
            <p:nvPr/>
          </p:nvSpPr>
          <p:spPr>
            <a:xfrm>
              <a:off x="3471571" y="2964740"/>
              <a:ext cx="1659515" cy="30777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900" b="1"/>
                <a:t>사무실 모니터링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36077C7-3B0F-3981-2F48-2537F4387936}"/>
                </a:ext>
              </a:extLst>
            </p:cNvPr>
            <p:cNvSpPr txBox="1"/>
            <p:nvPr/>
          </p:nvSpPr>
          <p:spPr>
            <a:xfrm>
              <a:off x="3471571" y="5608995"/>
              <a:ext cx="1659515" cy="30777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900" b="1"/>
                <a:t>현장 모니터링</a:t>
              </a: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73BBC60D-9BC9-1E8A-E4A4-E4DCE9125C6A}"/>
                </a:ext>
              </a:extLst>
            </p:cNvPr>
            <p:cNvSpPr/>
            <p:nvPr/>
          </p:nvSpPr>
          <p:spPr>
            <a:xfrm>
              <a:off x="1208543" y="2874781"/>
              <a:ext cx="4183980" cy="31907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b="1"/>
            </a:p>
          </p:txBody>
        </p:sp>
        <p:cxnSp>
          <p:nvCxnSpPr>
            <p:cNvPr id="174" name="직선 화살표 연결선 173">
              <a:extLst>
                <a:ext uri="{FF2B5EF4-FFF2-40B4-BE49-F238E27FC236}">
                  <a16:creationId xmlns:a16="http://schemas.microsoft.com/office/drawing/2014/main" id="{22F40A5A-5B1F-AA0C-13CF-3F6C03A052AD}"/>
                </a:ext>
              </a:extLst>
            </p:cNvPr>
            <p:cNvCxnSpPr>
              <a:cxnSpLocks/>
              <a:stCxn id="154" idx="1"/>
            </p:cNvCxnSpPr>
            <p:nvPr/>
          </p:nvCxnSpPr>
          <p:spPr>
            <a:xfrm flipH="1">
              <a:off x="5392524" y="4014470"/>
              <a:ext cx="7513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29D23F2-E35D-6F79-317B-4AD400CBA7E4}"/>
                </a:ext>
              </a:extLst>
            </p:cNvPr>
            <p:cNvSpPr txBox="1"/>
            <p:nvPr/>
          </p:nvSpPr>
          <p:spPr>
            <a:xfrm>
              <a:off x="5452847" y="4030625"/>
              <a:ext cx="623062" cy="723708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ko-KR" altLang="en-US" sz="900" b="1">
                  <a:latin typeface="+mn-ea"/>
                </a:rPr>
                <a:t>실적</a:t>
              </a:r>
              <a:endParaRPr lang="en-US" altLang="ko-KR" sz="900" b="1">
                <a:latin typeface="+mn-ea"/>
              </a:endParaRPr>
            </a:p>
            <a:p>
              <a:r>
                <a:rPr lang="ko-KR" altLang="en-US" sz="900" b="1">
                  <a:latin typeface="+mn-ea"/>
                </a:rPr>
                <a:t>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2402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995D-4E5E-A836-B9E3-464DECBC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1D304B58-92AE-831D-4292-0A499BD3B26D}"/>
              </a:ext>
            </a:extLst>
          </p:cNvPr>
          <p:cNvSpPr txBox="1"/>
          <p:nvPr/>
        </p:nvSpPr>
        <p:spPr>
          <a:xfrm>
            <a:off x="96256" y="38100"/>
            <a:ext cx="64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모니터링 시스템 구축</a:t>
            </a:r>
            <a:endParaRPr lang="ko-KR" altLang="en-US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8B9418-7A92-BD29-F1AD-9FAAB0604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8752" y="6544767"/>
            <a:ext cx="358405" cy="218125"/>
          </a:xfrm>
        </p:spPr>
        <p:txBody>
          <a:bodyPr/>
          <a:lstStyle/>
          <a:p>
            <a:fld id="{AB2A6665-3514-4948-8E09-39272CC142EA}" type="slidenum">
              <a:rPr lang="ko-KR" altLang="en-US" smtClean="0"/>
              <a:pPr/>
              <a:t>2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94F279B-6CA6-BA28-A00B-0C657F6AD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86235"/>
              </p:ext>
            </p:extLst>
          </p:nvPr>
        </p:nvGraphicFramePr>
        <p:xfrm>
          <a:off x="609458" y="918969"/>
          <a:ext cx="11070714" cy="2212951"/>
        </p:xfrm>
        <a:graphic>
          <a:graphicData uri="http://schemas.openxmlformats.org/drawingml/2006/table">
            <a:tbl>
              <a:tblPr/>
              <a:tblGrid>
                <a:gridCol w="77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6892">
                  <a:extLst>
                    <a:ext uri="{9D8B030D-6E8A-4147-A177-3AD203B41FA5}">
                      <a16:colId xmlns:a16="http://schemas.microsoft.com/office/drawing/2014/main" val="1105689650"/>
                    </a:ext>
                  </a:extLst>
                </a:gridCol>
              </a:tblGrid>
              <a:tr h="25959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본수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 rowSpan="3"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VINA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시스템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중앙화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대형모니터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종합현황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 생산현황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공장별 현황 등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제품군별 수율현황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테이프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광학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데코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폴더블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글라스틱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,SUS,UB,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 상세현황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 출하현황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수주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미납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지연 등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MES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조회용 화면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108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현황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조회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상세내역 등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108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456227"/>
                  </a:ext>
                </a:extLst>
              </a:tr>
              <a:tr h="327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 화면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108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설정 및 셋팅 등록</a:t>
                      </a:r>
                    </a:p>
                  </a:txBody>
                  <a:tcPr marL="0" marR="0" marT="0" marB="108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4054425"/>
                  </a:ext>
                </a:extLst>
              </a:tr>
            </a:tbl>
          </a:graphicData>
        </a:graphic>
      </p:graphicFrame>
      <p:sp>
        <p:nvSpPr>
          <p:cNvPr id="13" name="제목 4">
            <a:extLst>
              <a:ext uri="{FF2B5EF4-FFF2-40B4-BE49-F238E27FC236}">
                <a16:creationId xmlns:a16="http://schemas.microsoft.com/office/drawing/2014/main" id="{705A50DA-FABD-F514-E9BA-E0F63824FF49}"/>
              </a:ext>
            </a:extLst>
          </p:cNvPr>
          <p:cNvSpPr txBox="1">
            <a:spLocks/>
          </p:cNvSpPr>
          <p:nvPr/>
        </p:nvSpPr>
        <p:spPr>
          <a:xfrm>
            <a:off x="279862" y="657521"/>
            <a:ext cx="7200000" cy="346050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/>
              <a:t> 3. </a:t>
            </a:r>
            <a:r>
              <a:rPr lang="ko-KR" altLang="en-US" sz="1400"/>
              <a:t>개발내용</a:t>
            </a:r>
            <a:endParaRPr lang="ko-KR" altLang="en-US" sz="14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390CE97-500B-FF9D-B5D7-16D7A78969A0}"/>
              </a:ext>
            </a:extLst>
          </p:cNvPr>
          <p:cNvSpPr txBox="1">
            <a:spLocks/>
          </p:cNvSpPr>
          <p:nvPr/>
        </p:nvSpPr>
        <p:spPr>
          <a:xfrm>
            <a:off x="279862" y="3141675"/>
            <a:ext cx="7200000" cy="346050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/>
              <a:t> 4. </a:t>
            </a:r>
            <a:r>
              <a:rPr lang="ko-KR" altLang="en-US" sz="1400"/>
              <a:t>개발비용</a:t>
            </a:r>
            <a:endParaRPr lang="ko-KR" altLang="en-US" sz="1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A921493-ADF1-27D6-7680-69A92032D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858619"/>
              </p:ext>
            </p:extLst>
          </p:nvPr>
        </p:nvGraphicFramePr>
        <p:xfrm>
          <a:off x="609458" y="3421811"/>
          <a:ext cx="11070714" cy="3026612"/>
        </p:xfrm>
        <a:graphic>
          <a:graphicData uri="http://schemas.openxmlformats.org/drawingml/2006/table">
            <a:tbl>
              <a:tblPr/>
              <a:tblGrid>
                <a:gridCol w="77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105689650"/>
                    </a:ext>
                  </a:extLst>
                </a:gridCol>
                <a:gridCol w="3098147">
                  <a:extLst>
                    <a:ext uri="{9D8B030D-6E8A-4147-A177-3AD203B41FA5}">
                      <a16:colId xmlns:a16="http://schemas.microsoft.com/office/drawing/2014/main" val="3814827183"/>
                    </a:ext>
                  </a:extLst>
                </a:gridCol>
              </a:tblGrid>
              <a:tr h="24640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전체금액</a:t>
                      </a:r>
                      <a:r>
                        <a:rPr lang="en-US" altLang="ko-KR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원</a:t>
                      </a:r>
                      <a:r>
                        <a:rPr lang="en-US" altLang="ko-KR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상세내역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843">
                <a:tc rowSpan="4"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개발비</a:t>
                      </a: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US" altLang="ko-KR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40,000,000</a:t>
                      </a: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기간 약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MES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 화면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특급개발자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(0.5M/M)</a:t>
                      </a: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중급개발자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(2M/M)</a:t>
                      </a: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하드웨어</a:t>
                      </a: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5,800,000</a:t>
                      </a: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업그레이드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RAM, HDD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증설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MES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서버 논리적 분할 사용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가상화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서버 금액 약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2,400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456227"/>
                  </a:ext>
                </a:extLst>
              </a:tr>
              <a:tr h="8372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12,862,500</a:t>
                      </a: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데이터베이스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(MSSQL) :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수집용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운영체제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(Win Svr. 2022)</a:t>
                      </a: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백신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(V3 Win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Svr.)</a:t>
                      </a: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DB : 1,000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Win Svr : 250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lnSpc>
                          <a:spcPct val="12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V3 : 362,500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4054425"/>
                  </a:ext>
                </a:extLst>
              </a:tr>
              <a:tr h="547472">
                <a:tc vMerge="1"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</a:p>
                  </a:txBody>
                  <a:tcPr marL="0" marR="0" marT="0" marB="10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57,662,500</a:t>
                      </a:r>
                    </a:p>
                  </a:txBody>
                  <a:tcPr marL="0" marR="0" marT="0" marB="10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10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개발 완료후 대형모니터 추가 구입</a:t>
                      </a:r>
                    </a:p>
                  </a:txBody>
                  <a:tcPr marL="0" marR="0" marT="0" marB="10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48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90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AFAD-C116-D2E6-343A-A276B6C8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C95E875C-5B98-46C5-9152-499CB4A1973A}"/>
              </a:ext>
            </a:extLst>
          </p:cNvPr>
          <p:cNvSpPr txBox="1"/>
          <p:nvPr/>
        </p:nvSpPr>
        <p:spPr>
          <a:xfrm>
            <a:off x="96256" y="38100"/>
            <a:ext cx="64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모니터링 시스템 구축</a:t>
            </a:r>
            <a:endParaRPr lang="ko-KR" altLang="en-US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8E1D00-729B-3238-6BF3-BE0D25453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8752" y="6544767"/>
            <a:ext cx="358405" cy="218125"/>
          </a:xfrm>
        </p:spPr>
        <p:txBody>
          <a:bodyPr/>
          <a:lstStyle/>
          <a:p>
            <a:fld id="{AB2A6665-3514-4948-8E09-39272CC142EA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3" name="제목 4">
            <a:extLst>
              <a:ext uri="{FF2B5EF4-FFF2-40B4-BE49-F238E27FC236}">
                <a16:creationId xmlns:a16="http://schemas.microsoft.com/office/drawing/2014/main" id="{FF6F3D01-7C2C-7C95-A5DA-9FBA13823E23}"/>
              </a:ext>
            </a:extLst>
          </p:cNvPr>
          <p:cNvSpPr txBox="1">
            <a:spLocks/>
          </p:cNvSpPr>
          <p:nvPr/>
        </p:nvSpPr>
        <p:spPr>
          <a:xfrm>
            <a:off x="279862" y="657521"/>
            <a:ext cx="7200000" cy="346050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/>
              <a:t> 5. </a:t>
            </a:r>
            <a:r>
              <a:rPr lang="ko-KR" altLang="en-US" sz="1400"/>
              <a:t>개발화면</a:t>
            </a:r>
            <a:r>
              <a:rPr lang="en-US" altLang="ko-KR" sz="1400"/>
              <a:t>(</a:t>
            </a:r>
            <a:r>
              <a:rPr lang="ko-KR" altLang="en-US" sz="1400"/>
              <a:t>예시</a:t>
            </a:r>
            <a:r>
              <a:rPr lang="en-US" altLang="ko-KR" sz="1400"/>
              <a:t>)</a:t>
            </a:r>
            <a:endParaRPr lang="ko-KR" altLang="en-US" sz="14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73C28D0-F70A-95E5-759A-8E5E70B00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810097"/>
              </p:ext>
            </p:extLst>
          </p:nvPr>
        </p:nvGraphicFramePr>
        <p:xfrm>
          <a:off x="279862" y="946420"/>
          <a:ext cx="11632277" cy="5435329"/>
        </p:xfrm>
        <a:graphic>
          <a:graphicData uri="http://schemas.openxmlformats.org/drawingml/2006/table">
            <a:tbl>
              <a:tblPr/>
              <a:tblGrid>
                <a:gridCol w="7805045">
                  <a:extLst>
                    <a:ext uri="{9D8B030D-6E8A-4147-A177-3AD203B41FA5}">
                      <a16:colId xmlns:a16="http://schemas.microsoft.com/office/drawing/2014/main" val="1105689650"/>
                    </a:ext>
                  </a:extLst>
                </a:gridCol>
                <a:gridCol w="3827232">
                  <a:extLst>
                    <a:ext uri="{9D8B030D-6E8A-4147-A177-3AD203B41FA5}">
                      <a16:colId xmlns:a16="http://schemas.microsoft.com/office/drawing/2014/main" val="1669826697"/>
                    </a:ext>
                  </a:extLst>
                </a:gridCol>
              </a:tblGrid>
              <a:tr h="23402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종합화면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공장별</a:t>
                      </a:r>
                      <a:r>
                        <a:rPr lang="en-US" altLang="ko-KR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5178">
                <a:tc rowSpan="2"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</a:pP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</a:pP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12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</a:pPr>
                      <a:endParaRPr lang="ko-KR" altLang="en-US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86456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09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31382</TotalTime>
  <Words>413</Words>
  <Application>Microsoft Office PowerPoint</Application>
  <PresentationFormat>와이드스크린</PresentationFormat>
  <Paragraphs>109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SGIT-Royal</dc:creator>
  <cp:lastModifiedBy>TFOX</cp:lastModifiedBy>
  <cp:revision>790</cp:revision>
  <cp:lastPrinted>2024-02-29T02:39:10Z</cp:lastPrinted>
  <dcterms:created xsi:type="dcterms:W3CDTF">2021-08-02T07:10:03Z</dcterms:created>
  <dcterms:modified xsi:type="dcterms:W3CDTF">2024-02-29T04:42:23Z</dcterms:modified>
</cp:coreProperties>
</file>