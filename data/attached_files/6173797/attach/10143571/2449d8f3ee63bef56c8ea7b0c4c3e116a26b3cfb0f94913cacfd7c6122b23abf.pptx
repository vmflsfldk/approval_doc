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8" r:id="rId2"/>
    <p:sldId id="346" r:id="rId3"/>
    <p:sldId id="359" r:id="rId4"/>
    <p:sldId id="4054" r:id="rId5"/>
    <p:sldId id="4055" r:id="rId6"/>
    <p:sldId id="4053" r:id="rId7"/>
    <p:sldId id="4057" r:id="rId8"/>
    <p:sldId id="4051" r:id="rId9"/>
    <p:sldId id="361" r:id="rId10"/>
    <p:sldId id="353" r:id="rId11"/>
    <p:sldId id="354" r:id="rId12"/>
    <p:sldId id="360" r:id="rId13"/>
    <p:sldId id="277" r:id="rId1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  <p:cmAuthor id="2" name="Windows 사용자" initials="W사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75443"/>
    <a:srgbClr val="2F5597"/>
    <a:srgbClr val="EDEDED"/>
    <a:srgbClr val="E7E7E7"/>
    <a:srgbClr val="F2F2F2"/>
    <a:srgbClr val="3B4B5F"/>
    <a:srgbClr val="40586D"/>
    <a:srgbClr val="43556B"/>
    <a:srgbClr val="009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93" autoAdjust="0"/>
    <p:restoredTop sz="94614" autoAdjust="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63208D-54E3-47D6-81F3-811465471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4BA11-92D9-448D-ABDB-5E7FB0340E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2" y="0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B80EE26C-51DA-4DAF-A168-3A71E27B6D3D}" type="datetimeFigureOut">
              <a:rPr lang="ko-KR" altLang="en-US" smtClean="0"/>
              <a:t>2025-02-18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13F8B7-0556-4AF8-ADD8-E39F567F6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60" cy="498055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2EC5AC-1669-414C-884C-297003091C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2" y="9428585"/>
            <a:ext cx="2945660" cy="498055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8C46F0D7-2F1C-432C-8DCB-605A26590EC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653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8056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EE70301D-BD39-4B7A-85F3-950C031BB8F1}" type="datetimeFigureOut">
              <a:rPr lang="ko-KR" altLang="en-US" smtClean="0"/>
              <a:t>2025-02-18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467" tIns="45734" rIns="91467" bIns="4573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60" cy="498055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28585"/>
            <a:ext cx="2945660" cy="498055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068BF6EB-4656-4A42-A8B3-0125CF75F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418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B2CC-00BB-13E3-010F-30D2F9A8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5DDF2A-7BB2-15D6-E406-D7A1A5073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066FA5-2F74-FF13-3A04-9EA44BD0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FEF07-9459-3852-2D04-AB327DFAF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7388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4E821-935F-FBE8-80FF-4D61B26D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2FFD00-0AEB-8324-A171-DD9C86C96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23ECA7-22B0-862E-57D6-A365A327C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D9250-1B0A-4FDC-2C0E-5EF5ABBE3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27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CE8E-9C1B-4580-7C38-5CD2A7A2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5919E4-B775-0319-E7F2-3BD2E219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8B566B-9735-8FB3-9DD2-EF37C03B0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92CBCD-87AB-C5FD-6881-029B76E3F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0809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60E3-C4BA-4381-26DC-1030DF2E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C58207-AB94-C546-0410-3E9CC7B41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E6B80B-8747-0006-D7A9-93B68F555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73EDB-80B3-6F63-0553-D754039AD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8121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2897-E6E7-1B3C-B181-9B57B413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D99597-57F2-24F2-700C-3EF81940D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EFCDB-4CB1-052B-E720-63D74AA40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6383B0-2B54-F94C-582D-156F3D96B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6657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5BC6-D462-E21F-E6C5-57B4DCA8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BA4DC-253D-E610-0B37-09775F193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AA5414-1A73-078F-CB19-8C5894D7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6FBFC2-C5F0-A7AE-3C0B-88198A138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1289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3F7C-E631-E017-B839-095A1098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DCB237-31B9-5EAF-1A26-B65899F28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41CAFE-FE4D-FADF-0E17-03645F63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1ABC4-CAE7-82D5-E572-55642346B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9285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7A20-7DA6-99C3-CD07-057B59B5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B54ED-099E-DC2E-ECB6-BBA69CF40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000ED2-B1AD-47BD-A8C2-105B196E8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E7BDBF-3058-BABC-72F8-BEB70195E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1225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D98E-6D98-73BE-9315-53C7FF72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9F194-0A33-E28D-EA12-C02A89913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AFCD34-4E89-A46D-4C9C-70A896085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A86BE-A9E4-3365-9F52-04B2B094F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7737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2167-D750-2676-38FB-5B1D0072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DCCDB6-9890-DC7E-AD44-145108B63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EA6F4E-E9F6-4A97-F582-4A8EFEBFF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B4338-FDA2-5761-19AE-50B1CE722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665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잘린 대각선 방향 모서리 31">
            <a:extLst>
              <a:ext uri="{FF2B5EF4-FFF2-40B4-BE49-F238E27FC236}">
                <a16:creationId xmlns:a16="http://schemas.microsoft.com/office/drawing/2014/main" id="{7649CA9F-CAB9-4A1A-90DC-0C8163EA8989}"/>
              </a:ext>
            </a:extLst>
          </p:cNvPr>
          <p:cNvSpPr/>
          <p:nvPr userDrawn="1"/>
        </p:nvSpPr>
        <p:spPr>
          <a:xfrm>
            <a:off x="2038350" y="1821301"/>
            <a:ext cx="8124826" cy="2684462"/>
          </a:xfrm>
          <a:prstGeom prst="snip2DiagRect">
            <a:avLst>
              <a:gd name="adj1" fmla="val 0"/>
              <a:gd name="adj2" fmla="val 34384"/>
            </a:avLst>
          </a:prstGeom>
          <a:solidFill>
            <a:schemeClr val="bg1">
              <a:lumMod val="95000"/>
              <a:alpha val="0"/>
            </a:schemeClr>
          </a:solidFill>
          <a:ln w="127000" cap="sq">
            <a:gradFill>
              <a:gsLst>
                <a:gs pos="0">
                  <a:schemeClr val="accent3">
                    <a:lumMod val="40000"/>
                    <a:lumOff val="60000"/>
                    <a:alpha val="50000"/>
                  </a:schemeClr>
                </a:gs>
                <a:gs pos="74000">
                  <a:schemeClr val="accent3">
                    <a:lumMod val="20000"/>
                    <a:lumOff val="80000"/>
                  </a:schemeClr>
                </a:gs>
                <a:gs pos="83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lumMod val="60000"/>
                    <a:lumOff val="40000"/>
                    <a:alpha val="5900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675A5D-73F0-4345-8C41-D16AE957434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F7595-9A03-4449-9361-A3ECF46FDA65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 txBox="1">
            <a:spLocks/>
          </p:cNvSpPr>
          <p:nvPr userDrawn="1"/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3C626C7-DAD4-87C4-79F6-0956EAB8C236}"/>
              </a:ext>
            </a:extLst>
          </p:cNvPr>
          <p:cNvGrpSpPr/>
          <p:nvPr userDrawn="1"/>
        </p:nvGrpSpPr>
        <p:grpSpPr>
          <a:xfrm>
            <a:off x="11067693" y="146362"/>
            <a:ext cx="1124302" cy="231100"/>
            <a:chOff x="10704722" y="105056"/>
            <a:chExt cx="984116" cy="2305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B28F3D-1D9B-B8D3-F028-7B57AE401DBF}"/>
                </a:ext>
              </a:extLst>
            </p:cNvPr>
            <p:cNvSpPr txBox="1"/>
            <p:nvPr userDrawn="1"/>
          </p:nvSpPr>
          <p:spPr>
            <a:xfrm>
              <a:off x="10704722" y="105056"/>
              <a:ext cx="984116" cy="230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94" b="1" dirty="0">
                  <a:solidFill>
                    <a:srgbClr val="FF0000"/>
                  </a:solidFill>
                </a:rPr>
                <a:t>CONFIDENTIAL</a:t>
              </a:r>
              <a:endParaRPr lang="ko-KR" altLang="en-US" sz="894" b="1" dirty="0">
                <a:solidFill>
                  <a:srgbClr val="FF0000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BA18FF7-F005-6A2B-9FC8-4470D8BB18CE}"/>
                </a:ext>
              </a:extLst>
            </p:cNvPr>
            <p:cNvSpPr/>
            <p:nvPr userDrawn="1"/>
          </p:nvSpPr>
          <p:spPr>
            <a:xfrm>
              <a:off x="10760559" y="105056"/>
              <a:ext cx="852322" cy="230512"/>
            </a:xfrm>
            <a:prstGeom prst="roundRect">
              <a:avLst>
                <a:gd name="adj" fmla="val 20273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93"/>
            </a:p>
          </p:txBody>
        </p:sp>
      </p:grpSp>
    </p:spTree>
    <p:extLst>
      <p:ext uri="{BB962C8B-B14F-4D97-AF65-F5344CB8AC3E}">
        <p14:creationId xmlns:p14="http://schemas.microsoft.com/office/powerpoint/2010/main" val="167558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E675A5D-73F0-4345-8C41-D16AE957434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EF7595-9A03-4449-9361-A3ECF46FDA65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 txBox="1">
            <a:spLocks/>
          </p:cNvSpPr>
          <p:nvPr userDrawn="1"/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D26D0-08A8-EA9A-5BD4-E1ACD12296B6}"/>
              </a:ext>
            </a:extLst>
          </p:cNvPr>
          <p:cNvSpPr txBox="1"/>
          <p:nvPr userDrawn="1"/>
        </p:nvSpPr>
        <p:spPr>
          <a:xfrm>
            <a:off x="-66676" y="6575214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  <a:ea typeface="+mn-ea"/>
              </a:rPr>
              <a:t>작성자 </a:t>
            </a:r>
            <a:r>
              <a:rPr lang="en-US" altLang="ko-KR" sz="800">
                <a:latin typeface="+mn-ea"/>
                <a:ea typeface="+mn-ea"/>
              </a:rPr>
              <a:t>: </a:t>
            </a:r>
            <a:r>
              <a:rPr lang="ko-KR" altLang="en-US" sz="800">
                <a:latin typeface="+mn-ea"/>
                <a:ea typeface="+mn-ea"/>
              </a:rPr>
              <a:t>생산팀</a:t>
            </a:r>
            <a:r>
              <a:rPr lang="en-US" altLang="ko-KR" sz="800">
                <a:latin typeface="+mn-ea"/>
                <a:ea typeface="+mn-ea"/>
              </a:rPr>
              <a:t>(</a:t>
            </a:r>
            <a:r>
              <a:rPr lang="ko-KR" altLang="en-US" sz="800">
                <a:latin typeface="+mn-ea"/>
                <a:ea typeface="+mn-ea"/>
              </a:rPr>
              <a:t>전산</a:t>
            </a:r>
            <a:r>
              <a:rPr lang="en-US" altLang="ko-KR" sz="800">
                <a:latin typeface="+mn-ea"/>
                <a:ea typeface="+mn-ea"/>
              </a:rPr>
              <a:t>PT) </a:t>
            </a:r>
            <a:r>
              <a:rPr lang="ko-KR" altLang="en-US" sz="800">
                <a:latin typeface="+mn-ea"/>
                <a:ea typeface="+mn-ea"/>
              </a:rPr>
              <a:t>김종현 차장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32DA579-1267-9D21-EBD4-175EBF1E7673}"/>
              </a:ext>
            </a:extLst>
          </p:cNvPr>
          <p:cNvGrpSpPr/>
          <p:nvPr userDrawn="1"/>
        </p:nvGrpSpPr>
        <p:grpSpPr>
          <a:xfrm>
            <a:off x="11067693" y="146362"/>
            <a:ext cx="1124302" cy="231100"/>
            <a:chOff x="10704722" y="105056"/>
            <a:chExt cx="984116" cy="2305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692E7D-B672-FCB2-C03B-0A0543EDE6BA}"/>
                </a:ext>
              </a:extLst>
            </p:cNvPr>
            <p:cNvSpPr txBox="1"/>
            <p:nvPr userDrawn="1"/>
          </p:nvSpPr>
          <p:spPr>
            <a:xfrm>
              <a:off x="10704722" y="105056"/>
              <a:ext cx="984116" cy="230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94" b="1" dirty="0">
                  <a:solidFill>
                    <a:srgbClr val="FF0000"/>
                  </a:solidFill>
                </a:rPr>
                <a:t>CONFIDENTIAL</a:t>
              </a:r>
              <a:endParaRPr lang="ko-KR" altLang="en-US" sz="894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CA29E583-48DA-9EAD-9BC2-ABEA6F30A6E7}"/>
                </a:ext>
              </a:extLst>
            </p:cNvPr>
            <p:cNvSpPr/>
            <p:nvPr userDrawn="1"/>
          </p:nvSpPr>
          <p:spPr>
            <a:xfrm>
              <a:off x="10760559" y="105056"/>
              <a:ext cx="852322" cy="230512"/>
            </a:xfrm>
            <a:prstGeom prst="roundRect">
              <a:avLst>
                <a:gd name="adj" fmla="val 20273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93"/>
            </a:p>
          </p:txBody>
        </p:sp>
      </p:grpSp>
    </p:spTree>
    <p:extLst>
      <p:ext uri="{BB962C8B-B14F-4D97-AF65-F5344CB8AC3E}">
        <p14:creationId xmlns:p14="http://schemas.microsoft.com/office/powerpoint/2010/main" val="88546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8B56C3-6A92-4990-B687-42768ABB269F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6563F6-1F31-4467-8C11-6BD9AEA8BE0F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8770128" y="6253988"/>
            <a:ext cx="3313922" cy="409343"/>
            <a:chOff x="8770128" y="6215888"/>
            <a:chExt cx="3313922" cy="40934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B8AFE64-8F16-48E8-AE83-FF0BAF7F5046}"/>
                </a:ext>
              </a:extLst>
            </p:cNvPr>
            <p:cNvGrpSpPr/>
            <p:nvPr/>
          </p:nvGrpSpPr>
          <p:grpSpPr>
            <a:xfrm>
              <a:off x="8770128" y="6215888"/>
              <a:ext cx="3267776" cy="409343"/>
              <a:chOff x="117722" y="46910"/>
              <a:chExt cx="2165629" cy="267091"/>
            </a:xfrm>
          </p:grpSpPr>
          <p:pic>
            <p:nvPicPr>
              <p:cNvPr id="15" name="그래픽 5">
                <a:extLst>
                  <a:ext uri="{FF2B5EF4-FFF2-40B4-BE49-F238E27FC236}">
                    <a16:creationId xmlns:a16="http://schemas.microsoft.com/office/drawing/2014/main" id="{8D0D1A31-34CD-438C-A293-8E45ECA1D9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7722" y="46910"/>
                <a:ext cx="298267" cy="190322"/>
              </a:xfrm>
              <a:prstGeom prst="rect">
                <a:avLst/>
              </a:prstGeom>
            </p:spPr>
          </p:pic>
          <p:pic>
            <p:nvPicPr>
              <p:cNvPr id="16" name="그래픽 6">
                <a:extLst>
                  <a:ext uri="{FF2B5EF4-FFF2-40B4-BE49-F238E27FC236}">
                    <a16:creationId xmlns:a16="http://schemas.microsoft.com/office/drawing/2014/main" id="{7646B6B4-7CEA-44C7-9340-3DB2E0E8C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8727" y="53979"/>
                <a:ext cx="1814624" cy="260022"/>
              </a:xfrm>
              <a:prstGeom prst="rect">
                <a:avLst/>
              </a:prstGeom>
            </p:spPr>
          </p:pic>
        </p:grpSp>
        <p:sp>
          <p:nvSpPr>
            <p:cNvPr id="14" name="직사각형 13"/>
            <p:cNvSpPr/>
            <p:nvPr/>
          </p:nvSpPr>
          <p:spPr>
            <a:xfrm>
              <a:off x="10617200" y="6494874"/>
              <a:ext cx="1466850" cy="130357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149E37-2222-067E-0053-4B4B0C090D08}"/>
              </a:ext>
            </a:extLst>
          </p:cNvPr>
          <p:cNvSpPr txBox="1"/>
          <p:nvPr userDrawn="1"/>
        </p:nvSpPr>
        <p:spPr>
          <a:xfrm>
            <a:off x="-66676" y="6575214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  <a:ea typeface="+mn-ea"/>
              </a:rPr>
              <a:t>작성자 </a:t>
            </a:r>
            <a:r>
              <a:rPr lang="en-US" altLang="ko-KR" sz="800">
                <a:latin typeface="+mn-ea"/>
                <a:ea typeface="+mn-ea"/>
              </a:rPr>
              <a:t>: </a:t>
            </a:r>
            <a:r>
              <a:rPr lang="ko-KR" altLang="en-US" sz="800">
                <a:latin typeface="+mn-ea"/>
                <a:ea typeface="+mn-ea"/>
              </a:rPr>
              <a:t>생산팀</a:t>
            </a:r>
            <a:r>
              <a:rPr lang="en-US" altLang="ko-KR" sz="800">
                <a:latin typeface="+mn-ea"/>
                <a:ea typeface="+mn-ea"/>
              </a:rPr>
              <a:t>(</a:t>
            </a:r>
            <a:r>
              <a:rPr lang="ko-KR" altLang="en-US" sz="800">
                <a:latin typeface="+mn-ea"/>
                <a:ea typeface="+mn-ea"/>
              </a:rPr>
              <a:t>전산</a:t>
            </a:r>
            <a:r>
              <a:rPr lang="en-US" altLang="ko-KR" sz="800">
                <a:latin typeface="+mn-ea"/>
                <a:ea typeface="+mn-ea"/>
              </a:rPr>
              <a:t>PT) </a:t>
            </a:r>
            <a:r>
              <a:rPr lang="ko-KR" altLang="en-US" sz="800">
                <a:latin typeface="+mn-ea"/>
                <a:ea typeface="+mn-ea"/>
              </a:rPr>
              <a:t>김종현 차장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0C0C96-09A3-6027-7D0B-5B055448B2CC}"/>
              </a:ext>
            </a:extLst>
          </p:cNvPr>
          <p:cNvGrpSpPr/>
          <p:nvPr userDrawn="1"/>
        </p:nvGrpSpPr>
        <p:grpSpPr>
          <a:xfrm>
            <a:off x="11067693" y="146362"/>
            <a:ext cx="1124302" cy="231100"/>
            <a:chOff x="10704722" y="105056"/>
            <a:chExt cx="984116" cy="2305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C6B49A-C8C2-12A1-39F5-F2D32343FA9E}"/>
                </a:ext>
              </a:extLst>
            </p:cNvPr>
            <p:cNvSpPr txBox="1"/>
            <p:nvPr userDrawn="1"/>
          </p:nvSpPr>
          <p:spPr>
            <a:xfrm>
              <a:off x="10704722" y="105056"/>
              <a:ext cx="984116" cy="230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94" b="1" dirty="0">
                  <a:solidFill>
                    <a:srgbClr val="FF0000"/>
                  </a:solidFill>
                </a:rPr>
                <a:t>CONFIDENTIAL</a:t>
              </a:r>
              <a:endParaRPr lang="ko-KR" altLang="en-US" sz="894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04CE970-336E-87A1-F4F8-3A6A930B4A89}"/>
                </a:ext>
              </a:extLst>
            </p:cNvPr>
            <p:cNvSpPr/>
            <p:nvPr userDrawn="1"/>
          </p:nvSpPr>
          <p:spPr>
            <a:xfrm>
              <a:off x="10760559" y="105056"/>
              <a:ext cx="852322" cy="230512"/>
            </a:xfrm>
            <a:prstGeom prst="roundRect">
              <a:avLst>
                <a:gd name="adj" fmla="val 20273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93"/>
            </a:p>
          </p:txBody>
        </p:sp>
      </p:grpSp>
    </p:spTree>
    <p:extLst>
      <p:ext uri="{BB962C8B-B14F-4D97-AF65-F5344CB8AC3E}">
        <p14:creationId xmlns:p14="http://schemas.microsoft.com/office/powerpoint/2010/main" val="319470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AAEAF18-B8B4-4B91-9075-48BEA43EFB7F}"/>
              </a:ext>
            </a:extLst>
          </p:cNvPr>
          <p:cNvGrpSpPr/>
          <p:nvPr userDrawn="1"/>
        </p:nvGrpSpPr>
        <p:grpSpPr>
          <a:xfrm>
            <a:off x="-12526" y="-9525"/>
            <a:ext cx="12204525" cy="647703"/>
            <a:chOff x="-12526" y="-9525"/>
            <a:chExt cx="12204525" cy="64770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BBE7039-DBB8-4C4C-96B2-C5247D103483}"/>
                </a:ext>
              </a:extLst>
            </p:cNvPr>
            <p:cNvSpPr/>
            <p:nvPr userDrawn="1"/>
          </p:nvSpPr>
          <p:spPr>
            <a:xfrm>
              <a:off x="-12526" y="-9522"/>
              <a:ext cx="12192000" cy="647700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74000">
                  <a:srgbClr val="009999"/>
                </a:gs>
                <a:gs pos="83000">
                  <a:srgbClr val="009999"/>
                </a:gs>
                <a:gs pos="100000">
                  <a:srgbClr val="00999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36732C21-5F54-432E-9EFF-ED12B1B1D899}"/>
                </a:ext>
              </a:extLst>
            </p:cNvPr>
            <p:cNvSpPr/>
            <p:nvPr userDrawn="1"/>
          </p:nvSpPr>
          <p:spPr>
            <a:xfrm>
              <a:off x="9339259" y="-9525"/>
              <a:ext cx="1552577" cy="647702"/>
            </a:xfrm>
            <a:prstGeom prst="triangl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598918-880D-420B-A104-D7E39733DB81}"/>
                </a:ext>
              </a:extLst>
            </p:cNvPr>
            <p:cNvSpPr/>
            <p:nvPr userDrawn="1"/>
          </p:nvSpPr>
          <p:spPr>
            <a:xfrm rot="10800000">
              <a:off x="10115549" y="-9525"/>
              <a:ext cx="2076450" cy="64770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3264473-A8C2-4985-8A22-7EF5A5D9F5C8}"/>
              </a:ext>
            </a:extLst>
          </p:cNvPr>
          <p:cNvCxnSpPr/>
          <p:nvPr userDrawn="1"/>
        </p:nvCxnSpPr>
        <p:spPr>
          <a:xfrm>
            <a:off x="338203" y="6743699"/>
            <a:ext cx="115239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B8AFE64-8F16-48E8-AE83-FF0BAF7F5046}"/>
              </a:ext>
            </a:extLst>
          </p:cNvPr>
          <p:cNvGrpSpPr/>
          <p:nvPr/>
        </p:nvGrpSpPr>
        <p:grpSpPr>
          <a:xfrm>
            <a:off x="9921240" y="226001"/>
            <a:ext cx="2156487" cy="270136"/>
            <a:chOff x="117722" y="46910"/>
            <a:chExt cx="2165629" cy="267091"/>
          </a:xfrm>
        </p:grpSpPr>
        <p:pic>
          <p:nvPicPr>
            <p:cNvPr id="19" name="그래픽 5">
              <a:extLst>
                <a:ext uri="{FF2B5EF4-FFF2-40B4-BE49-F238E27FC236}">
                  <a16:creationId xmlns:a16="http://schemas.microsoft.com/office/drawing/2014/main" id="{8D0D1A31-34CD-438C-A293-8E45ECA1D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722" y="46910"/>
              <a:ext cx="298267" cy="190322"/>
            </a:xfrm>
            <a:prstGeom prst="rect">
              <a:avLst/>
            </a:prstGeom>
          </p:spPr>
        </p:pic>
        <p:pic>
          <p:nvPicPr>
            <p:cNvPr id="20" name="그래픽 6">
              <a:extLst>
                <a:ext uri="{FF2B5EF4-FFF2-40B4-BE49-F238E27FC236}">
                  <a16:creationId xmlns:a16="http://schemas.microsoft.com/office/drawing/2014/main" id="{7646B6B4-7CEA-44C7-9340-3DB2E0E8C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727" y="53979"/>
              <a:ext cx="1814624" cy="260022"/>
            </a:xfrm>
            <a:prstGeom prst="rect">
              <a:avLst/>
            </a:prstGeom>
          </p:spPr>
        </p:pic>
      </p:grpSp>
      <p:sp>
        <p:nvSpPr>
          <p:cNvPr id="18" name="직사각형 17"/>
          <p:cNvSpPr/>
          <p:nvPr/>
        </p:nvSpPr>
        <p:spPr>
          <a:xfrm>
            <a:off x="11140169" y="410111"/>
            <a:ext cx="968011" cy="8602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AFB2B-84FB-37FF-ECF0-05EBD737AE4F}"/>
              </a:ext>
            </a:extLst>
          </p:cNvPr>
          <p:cNvSpPr txBox="1"/>
          <p:nvPr userDrawn="1"/>
        </p:nvSpPr>
        <p:spPr>
          <a:xfrm>
            <a:off x="-66676" y="6575214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  <a:ea typeface="+mn-ea"/>
              </a:rPr>
              <a:t>작성자 </a:t>
            </a:r>
            <a:r>
              <a:rPr lang="en-US" altLang="ko-KR" sz="800">
                <a:latin typeface="+mn-ea"/>
                <a:ea typeface="+mn-ea"/>
              </a:rPr>
              <a:t>: </a:t>
            </a:r>
            <a:r>
              <a:rPr lang="ko-KR" altLang="en-US" sz="800">
                <a:latin typeface="+mn-ea"/>
                <a:ea typeface="+mn-ea"/>
              </a:rPr>
              <a:t>생산팀</a:t>
            </a:r>
            <a:r>
              <a:rPr lang="en-US" altLang="ko-KR" sz="800">
                <a:latin typeface="+mn-ea"/>
                <a:ea typeface="+mn-ea"/>
              </a:rPr>
              <a:t>(</a:t>
            </a:r>
            <a:r>
              <a:rPr lang="ko-KR" altLang="en-US" sz="800">
                <a:latin typeface="+mn-ea"/>
                <a:ea typeface="+mn-ea"/>
              </a:rPr>
              <a:t>전산</a:t>
            </a:r>
            <a:r>
              <a:rPr lang="en-US" altLang="ko-KR" sz="800">
                <a:latin typeface="+mn-ea"/>
                <a:ea typeface="+mn-ea"/>
              </a:rPr>
              <a:t>PT) </a:t>
            </a:r>
            <a:r>
              <a:rPr lang="ko-KR" altLang="en-US" sz="800">
                <a:latin typeface="+mn-ea"/>
                <a:ea typeface="+mn-ea"/>
              </a:rPr>
              <a:t>김종현 차장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EEEC288-55D0-A972-CB72-61CE65F9B495}"/>
              </a:ext>
            </a:extLst>
          </p:cNvPr>
          <p:cNvGrpSpPr/>
          <p:nvPr userDrawn="1"/>
        </p:nvGrpSpPr>
        <p:grpSpPr>
          <a:xfrm>
            <a:off x="11140169" y="649751"/>
            <a:ext cx="1124302" cy="231100"/>
            <a:chOff x="10704722" y="105056"/>
            <a:chExt cx="984116" cy="2305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BD09A-6A9F-8242-1B24-51747CFA52CE}"/>
                </a:ext>
              </a:extLst>
            </p:cNvPr>
            <p:cNvSpPr txBox="1"/>
            <p:nvPr userDrawn="1"/>
          </p:nvSpPr>
          <p:spPr>
            <a:xfrm>
              <a:off x="10704722" y="105056"/>
              <a:ext cx="984116" cy="230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94" b="1" dirty="0">
                  <a:solidFill>
                    <a:srgbClr val="FF0000"/>
                  </a:solidFill>
                </a:rPr>
                <a:t>CONFIDENTIAL</a:t>
              </a:r>
              <a:endParaRPr lang="ko-KR" altLang="en-US" sz="894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3686A71-767F-50D2-A987-705BB6E6F2F5}"/>
                </a:ext>
              </a:extLst>
            </p:cNvPr>
            <p:cNvSpPr/>
            <p:nvPr userDrawn="1"/>
          </p:nvSpPr>
          <p:spPr>
            <a:xfrm>
              <a:off x="10760559" y="105056"/>
              <a:ext cx="852322" cy="230512"/>
            </a:xfrm>
            <a:prstGeom prst="roundRect">
              <a:avLst>
                <a:gd name="adj" fmla="val 20273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93"/>
            </a:p>
          </p:txBody>
        </p:sp>
      </p:grpSp>
    </p:spTree>
    <p:extLst>
      <p:ext uri="{BB962C8B-B14F-4D97-AF65-F5344CB8AC3E}">
        <p14:creationId xmlns:p14="http://schemas.microsoft.com/office/powerpoint/2010/main" val="206602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242C2-7F60-0FE9-A9A2-9FDFBA891D13}"/>
              </a:ext>
            </a:extLst>
          </p:cNvPr>
          <p:cNvSpPr txBox="1"/>
          <p:nvPr userDrawn="1"/>
        </p:nvSpPr>
        <p:spPr>
          <a:xfrm>
            <a:off x="-66676" y="6575214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  <a:ea typeface="+mn-ea"/>
              </a:rPr>
              <a:t>작성자 </a:t>
            </a:r>
            <a:r>
              <a:rPr lang="en-US" altLang="ko-KR" sz="800">
                <a:latin typeface="+mn-ea"/>
                <a:ea typeface="+mn-ea"/>
              </a:rPr>
              <a:t>: </a:t>
            </a:r>
            <a:r>
              <a:rPr lang="ko-KR" altLang="en-US" sz="800">
                <a:latin typeface="+mn-ea"/>
                <a:ea typeface="+mn-ea"/>
              </a:rPr>
              <a:t>생산팀</a:t>
            </a:r>
            <a:r>
              <a:rPr lang="en-US" altLang="ko-KR" sz="800">
                <a:latin typeface="+mn-ea"/>
                <a:ea typeface="+mn-ea"/>
              </a:rPr>
              <a:t>(</a:t>
            </a:r>
            <a:r>
              <a:rPr lang="ko-KR" altLang="en-US" sz="800">
                <a:latin typeface="+mn-ea"/>
                <a:ea typeface="+mn-ea"/>
              </a:rPr>
              <a:t>전산</a:t>
            </a:r>
            <a:r>
              <a:rPr lang="en-US" altLang="ko-KR" sz="800">
                <a:latin typeface="+mn-ea"/>
                <a:ea typeface="+mn-ea"/>
              </a:rPr>
              <a:t>PT) </a:t>
            </a:r>
            <a:r>
              <a:rPr lang="ko-KR" altLang="en-US" sz="800">
                <a:latin typeface="+mn-ea"/>
                <a:ea typeface="+mn-ea"/>
              </a:rPr>
              <a:t>김종현 차장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BE381F6-3977-81C3-2E6F-5C76C2E0BF78}"/>
              </a:ext>
            </a:extLst>
          </p:cNvPr>
          <p:cNvGrpSpPr/>
          <p:nvPr userDrawn="1"/>
        </p:nvGrpSpPr>
        <p:grpSpPr>
          <a:xfrm>
            <a:off x="11067693" y="146362"/>
            <a:ext cx="1124302" cy="231100"/>
            <a:chOff x="10704722" y="105056"/>
            <a:chExt cx="984116" cy="2305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B1CD07-3356-DFCE-4441-6617DBDCF7A0}"/>
                </a:ext>
              </a:extLst>
            </p:cNvPr>
            <p:cNvSpPr txBox="1"/>
            <p:nvPr userDrawn="1"/>
          </p:nvSpPr>
          <p:spPr>
            <a:xfrm>
              <a:off x="10704722" y="105056"/>
              <a:ext cx="984116" cy="230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94" b="1" dirty="0">
                  <a:solidFill>
                    <a:srgbClr val="FF0000"/>
                  </a:solidFill>
                </a:rPr>
                <a:t>CONFIDENTIAL</a:t>
              </a:r>
              <a:endParaRPr lang="ko-KR" altLang="en-US" sz="894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B953C29-753B-F2A0-82B1-0EE9F3ABD5D6}"/>
                </a:ext>
              </a:extLst>
            </p:cNvPr>
            <p:cNvSpPr/>
            <p:nvPr userDrawn="1"/>
          </p:nvSpPr>
          <p:spPr>
            <a:xfrm>
              <a:off x="10760559" y="105056"/>
              <a:ext cx="852322" cy="230512"/>
            </a:xfrm>
            <a:prstGeom prst="roundRect">
              <a:avLst>
                <a:gd name="adj" fmla="val 20273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93"/>
            </a:p>
          </p:txBody>
        </p:sp>
      </p:grpSp>
    </p:spTree>
    <p:extLst>
      <p:ext uri="{BB962C8B-B14F-4D97-AF65-F5344CB8AC3E}">
        <p14:creationId xmlns:p14="http://schemas.microsoft.com/office/powerpoint/2010/main" val="25647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gradFill flip="none" rotWithShape="1">
          <a:gsLst>
            <a:gs pos="10000">
              <a:srgbClr val="009999"/>
            </a:gs>
            <a:gs pos="30000">
              <a:srgbClr val="178189"/>
            </a:gs>
            <a:gs pos="100000">
              <a:srgbClr val="44546A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81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A727C-FED5-675E-EA16-9164FBEB724E}"/>
              </a:ext>
            </a:extLst>
          </p:cNvPr>
          <p:cNvSpPr txBox="1"/>
          <p:nvPr userDrawn="1"/>
        </p:nvSpPr>
        <p:spPr>
          <a:xfrm>
            <a:off x="-66676" y="6575214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  <a:ea typeface="+mn-ea"/>
              </a:rPr>
              <a:t>작성자 </a:t>
            </a:r>
            <a:r>
              <a:rPr lang="en-US" altLang="ko-KR" sz="800">
                <a:latin typeface="+mn-ea"/>
                <a:ea typeface="+mn-ea"/>
              </a:rPr>
              <a:t>: </a:t>
            </a:r>
            <a:r>
              <a:rPr lang="ko-KR" altLang="en-US" sz="800">
                <a:latin typeface="+mn-ea"/>
                <a:ea typeface="+mn-ea"/>
              </a:rPr>
              <a:t>생산팀</a:t>
            </a:r>
            <a:r>
              <a:rPr lang="en-US" altLang="ko-KR" sz="800">
                <a:latin typeface="+mn-ea"/>
                <a:ea typeface="+mn-ea"/>
              </a:rPr>
              <a:t>(</a:t>
            </a:r>
            <a:r>
              <a:rPr lang="ko-KR" altLang="en-US" sz="800">
                <a:latin typeface="+mn-ea"/>
                <a:ea typeface="+mn-ea"/>
              </a:rPr>
              <a:t>전산</a:t>
            </a:r>
            <a:r>
              <a:rPr lang="en-US" altLang="ko-KR" sz="800">
                <a:latin typeface="+mn-ea"/>
                <a:ea typeface="+mn-ea"/>
              </a:rPr>
              <a:t>PT) </a:t>
            </a:r>
            <a:r>
              <a:rPr lang="ko-KR" altLang="en-US" sz="800">
                <a:latin typeface="+mn-ea"/>
                <a:ea typeface="+mn-ea"/>
              </a:rPr>
              <a:t>김종현 차장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FA2ED09-FB91-E52F-EC5B-0F872CA5EED0}"/>
              </a:ext>
            </a:extLst>
          </p:cNvPr>
          <p:cNvGrpSpPr/>
          <p:nvPr userDrawn="1"/>
        </p:nvGrpSpPr>
        <p:grpSpPr>
          <a:xfrm>
            <a:off x="11067693" y="146362"/>
            <a:ext cx="1124302" cy="231100"/>
            <a:chOff x="10704722" y="105056"/>
            <a:chExt cx="984116" cy="23051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F3C2B2-B955-68A7-F7C5-38A65406D294}"/>
                </a:ext>
              </a:extLst>
            </p:cNvPr>
            <p:cNvSpPr txBox="1"/>
            <p:nvPr userDrawn="1"/>
          </p:nvSpPr>
          <p:spPr>
            <a:xfrm>
              <a:off x="10704722" y="105056"/>
              <a:ext cx="984116" cy="230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94" b="1" dirty="0">
                  <a:solidFill>
                    <a:srgbClr val="FF0000"/>
                  </a:solidFill>
                </a:rPr>
                <a:t>CONFIDENTIAL</a:t>
              </a:r>
              <a:endParaRPr lang="ko-KR" altLang="en-US" sz="894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C8E076E-230B-11BA-0BD7-67DA1819B45D}"/>
                </a:ext>
              </a:extLst>
            </p:cNvPr>
            <p:cNvSpPr/>
            <p:nvPr userDrawn="1"/>
          </p:nvSpPr>
          <p:spPr>
            <a:xfrm>
              <a:off x="10760559" y="105056"/>
              <a:ext cx="852322" cy="230512"/>
            </a:xfrm>
            <a:prstGeom prst="roundRect">
              <a:avLst>
                <a:gd name="adj" fmla="val 20273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93"/>
            </a:p>
          </p:txBody>
        </p:sp>
      </p:grpSp>
    </p:spTree>
    <p:extLst>
      <p:ext uri="{BB962C8B-B14F-4D97-AF65-F5344CB8AC3E}">
        <p14:creationId xmlns:p14="http://schemas.microsoft.com/office/powerpoint/2010/main" val="162562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18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SEGYUNG HITECH  l</a:t>
            </a:r>
            <a:r>
              <a:rPr lang="ko-KR" altLang="en-US" dirty="0"/>
              <a:t>  </a:t>
            </a:r>
            <a:fld id="{AB2A6665-3514-4948-8E09-39272CC142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648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  <p:sldLayoutId id="2147483650" r:id="rId4"/>
    <p:sldLayoutId id="2147483652" r:id="rId5"/>
    <p:sldLayoutId id="2147483653" r:id="rId6"/>
    <p:sldLayoutId id="2147483655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1F65B5-F925-44F2-8C21-89A0E78C8492}"/>
              </a:ext>
            </a:extLst>
          </p:cNvPr>
          <p:cNvSpPr txBox="1"/>
          <p:nvPr/>
        </p:nvSpPr>
        <p:spPr>
          <a:xfrm>
            <a:off x="3463636" y="2622041"/>
            <a:ext cx="519219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011" latinLnBrk="0">
              <a:defRPr/>
            </a:pPr>
            <a:r>
              <a:rPr lang="en-US" altLang="ko-KR" sz="3500" b="1" kern="0">
                <a:solidFill>
                  <a:srgbClr val="4BACC6">
                    <a:lumMod val="75000"/>
                  </a:srgbClr>
                </a:solidFill>
              </a:rPr>
              <a:t>‘25</a:t>
            </a:r>
            <a:r>
              <a:rPr lang="ko-KR" altLang="en-US" sz="3500" b="1" kern="0">
                <a:solidFill>
                  <a:srgbClr val="4BACC6">
                    <a:lumMod val="75000"/>
                  </a:srgbClr>
                </a:solidFill>
              </a:rPr>
              <a:t>년 정보보안 추진계획</a:t>
            </a:r>
            <a:endParaRPr lang="ko-KR" altLang="en-US" sz="3500" b="1" kern="0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8" name="PA_圆角矩形 31">
            <a:extLst>
              <a:ext uri="{FF2B5EF4-FFF2-40B4-BE49-F238E27FC236}">
                <a16:creationId xmlns:a16="http://schemas.microsoft.com/office/drawing/2014/main" id="{F09BFE29-D842-483A-A8E6-A84664628BE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513870" y="3629108"/>
            <a:ext cx="3177617" cy="303063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2025.00.00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8655828" y="6059312"/>
            <a:ext cx="3313922" cy="409343"/>
            <a:chOff x="8655828" y="6059312"/>
            <a:chExt cx="3313922" cy="40934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B8AFE64-8F16-48E8-AE83-FF0BAF7F5046}"/>
                </a:ext>
              </a:extLst>
            </p:cNvPr>
            <p:cNvGrpSpPr/>
            <p:nvPr/>
          </p:nvGrpSpPr>
          <p:grpSpPr>
            <a:xfrm>
              <a:off x="8655828" y="6059312"/>
              <a:ext cx="3267776" cy="409343"/>
              <a:chOff x="117722" y="46910"/>
              <a:chExt cx="2165629" cy="267091"/>
            </a:xfrm>
          </p:grpSpPr>
          <p:pic>
            <p:nvPicPr>
              <p:cNvPr id="5" name="그래픽 5">
                <a:extLst>
                  <a:ext uri="{FF2B5EF4-FFF2-40B4-BE49-F238E27FC236}">
                    <a16:creationId xmlns:a16="http://schemas.microsoft.com/office/drawing/2014/main" id="{8D0D1A31-34CD-438C-A293-8E45ECA1D9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7722" y="46910"/>
                <a:ext cx="298267" cy="190322"/>
              </a:xfrm>
              <a:prstGeom prst="rect">
                <a:avLst/>
              </a:prstGeom>
            </p:spPr>
          </p:pic>
          <p:pic>
            <p:nvPicPr>
              <p:cNvPr id="6" name="그래픽 6">
                <a:extLst>
                  <a:ext uri="{FF2B5EF4-FFF2-40B4-BE49-F238E27FC236}">
                    <a16:creationId xmlns:a16="http://schemas.microsoft.com/office/drawing/2014/main" id="{7646B6B4-7CEA-44C7-9340-3DB2E0E8C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8727" y="53979"/>
                <a:ext cx="1814624" cy="260022"/>
              </a:xfrm>
              <a:prstGeom prst="rect">
                <a:avLst/>
              </a:prstGeom>
            </p:spPr>
          </p:pic>
        </p:grpSp>
        <p:sp>
          <p:nvSpPr>
            <p:cNvPr id="2" name="직사각형 1"/>
            <p:cNvSpPr/>
            <p:nvPr/>
          </p:nvSpPr>
          <p:spPr>
            <a:xfrm>
              <a:off x="10502900" y="6338298"/>
              <a:ext cx="1466850" cy="1303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492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C2F942-95D9-4C42-B0DC-F634B116CB82}"/>
              </a:ext>
            </a:extLst>
          </p:cNvPr>
          <p:cNvSpPr txBox="1"/>
          <p:nvPr/>
        </p:nvSpPr>
        <p:spPr>
          <a:xfrm>
            <a:off x="874683" y="259421"/>
            <a:ext cx="9831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latin typeface="+mj-ea"/>
                <a:ea typeface="+mj-ea"/>
              </a:rPr>
              <a:t>“2025</a:t>
            </a:r>
            <a:r>
              <a:rPr lang="ko-KR" altLang="en-US" sz="2800" b="1">
                <a:latin typeface="+mj-ea"/>
                <a:ea typeface="+mj-ea"/>
              </a:rPr>
              <a:t>년 정보보안 추진계획</a:t>
            </a:r>
            <a:r>
              <a:rPr lang="en-US" altLang="ko-KR" sz="2800" b="1">
                <a:latin typeface="+mj-ea"/>
                <a:ea typeface="+mj-ea"/>
              </a:rPr>
              <a:t>”</a:t>
            </a:r>
            <a:endParaRPr lang="ko-KR" altLang="en-US" sz="2800" b="1" dirty="0">
              <a:latin typeface="+mj-ea"/>
              <a:ea typeface="+mj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5D634BE-E236-4F25-88DD-5EC6B3AFA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57162"/>
              </p:ext>
            </p:extLst>
          </p:nvPr>
        </p:nvGraphicFramePr>
        <p:xfrm>
          <a:off x="207712" y="811778"/>
          <a:ext cx="11577889" cy="5562262"/>
        </p:xfrm>
        <a:graphic>
          <a:graphicData uri="http://schemas.openxmlformats.org/drawingml/2006/table">
            <a:tbl>
              <a:tblPr/>
              <a:tblGrid>
                <a:gridCol w="451994">
                  <a:extLst>
                    <a:ext uri="{9D8B030D-6E8A-4147-A177-3AD203B41FA5}">
                      <a16:colId xmlns:a16="http://schemas.microsoft.com/office/drawing/2014/main" val="261393272"/>
                    </a:ext>
                  </a:extLst>
                </a:gridCol>
                <a:gridCol w="1233749">
                  <a:extLst>
                    <a:ext uri="{9D8B030D-6E8A-4147-A177-3AD203B41FA5}">
                      <a16:colId xmlns:a16="http://schemas.microsoft.com/office/drawing/2014/main" val="1350997835"/>
                    </a:ext>
                  </a:extLst>
                </a:gridCol>
                <a:gridCol w="4664363">
                  <a:extLst>
                    <a:ext uri="{9D8B030D-6E8A-4147-A177-3AD203B41FA5}">
                      <a16:colId xmlns:a16="http://schemas.microsoft.com/office/drawing/2014/main" val="1834333404"/>
                    </a:ext>
                  </a:extLst>
                </a:gridCol>
                <a:gridCol w="1967346">
                  <a:extLst>
                    <a:ext uri="{9D8B030D-6E8A-4147-A177-3AD203B41FA5}">
                      <a16:colId xmlns:a16="http://schemas.microsoft.com/office/drawing/2014/main" val="3660365841"/>
                    </a:ext>
                  </a:extLst>
                </a:gridCol>
                <a:gridCol w="3260437">
                  <a:extLst>
                    <a:ext uri="{9D8B030D-6E8A-4147-A177-3AD203B41FA5}">
                      <a16:colId xmlns:a16="http://schemas.microsoft.com/office/drawing/2014/main" val="1333287086"/>
                    </a:ext>
                  </a:extLst>
                </a:gridCol>
              </a:tblGrid>
              <a:tr h="293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5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항목</a:t>
                      </a:r>
                      <a:endParaRPr lang="ko-KR" altLang="en-US" sz="1400" b="1" i="0" u="none" strike="noStrike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5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내용</a:t>
                      </a:r>
                      <a:endParaRPr lang="ko-KR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5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견적</a:t>
                      </a:r>
                      <a:endParaRPr lang="ko-KR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5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14534"/>
                  </a:ext>
                </a:extLst>
              </a:tr>
              <a:tr h="24247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262626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메일보안</a:t>
                      </a:r>
                      <a:endParaRPr kumimoji="0" lang="en-US" altLang="ko-KR" sz="1400" b="1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● 정보 유출을 차단을 위한 메일 설정</a:t>
                      </a:r>
                      <a:endParaRPr kumimoji="0" lang="en-US" altLang="ko-KR" sz="1100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암호메일 </a:t>
                      </a: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관리자 설정</a:t>
                      </a:r>
                      <a:endParaRPr kumimoji="0" lang="en-US" altLang="ko-KR" sz="11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메일 발송시 비밀번호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열람횟수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열람 유효기간을 설정</a:t>
                      </a:r>
                      <a:endParaRPr kumimoji="0" lang="en-US" altLang="ko-KR" sz="1100" b="1" kern="12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설정은 발송자가 직접하고 발송되는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메일은 수신자에게 링크로 제공</a:t>
                      </a:r>
                      <a:endParaRPr kumimoji="0" lang="en-US" altLang="ko-KR" sz="1100" b="1" kern="12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승인메일 </a:t>
                      </a: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관리자 설정</a:t>
                      </a:r>
                      <a:endParaRPr kumimoji="0" lang="en-US" altLang="ko-KR" sz="11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메일 발송시 승인자의 결재 과정을 거쳐 발송</a:t>
                      </a:r>
                      <a:endParaRPr kumimoji="0" lang="en-US" altLang="ko-KR" sz="1100" b="1" kern="12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 정보 유출과 비업무용 메일 발송으로 인한 업무 생산성 저하 방지</a:t>
                      </a:r>
                      <a:endParaRPr kumimoji="0" lang="en-US" altLang="ko-KR" sz="1100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승인자의 업무량 증가 예상</a:t>
                      </a:r>
                      <a:endParaRPr kumimoji="0" lang="en-US" altLang="ko-KR" sz="11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하이웍스 그룹웨어에서</a:t>
                      </a:r>
                      <a:endParaRPr lang="en-US" altLang="ko-KR" sz="1100" b="1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직접 설정</a:t>
                      </a:r>
                      <a:endParaRPr lang="ko-KR" altLang="en-US" sz="11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아웃룩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(Outlook)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사용불가</a:t>
                      </a:r>
                      <a:endParaRPr lang="en-US" altLang="ko-KR" sz="11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특정 도메인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차단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승인 불가</a:t>
                      </a:r>
                      <a:endParaRPr lang="en-US" altLang="ko-KR" sz="11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:samsung.com, apple.com </a:t>
                      </a: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보내는 메일</a:t>
                      </a:r>
                      <a:endParaRPr lang="en-US" altLang="ko-KR" sz="105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승인 기능 불가</a:t>
                      </a:r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그룹웨어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메일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전자결제등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사내 구축 필요</a:t>
                      </a:r>
                      <a:endParaRPr lang="en-US" altLang="ko-KR" sz="11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58886"/>
                  </a:ext>
                </a:extLst>
              </a:tr>
              <a:tr h="15025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262626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문서보안</a:t>
                      </a:r>
                      <a:endParaRPr kumimoji="0" lang="en-US" altLang="ko-KR" sz="1400" b="1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7200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kumimoji="0" lang="ko-KR" altLang="en-US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보안</a:t>
                      </a:r>
                      <a:endParaRPr kumimoji="0" lang="en-US" altLang="ko-KR" sz="1400" b="1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7200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문서중앙화</a:t>
                      </a:r>
                      <a:r>
                        <a:rPr kumimoji="0" lang="en-US" altLang="ko-KR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1400" b="1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●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사내에서 생성되는 모든 문서를 중앙에서 관리</a:t>
                      </a: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보관</a:t>
                      </a:r>
                      <a:endParaRPr kumimoji="0" lang="en-US" altLang="ko-KR" sz="11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중요자료 삭제 혹은 분실위험 방지</a:t>
                      </a:r>
                      <a:endParaRPr kumimoji="0" lang="en-US" altLang="ko-KR" sz="1100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문서의 중앙관리</a:t>
                      </a: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반출시 결재</a:t>
                      </a:r>
                      <a:endParaRPr kumimoji="0" lang="en-US" altLang="ko-KR" sz="1100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문서 로컬 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저장금지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랜섬웨어 대응</a:t>
                      </a:r>
                      <a:endParaRPr kumimoji="0" lang="en-US" altLang="ko-KR" sz="1100" b="1" kern="12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기업 문서의 통합관리를 통한 문서 자산화</a:t>
                      </a:r>
                      <a:endParaRPr kumimoji="0" lang="en-US" altLang="ko-KR" sz="1100" b="1" kern="1200" baseline="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클라우드형</a:t>
                      </a:r>
                      <a:endParaRPr lang="en-US" altLang="ko-KR" sz="1100" b="1" kern="120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월 사용료 지불</a:t>
                      </a:r>
                      <a:endParaRPr lang="en-US" altLang="ko-KR" sz="1100" b="1" kern="120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250</a:t>
                      </a:r>
                      <a:r>
                        <a:rPr lang="ko-KR" altLang="en-US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명 기준 월 약 </a:t>
                      </a:r>
                      <a:r>
                        <a:rPr lang="en-US" altLang="ko-KR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\270 </a:t>
                      </a:r>
                      <a:r>
                        <a:rPr lang="ko-KR" altLang="en-US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ko-KR" altLang="en-US" sz="1100" b="1" u="sng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에스원 보안 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S/W</a:t>
                      </a: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계약기간 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03859"/>
                  </a:ext>
                </a:extLst>
              </a:tr>
              <a:tr h="1341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262626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단말기 보안</a:t>
                      </a:r>
                      <a:endParaRPr kumimoji="0" lang="en-US" altLang="ko-KR" sz="1400" b="1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(MDM)</a:t>
                      </a:r>
                      <a:endParaRPr kumimoji="0" lang="en-US" altLang="ko-KR" sz="1400" b="1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688" marR="12688" marT="1268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●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카메라 촬영</a:t>
                      </a: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녹취</a:t>
                      </a:r>
                      <a:r>
                        <a:rPr kumimoji="0" lang="en-US" altLang="ko-KR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화면갭쳐 등에 의한 정보유출 방지</a:t>
                      </a:r>
                      <a:endParaRPr kumimoji="0" lang="en-US" altLang="ko-KR" sz="11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업무용도 외에 사적 사용 금지</a:t>
                      </a:r>
                      <a:endParaRPr kumimoji="0" lang="en-US" altLang="ko-KR" sz="1100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카메라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녹음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위치기반 통제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해제</a:t>
                      </a:r>
                      <a:endParaRPr kumimoji="0" lang="en-US" altLang="ko-KR" sz="1100" b="1" kern="12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스피드게이트와 연동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출퇴근시 자동 통제 및 해제</a:t>
                      </a:r>
                      <a:r>
                        <a:rPr kumimoji="0" lang="en-US" altLang="ko-KR" sz="1100" b="1" kern="120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1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서버 구축 필요</a:t>
                      </a:r>
                      <a:endParaRPr lang="en-US" altLang="ko-KR" sz="1100" b="1" kern="120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에스원 게이트와 연동</a:t>
                      </a:r>
                      <a:endParaRPr lang="en-US" altLang="ko-KR" sz="1100" b="1" kern="120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250</a:t>
                      </a:r>
                      <a:r>
                        <a:rPr lang="ko-KR" altLang="en-US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명 기준 약 </a:t>
                      </a:r>
                      <a:r>
                        <a:rPr lang="en-US" altLang="ko-KR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\4,800</a:t>
                      </a:r>
                      <a:r>
                        <a:rPr lang="ko-KR" altLang="en-US" sz="1100" b="1" u="sng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100" b="1" u="sng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Android,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iOS 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endParaRPr lang="en-US" altLang="ko-KR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아이폰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애플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정책상 카메라만 차단</a:t>
                      </a:r>
                      <a:endParaRPr lang="en-US" altLang="ko-KR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프로그램 설치 필요</a:t>
                      </a:r>
                      <a:endParaRPr lang="en-US" altLang="ko-KR" sz="11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-. 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방문객은 기존 스티커 유지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1674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53985A-F9EC-BA49-4539-BFE3E849A0BE}"/>
              </a:ext>
            </a:extLst>
          </p:cNvPr>
          <p:cNvSpPr txBox="1"/>
          <p:nvPr/>
        </p:nvSpPr>
        <p:spPr>
          <a:xfrm>
            <a:off x="609601" y="6120124"/>
            <a:ext cx="24945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>
                <a:solidFill>
                  <a:schemeClr val="accent1"/>
                </a:solidFill>
              </a:rPr>
              <a:t>* MDM : Mobile Device Management</a:t>
            </a:r>
            <a:endParaRPr lang="ko-KR" altLang="en-US" sz="105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2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3FC3-C5B1-19C6-67B1-5E5B6295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9B99A5-747E-C1F4-E73B-2AA4CFF1E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32934"/>
              </p:ext>
            </p:extLst>
          </p:nvPr>
        </p:nvGraphicFramePr>
        <p:xfrm>
          <a:off x="251519" y="961337"/>
          <a:ext cx="11700337" cy="5303736"/>
        </p:xfrm>
        <a:graphic>
          <a:graphicData uri="http://schemas.openxmlformats.org/drawingml/2006/table">
            <a:tbl>
              <a:tblPr/>
              <a:tblGrid>
                <a:gridCol w="413499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665018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2974109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2262910">
                  <a:extLst>
                    <a:ext uri="{9D8B030D-6E8A-4147-A177-3AD203B41FA5}">
                      <a16:colId xmlns:a16="http://schemas.microsoft.com/office/drawing/2014/main" val="2604349263"/>
                    </a:ext>
                  </a:extLst>
                </a:gridCol>
                <a:gridCol w="2789381">
                  <a:extLst>
                    <a:ext uri="{9D8B030D-6E8A-4147-A177-3AD203B41FA5}">
                      <a16:colId xmlns:a16="http://schemas.microsoft.com/office/drawing/2014/main" val="2866764498"/>
                    </a:ext>
                  </a:extLst>
                </a:gridCol>
                <a:gridCol w="2595420">
                  <a:extLst>
                    <a:ext uri="{9D8B030D-6E8A-4147-A177-3AD203B41FA5}">
                      <a16:colId xmlns:a16="http://schemas.microsoft.com/office/drawing/2014/main" val="404816929"/>
                    </a:ext>
                  </a:extLst>
                </a:gridCol>
              </a:tblGrid>
              <a:tr h="28557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관리설정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2272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보안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암호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승인 메일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문서의 외부 유출 방지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메일 첨부 파일 통제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메일 로그 파일 기록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기존 하이웍스 메일은 임대형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호스팅 방식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으로 개별 메일 설정 불가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특정 도메인으로만 승인 불가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sumsung.com, apple.com)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하이웍스 메일 수발신 로그파일 일주일치만 재공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일주일 이상 로그파일 재공시 영장 필요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그룹웨어 서버 사내 구축시 비용 과다 발생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유지보수 인력 필요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그룹웨어 본사 구축시 법인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비나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동관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 접속 지연 발생 가능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본사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법인간 메일 서버 분리 필요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추가 구축 비용 발생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274601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변경안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단독형 그룹웨어 구축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서버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IDC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센터에 보관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전문적 서버 관리 기관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장점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초기 구축 비용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유지보수 비용 절감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사용료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긴급 상황시 조치 용이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보안 장비로 인해 외부 접근 차단</a:t>
                      </a:r>
                      <a:endParaRPr lang="en-US" altLang="ko-KR" sz="14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메일 아카이빙 기능 추가</a:t>
                      </a:r>
                      <a:endParaRPr lang="en-US" altLang="ko-KR" sz="14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계정 수 및 데이터 보관 용량에 따라 비용 발생</a:t>
                      </a:r>
                      <a:endParaRPr lang="en-US" altLang="ko-KR" sz="14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5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업체별 사전 기능 검토후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분기안 적용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60111407"/>
                  </a:ext>
                </a:extLst>
              </a:tr>
            </a:tbl>
          </a:graphicData>
        </a:graphic>
      </p:graphicFrame>
      <p:sp>
        <p:nvSpPr>
          <p:cNvPr id="15" name="제목 4">
            <a:extLst>
              <a:ext uri="{FF2B5EF4-FFF2-40B4-BE49-F238E27FC236}">
                <a16:creationId xmlns:a16="http://schemas.microsoft.com/office/drawing/2014/main" id="{089D4FC5-C520-C782-D04E-5390B7207857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1-1. </a:t>
            </a:r>
            <a:r>
              <a:rPr lang="ko-KR" altLang="en-US" sz="1400">
                <a:latin typeface="+mn-ea"/>
                <a:ea typeface="+mn-ea"/>
              </a:rPr>
              <a:t>메일</a:t>
            </a:r>
            <a:r>
              <a:rPr lang="en-US" altLang="ko-KR" sz="1400">
                <a:latin typeface="+mn-ea"/>
                <a:ea typeface="+mn-ea"/>
              </a:rPr>
              <a:t> </a:t>
            </a:r>
            <a:r>
              <a:rPr lang="ko-KR" altLang="en-US" sz="1400">
                <a:latin typeface="+mn-ea"/>
                <a:ea typeface="+mn-ea"/>
              </a:rPr>
              <a:t>서버 변경안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521937FE-EEA1-6271-0B3E-7631D708E455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3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05113-36EC-52AA-9C0C-D083D406D810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메일 보안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8436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700B-C058-E3A6-3AB8-8077B455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4">
            <a:extLst>
              <a:ext uri="{FF2B5EF4-FFF2-40B4-BE49-F238E27FC236}">
                <a16:creationId xmlns:a16="http://schemas.microsoft.com/office/drawing/2014/main" id="{B391B1FC-5A3A-5481-9DB3-62B5A9C0BF16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1-2. </a:t>
            </a:r>
            <a:r>
              <a:rPr lang="ko-KR" altLang="en-US" sz="1400">
                <a:latin typeface="+mn-ea"/>
                <a:ea typeface="+mn-ea"/>
              </a:rPr>
              <a:t>그룹웨어 비교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EF70E0CF-8C25-FAA4-047F-082AE801BABB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4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A861D-246C-F9D9-1A80-BB65FC2822C4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메일보안</a:t>
            </a:r>
            <a:endParaRPr lang="en-US" altLang="ko-KR" sz="1600" b="1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9530CA-99A5-A82A-5CA0-2DBB7FC05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471926"/>
              </p:ext>
            </p:extLst>
          </p:nvPr>
        </p:nvGraphicFramePr>
        <p:xfrm>
          <a:off x="251519" y="959208"/>
          <a:ext cx="11506378" cy="5487224"/>
        </p:xfrm>
        <a:graphic>
          <a:graphicData uri="http://schemas.openxmlformats.org/drawingml/2006/table">
            <a:tbl>
              <a:tblPr/>
              <a:tblGrid>
                <a:gridCol w="608413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2289668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2392218">
                  <a:extLst>
                    <a:ext uri="{9D8B030D-6E8A-4147-A177-3AD203B41FA5}">
                      <a16:colId xmlns:a16="http://schemas.microsoft.com/office/drawing/2014/main" val="283628666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36990157"/>
                    </a:ext>
                  </a:extLst>
                </a:gridCol>
                <a:gridCol w="2863279">
                  <a:extLst>
                    <a:ext uri="{9D8B030D-6E8A-4147-A177-3AD203B41FA5}">
                      <a16:colId xmlns:a16="http://schemas.microsoft.com/office/drawing/2014/main" val="3228047741"/>
                    </a:ext>
                  </a:extLst>
                </a:gridCol>
              </a:tblGrid>
              <a:tr h="38006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400499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운영환경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(Server)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메일서버 구조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단독형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공유형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하이웍스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단독형 지원 불가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1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인실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다인실 차이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40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커스터마이징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(Customizing)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그룹웨어 기능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설정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디자인 변경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60128"/>
                  </a:ext>
                </a:extLst>
              </a:tr>
              <a:tr h="40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메일보안 설정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메일 정책 설정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하이웍스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외부메일 전체 설정만 가능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035310"/>
                  </a:ext>
                </a:extLst>
              </a:tr>
              <a:tr h="40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승인메일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필터에 의한 메일 승인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8910"/>
                  </a:ext>
                </a:extLst>
              </a:tr>
              <a:tr h="40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저장용량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메일 저장 용량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제한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사용량에 따라 증설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무제한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666847"/>
                  </a:ext>
                </a:extLst>
              </a:tr>
              <a:tr h="3056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개별설정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계정별 모바일 사용 제한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480735"/>
                  </a:ext>
                </a:extLst>
              </a:tr>
              <a:tr h="2798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메일 보안을 해야 하는 이유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회사 및 고객의 기밀 정보 보호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비즈니스 평판유지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보안 조치를 포함하여 기업의 잠재적인 신뢰도 손상 방지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무단 액세스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데이터 유출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악의적인 활동으로 부터 보호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현재의 공유형 그룹웨어로는 메일을 통한 데이터 유출 차단에 한계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보안 필터 적용 불가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단독형 그룹웨어를 구축하고 메일 수발신 정책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보안필터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을 적용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승인 메일을 통한 외부 발신 메일에 대한 보안을 강화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단독형은 보안 정책을 계정별로 적용이 가능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단독형은 메일 총 용량의 제한이 발생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사용량에 따라 증설이 가능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불필요한 메일 발송 자제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메일은 자료 보관용이 아님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인식하고 모든 데이터는 중앙서버에 보관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사내 모든 문서 보안을 위해 전임직원의 인식 개선 필요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분기별 보안교육 실시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266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66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BF42-9E8D-3C98-5139-439EDB4DE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4">
            <a:extLst>
              <a:ext uri="{FF2B5EF4-FFF2-40B4-BE49-F238E27FC236}">
                <a16:creationId xmlns:a16="http://schemas.microsoft.com/office/drawing/2014/main" id="{D58231C0-F17D-9E04-9DA5-AE962D1A1F03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1-3. </a:t>
            </a:r>
            <a:r>
              <a:rPr lang="ko-KR" altLang="en-US" sz="1400">
                <a:latin typeface="+mn-ea"/>
                <a:ea typeface="+mn-ea"/>
              </a:rPr>
              <a:t>그룹웨어 재구축안</a:t>
            </a:r>
            <a:r>
              <a:rPr lang="en-US" altLang="ko-KR" sz="1400">
                <a:latin typeface="+mn-ea"/>
                <a:ea typeface="+mn-ea"/>
              </a:rPr>
              <a:t>(</a:t>
            </a:r>
            <a:r>
              <a:rPr lang="ko-KR" altLang="en-US" sz="1400">
                <a:latin typeface="+mn-ea"/>
                <a:ea typeface="+mn-ea"/>
              </a:rPr>
              <a:t>단독형 구축시</a:t>
            </a:r>
            <a:r>
              <a:rPr lang="en-US" altLang="ko-KR" sz="1400">
                <a:latin typeface="+mn-ea"/>
                <a:ea typeface="+mn-ea"/>
              </a:rPr>
              <a:t>)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28FFAE2F-BB71-874A-FDB8-DA18C1A0820D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5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3051B-78B7-E9C8-2D1D-D54E9ACD3655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메일보안</a:t>
            </a:r>
            <a:endParaRPr lang="en-US" altLang="ko-KR" sz="1600" b="1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30EBAFA-2337-A9E9-778B-EF6DF815F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399338"/>
              </p:ext>
            </p:extLst>
          </p:nvPr>
        </p:nvGraphicFramePr>
        <p:xfrm>
          <a:off x="251519" y="961334"/>
          <a:ext cx="11414008" cy="4033840"/>
        </p:xfrm>
        <a:graphic>
          <a:graphicData uri="http://schemas.openxmlformats.org/drawingml/2006/table">
            <a:tbl>
              <a:tblPr/>
              <a:tblGrid>
                <a:gridCol w="454893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1011552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3509818">
                  <a:extLst>
                    <a:ext uri="{9D8B030D-6E8A-4147-A177-3AD203B41FA5}">
                      <a16:colId xmlns:a16="http://schemas.microsoft.com/office/drawing/2014/main" val="3869243155"/>
                    </a:ext>
                  </a:extLst>
                </a:gridCol>
                <a:gridCol w="5514109">
                  <a:extLst>
                    <a:ext uri="{9D8B030D-6E8A-4147-A177-3AD203B41FA5}">
                      <a16:colId xmlns:a16="http://schemas.microsoft.com/office/drawing/2014/main" val="4175928941"/>
                    </a:ext>
                  </a:extLst>
                </a:gridCol>
              </a:tblGrid>
              <a:tr h="35023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추진 내용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409290"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용량 제한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용량 제한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 용량 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5Gb)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기존 메일서버 일정기간 유지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신규그룹웨어 오픈 시점부터 기존 하이웍스 메일 수발신 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613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메일백업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기존 메일 백업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하이웍스에서 메일 폴더별 백업 신청</a:t>
                      </a:r>
                      <a:r>
                        <a:rPr lang="en-US" alt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아웃룩으로 받은 편지함 백업</a:t>
                      </a:r>
                      <a:endParaRPr lang="en-US" altLang="ko-KR" sz="11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아웃룩 개인별 메일 폴더 백업 불가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매뉴얼 배포 및 교육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77652"/>
                  </a:ext>
                </a:extLst>
              </a:tr>
              <a:tr h="4092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메일이전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개인별 메일 이관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재공 용량 범위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신규 그룹웨어에서 받는 메일 연동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매뉴얼 배포 및 교육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438110"/>
                  </a:ext>
                </a:extLst>
              </a:tr>
              <a:tr h="4092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승인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 메일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개별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지정 필터별 승인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 지정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전체 필터 적용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sumsung.com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으로 보내는 모든 메일 승인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팀별 승인 필터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프로세스 적용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승인자 설정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441440"/>
                  </a:ext>
                </a:extLst>
              </a:tr>
              <a:tr h="4092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보관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수발신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보관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수발신 모든 메일 암호화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압축 보관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(5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퇴사자 메일 자동 보관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메일 보관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동의서 서명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761041"/>
                  </a:ext>
                </a:extLst>
              </a:tr>
              <a:tr h="4092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전자결제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결제문서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전자결제 양식 작성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결제 문서 양식 작성</a:t>
                      </a:r>
                      <a:endParaRPr lang="en-US" altLang="ko-KR" sz="11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기존 전자결제 문서 백업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이관 불가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사용 플렛폼이 다름</a:t>
                      </a: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687852"/>
                  </a:ext>
                </a:extLst>
              </a:tr>
              <a:tr h="4092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 연동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결제연동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전표 및 근태 정보 연동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세콤 근태 연동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전표 전자결제 연동 추가 개발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122910"/>
                  </a:ext>
                </a:extLst>
              </a:tr>
              <a:tr h="613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보안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보안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계정별 모바일 사용 유무 설정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ctr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지정된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에서만 그룹웨어 사용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 유출 방지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계정의 접속 로그 기록 보관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특정 계정 보안설정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모바일 기기 접속 불가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허가된 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에서만 그룹웨어 접속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717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93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E53E-E8E4-6C86-CC16-26245099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6B9C76-14F7-9884-5E65-C51F5C2ED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983097"/>
              </p:ext>
            </p:extLst>
          </p:nvPr>
        </p:nvGraphicFramePr>
        <p:xfrm>
          <a:off x="251519" y="933623"/>
          <a:ext cx="11700338" cy="5558420"/>
        </p:xfrm>
        <a:graphic>
          <a:graphicData uri="http://schemas.openxmlformats.org/drawingml/2006/table">
            <a:tbl>
              <a:tblPr/>
              <a:tblGrid>
                <a:gridCol w="413499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1739515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1739515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1739515">
                  <a:extLst>
                    <a:ext uri="{9D8B030D-6E8A-4147-A177-3AD203B41FA5}">
                      <a16:colId xmlns:a16="http://schemas.microsoft.com/office/drawing/2014/main" val="1444878897"/>
                    </a:ext>
                  </a:extLst>
                </a:gridCol>
                <a:gridCol w="5116945">
                  <a:extLst>
                    <a:ext uri="{9D8B030D-6E8A-4147-A177-3AD203B41FA5}">
                      <a16:colId xmlns:a16="http://schemas.microsoft.com/office/drawing/2014/main" val="2604349263"/>
                    </a:ext>
                  </a:extLst>
                </a:gridCol>
                <a:gridCol w="951349">
                  <a:extLst>
                    <a:ext uri="{9D8B030D-6E8A-4147-A177-3AD203B41FA5}">
                      <a16:colId xmlns:a16="http://schemas.microsoft.com/office/drawing/2014/main" val="3869243155"/>
                    </a:ext>
                  </a:extLst>
                </a:gridCol>
              </a:tblGrid>
              <a:tr h="22464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문서관리 프로세스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2246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메일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문서중앙화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17218"/>
                  </a:ext>
                </a:extLst>
              </a:tr>
              <a:tr h="510913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PC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에서 생성되는 </a:t>
                      </a:r>
                      <a:r>
                        <a:rPr lang="ko-KR" alt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모든 문서는 중앙 서버에 자동 보관</a:t>
                      </a:r>
                      <a:endParaRPr lang="en-US" altLang="ko-KR" sz="11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첨부파일 오픈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저장시 자동으로 서버에 저장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중앙 서버에 있는 문서 반출시 승인 요청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승인된 문서는 서버의 반출함으로 이동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문서 반출 요청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승인에 대한 모든 이력 저장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승인 완료된 문서만 반출함으로 이동되어 반출 가능</a:t>
                      </a:r>
                      <a:endParaRPr lang="en-US" altLang="ko-KR" sz="1400" b="1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발송시 보안 필터가 적용되는 메일은 승인자의 승인을 거쳐 발송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수발신 메일은 메일보관 서버에 암호화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압축하여 저장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(5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</a:tbl>
          </a:graphicData>
        </a:graphic>
      </p:graphicFrame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63A11313-8C74-6728-ADA9-BE6F83F2097A}"/>
              </a:ext>
            </a:extLst>
          </p:cNvPr>
          <p:cNvSpPr/>
          <p:nvPr/>
        </p:nvSpPr>
        <p:spPr>
          <a:xfrm>
            <a:off x="4604075" y="1917211"/>
            <a:ext cx="817670" cy="80425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80795D90-F183-069A-748A-20285952C828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1-4. </a:t>
            </a:r>
            <a:r>
              <a:rPr lang="ko-KR" altLang="en-US" sz="1400">
                <a:latin typeface="+mn-ea"/>
                <a:ea typeface="+mn-ea"/>
              </a:rPr>
              <a:t>문서관리 흐름도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B0002418-DB8F-3EDE-9301-3A8F7F7542D6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6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167CC-7E9F-1128-C225-ECB9D69EB986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메일보안</a:t>
            </a:r>
            <a:endParaRPr lang="en-US" altLang="ko-KR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968208-1FAE-1074-523C-82BF1BBF4D06}"/>
              </a:ext>
            </a:extLst>
          </p:cNvPr>
          <p:cNvSpPr/>
          <p:nvPr/>
        </p:nvSpPr>
        <p:spPr>
          <a:xfrm>
            <a:off x="886519" y="1660149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메일수신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266263-BFE7-9A2E-D3AA-086841F76A24}"/>
              </a:ext>
            </a:extLst>
          </p:cNvPr>
          <p:cNvSpPr/>
          <p:nvPr/>
        </p:nvSpPr>
        <p:spPr>
          <a:xfrm>
            <a:off x="886519" y="2176468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첨부파일 다운로드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AC925B-5605-0CAB-C2CB-A572DA732624}"/>
              </a:ext>
            </a:extLst>
          </p:cNvPr>
          <p:cNvSpPr/>
          <p:nvPr/>
        </p:nvSpPr>
        <p:spPr>
          <a:xfrm>
            <a:off x="2651228" y="2176468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문서 </a:t>
            </a:r>
            <a:r>
              <a:rPr lang="en-US" altLang="ko-KR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OPEN,</a:t>
            </a:r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저장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B7A15C-9676-0A09-00CD-8DDD21E83248}"/>
              </a:ext>
            </a:extLst>
          </p:cNvPr>
          <p:cNvSpPr/>
          <p:nvPr/>
        </p:nvSpPr>
        <p:spPr>
          <a:xfrm>
            <a:off x="4604075" y="2291043"/>
            <a:ext cx="817670" cy="21878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중앙 서버</a:t>
            </a:r>
            <a:endParaRPr lang="ko-KR" altLang="en-US" sz="1000" b="1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77EEB27-1282-8D94-5E1F-BD4FAFC0D462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3870600" y="2319339"/>
            <a:ext cx="733475" cy="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4F5AC20-C468-A93A-BF53-6C41D7A3A46B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105891" y="2319338"/>
            <a:ext cx="545337" cy="1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3F5B37A-2BDA-C241-9717-C6C0EB8F13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496205" y="1948181"/>
            <a:ext cx="0" cy="22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2C6AF3-E4D3-1856-5F11-0D2F77A210CD}"/>
              </a:ext>
            </a:extLst>
          </p:cNvPr>
          <p:cNvSpPr/>
          <p:nvPr/>
        </p:nvSpPr>
        <p:spPr>
          <a:xfrm>
            <a:off x="2651228" y="3071245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문서 반출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619C5-8B8A-B40A-6B11-088F9C2C833F}"/>
              </a:ext>
            </a:extLst>
          </p:cNvPr>
          <p:cNvSpPr txBox="1"/>
          <p:nvPr/>
        </p:nvSpPr>
        <p:spPr>
          <a:xfrm>
            <a:off x="3954272" y="2100235"/>
            <a:ext cx="618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굴림체" panose="020B0609000101010101" pitchFamily="49" charset="-127"/>
                <a:ea typeface="굴림체" panose="020B0609000101010101" pitchFamily="49" charset="-127"/>
              </a:rPr>
              <a:t>업로드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84F2A7-112C-F793-1A36-EDC4C13B14BE}"/>
              </a:ext>
            </a:extLst>
          </p:cNvPr>
          <p:cNvSpPr/>
          <p:nvPr/>
        </p:nvSpPr>
        <p:spPr>
          <a:xfrm>
            <a:off x="4424607" y="3730290"/>
            <a:ext cx="1219372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75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  <a:latin typeface="+mn-ea"/>
              </a:rPr>
              <a:t>반출함</a:t>
            </a:r>
            <a:endParaRPr lang="ko-KR" altLang="en-US" sz="16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7B597F2-32C2-8EA8-E655-9A4E4F111661}"/>
              </a:ext>
            </a:extLst>
          </p:cNvPr>
          <p:cNvGrpSpPr/>
          <p:nvPr/>
        </p:nvGrpSpPr>
        <p:grpSpPr>
          <a:xfrm>
            <a:off x="4731074" y="2977871"/>
            <a:ext cx="572441" cy="469103"/>
            <a:chOff x="4761554" y="2977871"/>
            <a:chExt cx="572441" cy="46910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6C8E9FC-63B8-31B7-7514-AD2F84960CE5}"/>
                </a:ext>
              </a:extLst>
            </p:cNvPr>
            <p:cNvSpPr txBox="1"/>
            <p:nvPr/>
          </p:nvSpPr>
          <p:spPr>
            <a:xfrm>
              <a:off x="4764608" y="3079758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굴림체" panose="020B0609000101010101" pitchFamily="49" charset="-127"/>
                  <a:ea typeface="굴림체" panose="020B0609000101010101" pitchFamily="49" charset="-127"/>
                </a:rPr>
                <a:t>승인자</a:t>
              </a:r>
            </a:p>
          </p:txBody>
        </p:sp>
        <p:sp>
          <p:nvSpPr>
            <p:cNvPr id="47" name="다이아몬드 46">
              <a:extLst>
                <a:ext uri="{FF2B5EF4-FFF2-40B4-BE49-F238E27FC236}">
                  <a16:creationId xmlns:a16="http://schemas.microsoft.com/office/drawing/2014/main" id="{84CB2C1D-D762-F659-C79D-D5B8A67CAAD0}"/>
                </a:ext>
              </a:extLst>
            </p:cNvPr>
            <p:cNvSpPr/>
            <p:nvPr/>
          </p:nvSpPr>
          <p:spPr>
            <a:xfrm>
              <a:off x="4761554" y="2977871"/>
              <a:ext cx="567828" cy="469103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2ACB36A-0B83-7D4A-D042-0021354732F7}"/>
              </a:ext>
            </a:extLst>
          </p:cNvPr>
          <p:cNvCxnSpPr>
            <a:cxnSpLocks/>
            <a:stCxn id="23" idx="3"/>
            <a:endCxn id="47" idx="1"/>
          </p:cNvCxnSpPr>
          <p:nvPr/>
        </p:nvCxnSpPr>
        <p:spPr>
          <a:xfrm flipV="1">
            <a:off x="3870600" y="3212423"/>
            <a:ext cx="860474" cy="2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C24CC87-9E89-5B86-9855-6A61DBA909AD}"/>
              </a:ext>
            </a:extLst>
          </p:cNvPr>
          <p:cNvSpPr txBox="1"/>
          <p:nvPr/>
        </p:nvSpPr>
        <p:spPr>
          <a:xfrm>
            <a:off x="4137976" y="28435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굴림체" panose="020B0609000101010101" pitchFamily="49" charset="-127"/>
                <a:ea typeface="굴림체" panose="020B0609000101010101" pitchFamily="49" charset="-127"/>
              </a:rPr>
              <a:t>승인</a:t>
            </a:r>
            <a:endParaRPr lang="en-US" altLang="ko-KR" sz="100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1000">
                <a:latin typeface="굴림체" panose="020B0609000101010101" pitchFamily="49" charset="-127"/>
                <a:ea typeface="굴림체" panose="020B0609000101010101" pitchFamily="49" charset="-127"/>
              </a:rPr>
              <a:t>요청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6313109-0667-9F2F-7EC8-32BC6E1E3533}"/>
              </a:ext>
            </a:extLst>
          </p:cNvPr>
          <p:cNvCxnSpPr>
            <a:cxnSpLocks/>
            <a:stCxn id="47" idx="0"/>
            <a:endCxn id="8" idx="3"/>
          </p:cNvCxnSpPr>
          <p:nvPr/>
        </p:nvCxnSpPr>
        <p:spPr>
          <a:xfrm flipH="1" flipV="1">
            <a:off x="5012910" y="2721466"/>
            <a:ext cx="2078" cy="256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92604A4-4FC0-DCA0-2BC8-FAACEFA4AAA7}"/>
              </a:ext>
            </a:extLst>
          </p:cNvPr>
          <p:cNvSpPr txBox="1"/>
          <p:nvPr/>
        </p:nvSpPr>
        <p:spPr>
          <a:xfrm>
            <a:off x="4992948" y="274370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latin typeface="굴림체" panose="020B0609000101010101" pitchFamily="49" charset="-127"/>
                <a:ea typeface="굴림체" panose="020B0609000101010101" pitchFamily="49" charset="-127"/>
              </a:rPr>
              <a:t>승인</a:t>
            </a: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344F931C-F9D4-5945-A019-60DB030D6D76}"/>
              </a:ext>
            </a:extLst>
          </p:cNvPr>
          <p:cNvCxnSpPr>
            <a:cxnSpLocks/>
            <a:stCxn id="8" idx="4"/>
            <a:endCxn id="32" idx="3"/>
          </p:cNvCxnSpPr>
          <p:nvPr/>
        </p:nvCxnSpPr>
        <p:spPr>
          <a:xfrm>
            <a:off x="5421745" y="2319339"/>
            <a:ext cx="222234" cy="1554967"/>
          </a:xfrm>
          <a:prstGeom prst="bentConnector3">
            <a:avLst>
              <a:gd name="adj1" fmla="val 1654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25E3631-D633-17DB-0BA0-55E2B43C12D4}"/>
              </a:ext>
            </a:extLst>
          </p:cNvPr>
          <p:cNvSpPr/>
          <p:nvPr/>
        </p:nvSpPr>
        <p:spPr>
          <a:xfrm>
            <a:off x="893057" y="3730290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파일 첨부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74ABB9A4-1D38-5328-104B-63BAF4F2F91C}"/>
              </a:ext>
            </a:extLst>
          </p:cNvPr>
          <p:cNvGrpSpPr/>
          <p:nvPr/>
        </p:nvGrpSpPr>
        <p:grpSpPr>
          <a:xfrm>
            <a:off x="1686544" y="4856526"/>
            <a:ext cx="572441" cy="469103"/>
            <a:chOff x="4761554" y="2977871"/>
            <a:chExt cx="572441" cy="46910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27BAF66-DC0D-E637-A3EC-A7BF730CC051}"/>
                </a:ext>
              </a:extLst>
            </p:cNvPr>
            <p:cNvSpPr txBox="1"/>
            <p:nvPr/>
          </p:nvSpPr>
          <p:spPr>
            <a:xfrm>
              <a:off x="4764608" y="3079758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latin typeface="굴림체" panose="020B0609000101010101" pitchFamily="49" charset="-127"/>
                  <a:ea typeface="굴림체" panose="020B0609000101010101" pitchFamily="49" charset="-127"/>
                </a:rPr>
                <a:t>승인자</a:t>
              </a:r>
            </a:p>
          </p:txBody>
        </p:sp>
        <p:sp>
          <p:nvSpPr>
            <p:cNvPr id="67" name="다이아몬드 66">
              <a:extLst>
                <a:ext uri="{FF2B5EF4-FFF2-40B4-BE49-F238E27FC236}">
                  <a16:creationId xmlns:a16="http://schemas.microsoft.com/office/drawing/2014/main" id="{8741A6D1-45C8-4C2A-6E32-4D78B3AC535E}"/>
                </a:ext>
              </a:extLst>
            </p:cNvPr>
            <p:cNvSpPr/>
            <p:nvPr/>
          </p:nvSpPr>
          <p:spPr>
            <a:xfrm>
              <a:off x="4761554" y="2977871"/>
              <a:ext cx="567828" cy="469103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</a:endParaRPr>
            </a:p>
          </p:txBody>
        </p:sp>
      </p:grpSp>
      <p:sp>
        <p:nvSpPr>
          <p:cNvPr id="72" name="순서도: 수행의 시작/종료 71">
            <a:extLst>
              <a:ext uri="{FF2B5EF4-FFF2-40B4-BE49-F238E27FC236}">
                <a16:creationId xmlns:a16="http://schemas.microsoft.com/office/drawing/2014/main" id="{B9DCFA1D-4038-5EA3-0E19-3DD30753792B}"/>
              </a:ext>
            </a:extLst>
          </p:cNvPr>
          <p:cNvSpPr/>
          <p:nvPr/>
        </p:nvSpPr>
        <p:spPr>
          <a:xfrm>
            <a:off x="1206119" y="4347256"/>
            <a:ext cx="569386" cy="288032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필터</a:t>
            </a:r>
            <a:endParaRPr lang="ko-KR" altLang="en-US" sz="1000" b="1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F3C5285-5EC1-9D65-2732-1DEA228BD6B2}"/>
              </a:ext>
            </a:extLst>
          </p:cNvPr>
          <p:cNvSpPr/>
          <p:nvPr/>
        </p:nvSpPr>
        <p:spPr>
          <a:xfrm>
            <a:off x="883531" y="5630548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메일 발송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EADE947F-7DCF-E7BD-15C0-02703A15196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490812" y="4018322"/>
            <a:ext cx="0" cy="328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1145293-2988-2482-482D-8915BBFF6F9F}"/>
              </a:ext>
            </a:extLst>
          </p:cNvPr>
          <p:cNvCxnSpPr>
            <a:cxnSpLocks/>
            <a:endCxn id="63" idx="3"/>
          </p:cNvCxnSpPr>
          <p:nvPr/>
        </p:nvCxnSpPr>
        <p:spPr>
          <a:xfrm flipH="1">
            <a:off x="2112429" y="3874306"/>
            <a:ext cx="2312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0CA773ED-9B95-DAD5-BA57-B9E3A95B8993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>
            <a:off x="1490812" y="4635288"/>
            <a:ext cx="2405" cy="995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3D025521-6E92-D6B1-4401-1FF397A9B878}"/>
              </a:ext>
            </a:extLst>
          </p:cNvPr>
          <p:cNvCxnSpPr>
            <a:cxnSpLocks/>
            <a:stCxn id="72" idx="3"/>
            <a:endCxn id="67" idx="0"/>
          </p:cNvCxnSpPr>
          <p:nvPr/>
        </p:nvCxnSpPr>
        <p:spPr>
          <a:xfrm>
            <a:off x="1775505" y="4491272"/>
            <a:ext cx="194953" cy="3652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527D24C-FD61-AC2D-E8D2-1E7933343E50}"/>
              </a:ext>
            </a:extLst>
          </p:cNvPr>
          <p:cNvCxnSpPr>
            <a:cxnSpLocks/>
          </p:cNvCxnSpPr>
          <p:nvPr/>
        </p:nvCxnSpPr>
        <p:spPr>
          <a:xfrm>
            <a:off x="1970458" y="5325629"/>
            <a:ext cx="0" cy="304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923C41B-FB4B-DF83-4F3F-DE4D2DBC7F63}"/>
              </a:ext>
            </a:extLst>
          </p:cNvPr>
          <p:cNvSpPr txBox="1"/>
          <p:nvPr/>
        </p:nvSpPr>
        <p:spPr>
          <a:xfrm>
            <a:off x="1937413" y="52540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latin typeface="굴림체" panose="020B0609000101010101" pitchFamily="49" charset="-127"/>
                <a:ea typeface="굴림체" panose="020B0609000101010101" pitchFamily="49" charset="-127"/>
              </a:rPr>
              <a:t>승인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B4C3D3-9291-3A5C-72FF-5564FE010613}"/>
              </a:ext>
            </a:extLst>
          </p:cNvPr>
          <p:cNvSpPr txBox="1"/>
          <p:nvPr/>
        </p:nvSpPr>
        <p:spPr>
          <a:xfrm>
            <a:off x="1937413" y="4427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굴림체" panose="020B0609000101010101" pitchFamily="49" charset="-127"/>
                <a:ea typeface="굴림체" panose="020B0609000101010101" pitchFamily="49" charset="-127"/>
              </a:rPr>
              <a:t>승인</a:t>
            </a:r>
            <a:endParaRPr lang="en-US" altLang="ko-KR" sz="100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1000">
                <a:latin typeface="굴림체" panose="020B0609000101010101" pitchFamily="49" charset="-127"/>
                <a:ea typeface="굴림체" panose="020B0609000101010101" pitchFamily="49" charset="-127"/>
              </a:rPr>
              <a:t>요청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A194DBC-028F-D0B2-0235-4A4F2AA5833F}"/>
              </a:ext>
            </a:extLst>
          </p:cNvPr>
          <p:cNvSpPr/>
          <p:nvPr/>
        </p:nvSpPr>
        <p:spPr>
          <a:xfrm>
            <a:off x="2651228" y="1660149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문서 작성</a:t>
            </a:r>
            <a:r>
              <a:rPr lang="en-US" altLang="ko-KR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,</a:t>
            </a:r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저장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41993CC5-6CF7-19E9-725E-A8E6930A26A5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870600" y="1804165"/>
            <a:ext cx="1142310" cy="1130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E4EFF25-E3DB-C5F1-6BD1-6A4620FADDEF}"/>
              </a:ext>
            </a:extLst>
          </p:cNvPr>
          <p:cNvSpPr/>
          <p:nvPr/>
        </p:nvSpPr>
        <p:spPr>
          <a:xfrm>
            <a:off x="893057" y="3093064"/>
            <a:ext cx="1219372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메일작성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65E13268-0A8D-E368-BB9C-7E3A171D041C}"/>
              </a:ext>
            </a:extLst>
          </p:cNvPr>
          <p:cNvCxnSpPr>
            <a:cxnSpLocks/>
            <a:stCxn id="108" idx="2"/>
            <a:endCxn id="63" idx="0"/>
          </p:cNvCxnSpPr>
          <p:nvPr/>
        </p:nvCxnSpPr>
        <p:spPr>
          <a:xfrm>
            <a:off x="1502743" y="3381096"/>
            <a:ext cx="0" cy="349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61F98320-DD74-6FEC-3FE0-D6A11A32D330}"/>
              </a:ext>
            </a:extLst>
          </p:cNvPr>
          <p:cNvCxnSpPr>
            <a:cxnSpLocks/>
            <a:stCxn id="108" idx="1"/>
            <a:endCxn id="72" idx="1"/>
          </p:cNvCxnSpPr>
          <p:nvPr/>
        </p:nvCxnSpPr>
        <p:spPr>
          <a:xfrm rot="10800000" flipH="1" flipV="1">
            <a:off x="893057" y="3237080"/>
            <a:ext cx="313062" cy="1254192"/>
          </a:xfrm>
          <a:prstGeom prst="bentConnector3">
            <a:avLst>
              <a:gd name="adj1" fmla="val -317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F6F1B97-F836-2AC1-B049-E47FFA930F06}"/>
              </a:ext>
            </a:extLst>
          </p:cNvPr>
          <p:cNvSpPr/>
          <p:nvPr/>
        </p:nvSpPr>
        <p:spPr>
          <a:xfrm>
            <a:off x="2651228" y="5023299"/>
            <a:ext cx="1219372" cy="400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관리자 승인된</a:t>
            </a:r>
            <a:endParaRPr lang="en-US" altLang="ko-KR" sz="100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이동식 단말기</a:t>
            </a:r>
            <a:r>
              <a:rPr lang="en-US" altLang="ko-KR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(USB)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20977CD-63BD-23D9-3118-26B7F38D084B}"/>
              </a:ext>
            </a:extLst>
          </p:cNvPr>
          <p:cNvSpPr/>
          <p:nvPr/>
        </p:nvSpPr>
        <p:spPr>
          <a:xfrm>
            <a:off x="2651228" y="5483878"/>
            <a:ext cx="1219372" cy="400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사내 메신저외에는 첨부파일 전송 차단</a:t>
            </a:r>
            <a:endParaRPr lang="ko-KR" altLang="en-US" sz="1000" dirty="0">
              <a:solidFill>
                <a:schemeClr val="tx1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122" name="연결선: 꺾임 121">
            <a:extLst>
              <a:ext uri="{FF2B5EF4-FFF2-40B4-BE49-F238E27FC236}">
                <a16:creationId xmlns:a16="http://schemas.microsoft.com/office/drawing/2014/main" id="{775F859A-033F-7C72-ECA0-74A341223541}"/>
              </a:ext>
            </a:extLst>
          </p:cNvPr>
          <p:cNvCxnSpPr>
            <a:cxnSpLocks/>
            <a:stCxn id="32" idx="2"/>
            <a:endCxn id="119" idx="3"/>
          </p:cNvCxnSpPr>
          <p:nvPr/>
        </p:nvCxnSpPr>
        <p:spPr>
          <a:xfrm rot="5400000">
            <a:off x="3849932" y="4038991"/>
            <a:ext cx="1205031" cy="11636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3ACBF2AA-3256-0318-F29D-AE5590AF96E7}"/>
              </a:ext>
            </a:extLst>
          </p:cNvPr>
          <p:cNvCxnSpPr>
            <a:cxnSpLocks/>
            <a:stCxn id="32" idx="2"/>
            <a:endCxn id="120" idx="3"/>
          </p:cNvCxnSpPr>
          <p:nvPr/>
        </p:nvCxnSpPr>
        <p:spPr>
          <a:xfrm rot="5400000">
            <a:off x="3619642" y="4269281"/>
            <a:ext cx="1665610" cy="11636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D1FF8340-9450-DF14-70BF-1B19B18D3830}"/>
              </a:ext>
            </a:extLst>
          </p:cNvPr>
          <p:cNvSpPr txBox="1"/>
          <p:nvPr/>
        </p:nvSpPr>
        <p:spPr>
          <a:xfrm>
            <a:off x="4143310" y="1592492"/>
            <a:ext cx="618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굴림체" panose="020B0609000101010101" pitchFamily="49" charset="-127"/>
                <a:ea typeface="굴림체" panose="020B0609000101010101" pitchFamily="49" charset="-127"/>
              </a:rPr>
              <a:t>업로드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536162-4193-FA9B-53DE-5777DF8540AA}"/>
              </a:ext>
            </a:extLst>
          </p:cNvPr>
          <p:cNvSpPr txBox="1"/>
          <p:nvPr/>
        </p:nvSpPr>
        <p:spPr>
          <a:xfrm>
            <a:off x="1728058" y="4278672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Y</a:t>
            </a:r>
            <a:endParaRPr lang="ko-KR" altLang="en-US" sz="1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69C1BB-A62D-C2E1-D604-C0E280E38C94}"/>
              </a:ext>
            </a:extLst>
          </p:cNvPr>
          <p:cNvSpPr txBox="1"/>
          <p:nvPr/>
        </p:nvSpPr>
        <p:spPr>
          <a:xfrm>
            <a:off x="1226179" y="4612627"/>
            <a:ext cx="282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N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31000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324D-B329-2B9E-5C5A-4F0CF054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4">
            <a:extLst>
              <a:ext uri="{FF2B5EF4-FFF2-40B4-BE49-F238E27FC236}">
                <a16:creationId xmlns:a16="http://schemas.microsoft.com/office/drawing/2014/main" id="{087CCDE5-32C4-0A9E-2EF3-E9A29FEADA95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1-5. </a:t>
            </a:r>
            <a:r>
              <a:rPr lang="ko-KR" altLang="en-US" sz="1400">
                <a:latin typeface="+mn-ea"/>
                <a:ea typeface="+mn-ea"/>
              </a:rPr>
              <a:t>그룹웨어 재구축 일정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F1916C72-8C4C-A8B9-E20B-9DE71710F546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7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FD7780-EE3D-7418-76EF-484A9E8F0382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메일보안</a:t>
            </a:r>
            <a:endParaRPr lang="en-US" altLang="ko-KR" sz="1600" b="1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" name="Group 146">
            <a:extLst>
              <a:ext uri="{FF2B5EF4-FFF2-40B4-BE49-F238E27FC236}">
                <a16:creationId xmlns:a16="http://schemas.microsoft.com/office/drawing/2014/main" id="{BDE7F1AF-C1D5-5533-5104-8F8EF55DD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698556"/>
              </p:ext>
            </p:extLst>
          </p:nvPr>
        </p:nvGraphicFramePr>
        <p:xfrm>
          <a:off x="214745" y="953088"/>
          <a:ext cx="11690930" cy="5464055"/>
        </p:xfrm>
        <a:graphic>
          <a:graphicData uri="http://schemas.openxmlformats.org/drawingml/2006/table">
            <a:tbl>
              <a:tblPr/>
              <a:tblGrid>
                <a:gridCol w="1037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3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53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5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4983">
                  <a:extLst>
                    <a:ext uri="{9D8B030D-6E8A-4147-A177-3AD203B41FA5}">
                      <a16:colId xmlns:a16="http://schemas.microsoft.com/office/drawing/2014/main" val="2322429216"/>
                    </a:ext>
                  </a:extLst>
                </a:gridCol>
              </a:tblGrid>
              <a:tr h="33863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tc gridSpan="5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7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alpha val="98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alpha val="98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alpha val="98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alpha val="98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alpha val="98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alpha val="98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52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78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그룹웨어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재구축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2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재구축 안 보고서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관련 매뉴얼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교육보고서 및 계획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교육일정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이관 진행 보고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 연동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ERP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연동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메일 승인 필터 적용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  <a:cs typeface=""/>
                        </a:defRPr>
                      </a:lvl9pPr>
                    </a:lstStyle>
                    <a:p>
                      <a:endParaRPr/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-.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기존 메일서버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CLOSE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-.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신규 메일서버 오픈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-.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메일 백업 및 이관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54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마일스톤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6804" marB="46804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35917"/>
                  </a:ext>
                </a:extLst>
              </a:tr>
            </a:tbl>
          </a:graphicData>
        </a:graphic>
      </p:graphicFrame>
      <p:sp>
        <p:nvSpPr>
          <p:cNvPr id="7" name="AutoShape 129">
            <a:extLst>
              <a:ext uri="{FF2B5EF4-FFF2-40B4-BE49-F238E27FC236}">
                <a16:creationId xmlns:a16="http://schemas.microsoft.com/office/drawing/2014/main" id="{07EABF95-C507-5BF0-B8CA-104A6B592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855" y="1625601"/>
            <a:ext cx="2267405" cy="4895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>
                <a:solidFill>
                  <a:sysClr val="windowText" lastClr="000000"/>
                </a:solidFill>
                <a:latin typeface="+mn-ea"/>
              </a:rPr>
              <a:t>재구축 범위 분석 </a:t>
            </a:r>
            <a:r>
              <a:rPr kumimoji="0" lang="ko-KR" altLang="en-US" sz="1200" b="1" kern="0" dirty="0">
                <a:solidFill>
                  <a:sysClr val="windowText" lastClr="000000"/>
                </a:solidFill>
                <a:latin typeface="+mn-ea"/>
              </a:rPr>
              <a:t>및 </a:t>
            </a:r>
            <a:endParaRPr kumimoji="0" lang="en-US" altLang="ko-KR" sz="1200" b="1" kern="0" dirty="0">
              <a:solidFill>
                <a:sysClr val="windowText" lastClr="000000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solidFill>
                  <a:sysClr val="windowText" lastClr="000000"/>
                </a:solidFill>
                <a:latin typeface="+mn-ea"/>
              </a:rPr>
              <a:t>보고</a:t>
            </a:r>
            <a:r>
              <a:rPr lang="en-US" altLang="ko-KR" sz="1200" b="1" ker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sz="1200" b="1" kern="0">
                <a:solidFill>
                  <a:sysClr val="windowText" lastClr="000000"/>
                </a:solidFill>
                <a:latin typeface="+mn-ea"/>
              </a:rPr>
              <a:t>전사공유</a:t>
            </a:r>
            <a:endParaRPr kumimoji="0" lang="ko-KR" altLang="en-US" sz="12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" name="AutoShape 129">
            <a:extLst>
              <a:ext uri="{FF2B5EF4-FFF2-40B4-BE49-F238E27FC236}">
                <a16:creationId xmlns:a16="http://schemas.microsoft.com/office/drawing/2014/main" id="{90422B3E-F5FD-92E5-444C-85A1FE2B6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1633" y="1625601"/>
            <a:ext cx="2245928" cy="4895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solidFill>
                  <a:sysClr val="windowText" lastClr="000000"/>
                </a:solidFill>
                <a:latin typeface="+mn-ea"/>
              </a:rPr>
              <a:t>매뉴얼 작성 및 공유</a:t>
            </a:r>
            <a:r>
              <a:rPr lang="en-US" altLang="ko-KR" sz="1200" b="1" ker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sz="1200" b="1" kern="0">
                <a:solidFill>
                  <a:sysClr val="windowText" lastClr="000000"/>
                </a:solidFill>
                <a:latin typeface="+mn-ea"/>
              </a:rPr>
              <a:t>교육</a:t>
            </a:r>
            <a:endParaRPr kumimoji="0" lang="ko-KR" altLang="en-US" sz="12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" name="AutoShape 129">
            <a:extLst>
              <a:ext uri="{FF2B5EF4-FFF2-40B4-BE49-F238E27FC236}">
                <a16:creationId xmlns:a16="http://schemas.microsoft.com/office/drawing/2014/main" id="{9586681A-884A-E6E1-6760-3B625D1FA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934" y="1625601"/>
            <a:ext cx="3948101" cy="4895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>
                <a:solidFill>
                  <a:sysClr val="windowText" lastClr="000000"/>
                </a:solidFill>
                <a:latin typeface="+mn-ea"/>
              </a:rPr>
              <a:t>데이터 이관 및 시험가동</a:t>
            </a:r>
            <a:endParaRPr kumimoji="0" lang="ko-KR" altLang="en-US" sz="12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AutoShape 129">
            <a:extLst>
              <a:ext uri="{FF2B5EF4-FFF2-40B4-BE49-F238E27FC236}">
                <a16:creationId xmlns:a16="http://schemas.microsoft.com/office/drawing/2014/main" id="{E00C9A81-4911-5CDC-6060-13F5909E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873" y="1625601"/>
            <a:ext cx="1754908" cy="4895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>
                <a:solidFill>
                  <a:sysClr val="windowText" lastClr="000000"/>
                </a:solidFill>
                <a:latin typeface="+mn-ea"/>
              </a:rPr>
              <a:t>본가동</a:t>
            </a:r>
            <a:endParaRPr kumimoji="0" lang="ko-KR" altLang="en-US" sz="12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AutoShape 17">
            <a:extLst>
              <a:ext uri="{FF2B5EF4-FFF2-40B4-BE49-F238E27FC236}">
                <a16:creationId xmlns:a16="http://schemas.microsoft.com/office/drawing/2014/main" id="{E0318DC5-6298-8A84-73F4-827C323F2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855" y="2307150"/>
            <a:ext cx="2249563" cy="546883"/>
          </a:xfrm>
          <a:prstGeom prst="rect">
            <a:avLst/>
          </a:prstGeom>
          <a:noFill/>
          <a:ln w="3175">
            <a:solidFill>
              <a:srgbClr val="2696E2"/>
            </a:solidFill>
            <a:miter lim="800000"/>
            <a:headEnd/>
            <a:tailEnd/>
          </a:ln>
        </p:spPr>
        <p:txBody>
          <a:bodyPr lIns="99569" tIns="49785" rIns="99569" bIns="49785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그룹웨어 구성 범위 및 </a:t>
            </a:r>
            <a:endParaRPr kumimoji="0" lang="en-US" altLang="ko-KR" sz="1200">
              <a:solidFill>
                <a:srgbClr val="FF0000"/>
              </a:solidFill>
              <a:latin typeface="+mn-ea"/>
              <a:ea typeface="+mn-ea"/>
            </a:endParaRPr>
          </a:p>
          <a:p>
            <a:pPr algn="ctr" latinLnBrk="0"/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개선방향 </a:t>
            </a:r>
            <a:r>
              <a:rPr kumimoji="0"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확정</a:t>
            </a:r>
          </a:p>
        </p:txBody>
      </p:sp>
      <p:sp>
        <p:nvSpPr>
          <p:cNvPr id="12" name="AutoShape 17">
            <a:extLst>
              <a:ext uri="{FF2B5EF4-FFF2-40B4-BE49-F238E27FC236}">
                <a16:creationId xmlns:a16="http://schemas.microsoft.com/office/drawing/2014/main" id="{5E7C09D5-B459-AC86-B45E-58D8DA688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855" y="2915263"/>
            <a:ext cx="1349138" cy="677031"/>
          </a:xfrm>
          <a:prstGeom prst="rect">
            <a:avLst/>
          </a:prstGeom>
          <a:pattFill prst="wdUpDiag">
            <a:fgClr>
              <a:srgbClr val="E8F2FE"/>
            </a:fgClr>
            <a:bgClr>
              <a:srgbClr val="D0E7FC"/>
            </a:bgClr>
          </a:pattFill>
          <a:ln w="3175" algn="ctr">
            <a:solidFill>
              <a:srgbClr val="7CA7D6"/>
            </a:solidFill>
            <a:miter lim="800000"/>
            <a:headEnd/>
            <a:tailEnd/>
          </a:ln>
        </p:spPr>
        <p:txBody>
          <a:bodyPr wrap="none" lIns="99569" tIns="49785" rIns="99569" bIns="49785" anchor="ctr"/>
          <a:lstStyle/>
          <a:p>
            <a:pPr algn="ctr">
              <a:defRPr/>
            </a:pPr>
            <a:r>
              <a:rPr lang="ko-KR" altLang="en-US" sz="1000">
                <a:solidFill>
                  <a:srgbClr val="000000"/>
                </a:solidFill>
                <a:latin typeface="+mn-ea"/>
              </a:rPr>
              <a:t>신규 그룹웨어</a:t>
            </a:r>
            <a:endParaRPr lang="en-US" altLang="ko-KR" sz="100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000">
                <a:solidFill>
                  <a:srgbClr val="000000"/>
                </a:solidFill>
                <a:latin typeface="+mn-ea"/>
              </a:rPr>
              <a:t>구축안 보고</a:t>
            </a:r>
            <a:endParaRPr lang="en-US" altLang="ko-KR" sz="1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400B02ED-F91F-FF6A-7D03-20C937DBA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854" y="3663947"/>
            <a:ext cx="1349137" cy="816512"/>
          </a:xfrm>
          <a:prstGeom prst="rect">
            <a:avLst/>
          </a:prstGeom>
          <a:pattFill prst="wdUpDiag">
            <a:fgClr>
              <a:srgbClr val="E8F2FE"/>
            </a:fgClr>
            <a:bgClr>
              <a:srgbClr val="D0E7FC"/>
            </a:bgClr>
          </a:pattFill>
          <a:ln w="3175" algn="ctr">
            <a:solidFill>
              <a:srgbClr val="7CA7D6"/>
            </a:solidFill>
            <a:miter lim="800000"/>
            <a:headEnd/>
            <a:tailEnd/>
          </a:ln>
        </p:spPr>
        <p:txBody>
          <a:bodyPr wrap="square" lIns="36000" tIns="36000" rIns="36000" bIns="36000" anchor="ctr"/>
          <a:lstStyle/>
          <a:p>
            <a:pPr algn="ctr">
              <a:defRPr/>
            </a:pPr>
            <a:r>
              <a:rPr kumimoji="0" lang="ko-KR" altLang="en-US" sz="1000" b="0">
                <a:solidFill>
                  <a:srgbClr val="000000"/>
                </a:solidFill>
                <a:latin typeface="+mn-ea"/>
              </a:rPr>
              <a:t>견적 및 품의서</a:t>
            </a:r>
            <a:endParaRPr kumimoji="0" lang="ko-KR" altLang="en-US" sz="1000" b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9BC3132B-D8EC-BFE2-C6CE-93ACDF649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003" y="2926649"/>
            <a:ext cx="1235923" cy="1553810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100">
                <a:solidFill>
                  <a:srgbClr val="000000"/>
                </a:solidFill>
                <a:latin typeface="+mn-ea"/>
                <a:ea typeface="+mn-ea"/>
              </a:rPr>
              <a:t>데이터 이전 계획 및 대응 방안 수립</a:t>
            </a:r>
            <a:endParaRPr kumimoji="0" lang="en-US" altLang="ko-KR" sz="11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2FFB7B6E-BA15-FA86-C330-185B8B58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815" y="2307150"/>
            <a:ext cx="2249563" cy="546883"/>
          </a:xfrm>
          <a:prstGeom prst="rect">
            <a:avLst/>
          </a:prstGeom>
          <a:noFill/>
          <a:ln w="3175">
            <a:solidFill>
              <a:srgbClr val="2696E2"/>
            </a:solidFill>
            <a:miter lim="800000"/>
            <a:headEnd/>
            <a:tailEnd/>
          </a:ln>
        </p:spPr>
        <p:txBody>
          <a:bodyPr lIns="99569" tIns="49785" rIns="99569" bIns="49785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관련 매뉴얼 작성 및 공유</a:t>
            </a:r>
            <a:endParaRPr kumimoji="0"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BDF95034-0B2E-BA0A-BD5D-522CBAE32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936" y="2926649"/>
            <a:ext cx="1888625" cy="1553810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100">
                <a:solidFill>
                  <a:srgbClr val="000000"/>
                </a:solidFill>
                <a:latin typeface="+mn-ea"/>
                <a:ea typeface="+mn-ea"/>
              </a:rPr>
              <a:t>매뉴얼 작성 및 공유</a:t>
            </a:r>
            <a:endParaRPr kumimoji="0" lang="en-US" altLang="ko-KR" sz="110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kumimoji="0" lang="ko-KR" altLang="en-US" sz="1100">
                <a:solidFill>
                  <a:srgbClr val="000000"/>
                </a:solidFill>
                <a:latin typeface="+mn-ea"/>
                <a:ea typeface="+mn-ea"/>
              </a:rPr>
              <a:t>파일럿 오픈 시나리오 작성</a:t>
            </a:r>
            <a:endParaRPr kumimoji="0" lang="en-US" altLang="ko-KR" sz="110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kumimoji="0" lang="ko-KR" altLang="en-US" sz="1100">
                <a:solidFill>
                  <a:srgbClr val="000000"/>
                </a:solidFill>
                <a:latin typeface="+mn-ea"/>
                <a:ea typeface="+mn-ea"/>
              </a:rPr>
              <a:t>전자결제 양식 이관</a:t>
            </a:r>
            <a:endParaRPr kumimoji="0" lang="en-US" altLang="ko-KR" sz="11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7CDF8D5C-4B80-7CB5-A19F-0D67AB51E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610" y="2309687"/>
            <a:ext cx="3951736" cy="546883"/>
          </a:xfrm>
          <a:prstGeom prst="rect">
            <a:avLst/>
          </a:prstGeom>
          <a:noFill/>
          <a:ln w="3175">
            <a:solidFill>
              <a:srgbClr val="2696E2"/>
            </a:solidFill>
            <a:miter lim="800000"/>
            <a:headEnd/>
            <a:tailEnd/>
          </a:ln>
        </p:spPr>
        <p:txBody>
          <a:bodyPr lIns="99569" tIns="49785" rIns="99569" bIns="49785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데이터 이관</a:t>
            </a:r>
            <a:r>
              <a:rPr kumimoji="0" lang="en-US" altLang="ko-KR" sz="120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시스템 연동</a:t>
            </a:r>
            <a:r>
              <a:rPr kumimoji="0" lang="en-US" altLang="ko-KR" sz="1200">
                <a:solidFill>
                  <a:srgbClr val="FF0000"/>
                </a:solidFill>
                <a:latin typeface="+mn-ea"/>
                <a:ea typeface="+mn-ea"/>
              </a:rPr>
              <a:t>,</a:t>
            </a:r>
          </a:p>
          <a:p>
            <a:pPr algn="ctr" latinLnBrk="0"/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시험가동</a:t>
            </a:r>
            <a:endParaRPr kumimoji="0"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8ED61041-BD50-4D17-ACAC-88E578E4D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690" y="2307150"/>
            <a:ext cx="1754908" cy="546883"/>
          </a:xfrm>
          <a:prstGeom prst="rect">
            <a:avLst/>
          </a:prstGeom>
          <a:noFill/>
          <a:ln w="3175">
            <a:solidFill>
              <a:srgbClr val="2696E2"/>
            </a:solidFill>
            <a:miter lim="800000"/>
            <a:headEnd/>
            <a:tailEnd/>
          </a:ln>
        </p:spPr>
        <p:txBody>
          <a:bodyPr lIns="99569" tIns="49785" rIns="99569" bIns="49785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kumimoji="0" lang="ko-KR" altLang="en-US" sz="1200">
                <a:solidFill>
                  <a:srgbClr val="FF0000"/>
                </a:solidFill>
                <a:latin typeface="+mn-ea"/>
                <a:ea typeface="+mn-ea"/>
              </a:rPr>
              <a:t>안정화 및 모니터링</a:t>
            </a:r>
            <a:endParaRPr kumimoji="0"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AutoShape 17">
            <a:extLst>
              <a:ext uri="{FF2B5EF4-FFF2-40B4-BE49-F238E27FC236}">
                <a16:creationId xmlns:a16="http://schemas.microsoft.com/office/drawing/2014/main" id="{B0201D25-517D-A460-3011-5C9F27572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64" y="3368629"/>
            <a:ext cx="1952270" cy="504000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메일 백업 매뉴얼</a:t>
            </a:r>
            <a:endParaRPr kumimoji="0" lang="en-US" altLang="ko-KR" sz="120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배포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AutoShape 17">
            <a:extLst>
              <a:ext uri="{FF2B5EF4-FFF2-40B4-BE49-F238E27FC236}">
                <a16:creationId xmlns:a16="http://schemas.microsoft.com/office/drawing/2014/main" id="{908BD724-5FA8-DB11-2FD8-8A64951C5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873" y="2926649"/>
            <a:ext cx="1754908" cy="1553810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400">
                <a:solidFill>
                  <a:srgbClr val="000000"/>
                </a:solidFill>
                <a:latin typeface="+mn-ea"/>
                <a:ea typeface="+mn-ea"/>
              </a:rPr>
              <a:t>본가동</a:t>
            </a:r>
            <a:r>
              <a:rPr kumimoji="0" lang="en-US" altLang="ko-KR" sz="140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1400">
                <a:solidFill>
                  <a:srgbClr val="000000"/>
                </a:solidFill>
                <a:latin typeface="+mn-ea"/>
                <a:ea typeface="+mn-ea"/>
              </a:rPr>
              <a:t>안정화</a:t>
            </a:r>
            <a:endParaRPr kumimoji="0"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1" name="AutoShape 17">
            <a:extLst>
              <a:ext uri="{FF2B5EF4-FFF2-40B4-BE49-F238E27FC236}">
                <a16:creationId xmlns:a16="http://schemas.microsoft.com/office/drawing/2014/main" id="{C1E9B413-9F15-C2C5-1093-3F24C1B32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4298" y="3368629"/>
            <a:ext cx="1952270" cy="504000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전자결제 시스템</a:t>
            </a:r>
            <a:endParaRPr kumimoji="0" lang="en-US" altLang="ko-KR" sz="120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선오픈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2" name="AutoShape 17">
            <a:extLst>
              <a:ext uri="{FF2B5EF4-FFF2-40B4-BE49-F238E27FC236}">
                <a16:creationId xmlns:a16="http://schemas.microsoft.com/office/drawing/2014/main" id="{DA7BFDD5-162E-5862-AAF8-4BD1D2672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4298" y="2926649"/>
            <a:ext cx="3951736" cy="378599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조직도</a:t>
            </a:r>
            <a:r>
              <a:rPr kumimoji="0" lang="en-US" altLang="ko-KR" sz="120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시스템 연동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3" name="AutoShape 17">
            <a:extLst>
              <a:ext uri="{FF2B5EF4-FFF2-40B4-BE49-F238E27FC236}">
                <a16:creationId xmlns:a16="http://schemas.microsoft.com/office/drawing/2014/main" id="{F0FD6E5D-FF45-CDE3-E040-71F9924F9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4298" y="3933417"/>
            <a:ext cx="3951735" cy="547042"/>
          </a:xfrm>
          <a:prstGeom prst="rect">
            <a:avLst/>
          </a:prstGeom>
          <a:pattFill prst="wdUpDiag">
            <a:fgClr>
              <a:srgbClr val="C5E3FB"/>
            </a:fgClr>
            <a:bgClr>
              <a:srgbClr val="ABD8F7"/>
            </a:bgClr>
          </a:pattFill>
          <a:ln w="3175">
            <a:solidFill>
              <a:srgbClr val="67B8EF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333399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사용자 교육</a:t>
            </a:r>
            <a:r>
              <a:rPr kumimoji="0" lang="en-US" altLang="ko-KR" sz="120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1200">
                <a:solidFill>
                  <a:srgbClr val="000000"/>
                </a:solidFill>
                <a:latin typeface="+mn-ea"/>
                <a:ea typeface="+mn-ea"/>
              </a:rPr>
              <a:t>시험가동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077D9F8-D16B-95E0-718E-A52EED66F2B7}"/>
              </a:ext>
            </a:extLst>
          </p:cNvPr>
          <p:cNvCxnSpPr>
            <a:cxnSpLocks/>
          </p:cNvCxnSpPr>
          <p:nvPr/>
        </p:nvCxnSpPr>
        <p:spPr>
          <a:xfrm flipV="1">
            <a:off x="10030686" y="1274620"/>
            <a:ext cx="0" cy="517023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129">
            <a:extLst>
              <a:ext uri="{FF2B5EF4-FFF2-40B4-BE49-F238E27FC236}">
                <a16:creationId xmlns:a16="http://schemas.microsoft.com/office/drawing/2014/main" id="{B2EA750A-03ED-81FD-5F78-5F1620317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9027" y="5239107"/>
            <a:ext cx="1754908" cy="489526"/>
          </a:xfrm>
          <a:prstGeom prst="rect">
            <a:avLst/>
          </a:prstGeom>
          <a:solidFill>
            <a:srgbClr val="F75443"/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solidFill>
                  <a:schemeClr val="bg1"/>
                </a:solidFill>
                <a:latin typeface="+mn-ea"/>
              </a:rPr>
              <a:t>기존 메일 서버</a:t>
            </a:r>
            <a:endParaRPr lang="en-US" altLang="ko-KR" sz="1200" b="1" kern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solidFill>
                  <a:schemeClr val="bg1"/>
                </a:solidFill>
                <a:latin typeface="+mn-ea"/>
              </a:rPr>
              <a:t>수발신 중지</a:t>
            </a:r>
            <a:endParaRPr kumimoji="0"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AutoShape 129">
            <a:extLst>
              <a:ext uri="{FF2B5EF4-FFF2-40B4-BE49-F238E27FC236}">
                <a16:creationId xmlns:a16="http://schemas.microsoft.com/office/drawing/2014/main" id="{7E5A3824-85E3-DA9D-E8DE-D8E3AA25A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9027" y="5775611"/>
            <a:ext cx="1754908" cy="48952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solidFill>
                  <a:schemeClr val="bg1"/>
                </a:solidFill>
                <a:latin typeface="+mn-ea"/>
              </a:rPr>
              <a:t>신규 메일 서버</a:t>
            </a:r>
            <a:endParaRPr lang="en-US" altLang="ko-KR" sz="1200" b="1" kern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solidFill>
                  <a:schemeClr val="bg1"/>
                </a:solidFill>
                <a:latin typeface="+mn-ea"/>
              </a:rPr>
              <a:t>수발신</a:t>
            </a:r>
            <a:endParaRPr kumimoji="0"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AutoShape 129">
            <a:extLst>
              <a:ext uri="{FF2B5EF4-FFF2-40B4-BE49-F238E27FC236}">
                <a16:creationId xmlns:a16="http://schemas.microsoft.com/office/drawing/2014/main" id="{6888CE82-B0A8-A443-5300-031FFC90E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090" y="5239107"/>
            <a:ext cx="8682175" cy="489526"/>
          </a:xfrm>
          <a:prstGeom prst="rect">
            <a:avLst/>
          </a:prstGeom>
          <a:noFill/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latin typeface="+mn-ea"/>
              </a:rPr>
              <a:t>기존 메일 서버 사용</a:t>
            </a:r>
            <a:endParaRPr kumimoji="0" lang="ko-KR" altLang="en-US" sz="1200" b="1" kern="0" dirty="0">
              <a:latin typeface="+mn-ea"/>
            </a:endParaRPr>
          </a:p>
        </p:txBody>
      </p:sp>
      <p:sp>
        <p:nvSpPr>
          <p:cNvPr id="46" name="AutoShape 129">
            <a:extLst>
              <a:ext uri="{FF2B5EF4-FFF2-40B4-BE49-F238E27FC236}">
                <a16:creationId xmlns:a16="http://schemas.microsoft.com/office/drawing/2014/main" id="{913B6AC8-EFD9-AC6F-916E-D7CCE652F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535" y="5775611"/>
            <a:ext cx="3951730" cy="4895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rgbClr val="266442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kern="0">
                <a:latin typeface="+mn-ea"/>
              </a:rPr>
              <a:t>전자결제 동시 운영</a:t>
            </a:r>
            <a:r>
              <a:rPr lang="en-US" altLang="ko-KR" sz="1200" b="1" kern="0">
                <a:latin typeface="+mn-ea"/>
              </a:rPr>
              <a:t>(</a:t>
            </a:r>
            <a:r>
              <a:rPr lang="ko-KR" altLang="en-US" sz="1200" b="1" kern="0">
                <a:latin typeface="+mn-ea"/>
              </a:rPr>
              <a:t>구버전</a:t>
            </a:r>
            <a:r>
              <a:rPr lang="en-US" altLang="ko-KR" sz="1200" b="1" kern="0">
                <a:latin typeface="+mn-ea"/>
              </a:rPr>
              <a:t>,</a:t>
            </a:r>
            <a:r>
              <a:rPr lang="ko-KR" altLang="en-US" sz="1200" b="1" kern="0">
                <a:latin typeface="+mn-ea"/>
              </a:rPr>
              <a:t>신버전</a:t>
            </a:r>
            <a:r>
              <a:rPr lang="en-US" altLang="ko-KR" sz="1200" b="1" kern="0">
                <a:latin typeface="+mn-ea"/>
              </a:rPr>
              <a:t>)</a:t>
            </a:r>
            <a:endParaRPr kumimoji="0" lang="ko-KR" altLang="en-US" sz="1200" b="1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688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B158-54CE-C18F-F251-A9E1FABF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0C9B311-5725-A3F1-236C-B422A8A4B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61694"/>
              </p:ext>
            </p:extLst>
          </p:nvPr>
        </p:nvGraphicFramePr>
        <p:xfrm>
          <a:off x="251519" y="972386"/>
          <a:ext cx="11700334" cy="5347216"/>
        </p:xfrm>
        <a:graphic>
          <a:graphicData uri="http://schemas.openxmlformats.org/drawingml/2006/table">
            <a:tbl>
              <a:tblPr/>
              <a:tblGrid>
                <a:gridCol w="598226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6151419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4950689">
                  <a:extLst>
                    <a:ext uri="{9D8B030D-6E8A-4147-A177-3AD203B41FA5}">
                      <a16:colId xmlns:a16="http://schemas.microsoft.com/office/drawing/2014/main" val="2764205890"/>
                    </a:ext>
                  </a:extLst>
                </a:gridCol>
              </a:tblGrid>
              <a:tr h="31528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절차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241075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프로세스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3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오송신검사 → 승인필터검사 → 보안필터검사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승인필터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수신 메일이 설정한 필터 조건에 해당하는 경우 승인자의 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승인을 얻도록 설정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보안필터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외부 발송시 암호화 처리등을 설정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262118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승인절차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57234372"/>
                  </a:ext>
                </a:extLst>
              </a:tr>
            </a:tbl>
          </a:graphicData>
        </a:graphic>
      </p:graphicFrame>
      <p:sp>
        <p:nvSpPr>
          <p:cNvPr id="15" name="제목 4">
            <a:extLst>
              <a:ext uri="{FF2B5EF4-FFF2-40B4-BE49-F238E27FC236}">
                <a16:creationId xmlns:a16="http://schemas.microsoft.com/office/drawing/2014/main" id="{6DC8B6BC-D169-31A8-C437-212FBD84F49A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1-6. </a:t>
            </a:r>
            <a:r>
              <a:rPr lang="ko-KR" altLang="en-US" sz="1400">
                <a:latin typeface="+mn-ea"/>
                <a:ea typeface="+mn-ea"/>
              </a:rPr>
              <a:t>메일승인 프로세스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90E3FF3B-1E6B-DA32-4711-0818F51DA1A2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8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9D619-4174-0806-C936-948D9DC47862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메일보안</a:t>
            </a:r>
            <a:endParaRPr lang="en-US" altLang="ko-KR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9DDADD-3CBD-4A04-2713-3058F88EEA83}"/>
              </a:ext>
            </a:extLst>
          </p:cNvPr>
          <p:cNvGrpSpPr/>
          <p:nvPr/>
        </p:nvGrpSpPr>
        <p:grpSpPr>
          <a:xfrm>
            <a:off x="906730" y="4183134"/>
            <a:ext cx="5879853" cy="1633929"/>
            <a:chOff x="890401" y="4566855"/>
            <a:chExt cx="5879853" cy="163392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9D28731-C2FC-D6DD-B060-D21FC94D7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401" y="4566855"/>
              <a:ext cx="5879853" cy="163392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699C5F-8AB9-83D5-8F61-9D1E8D39FFC0}"/>
                </a:ext>
              </a:extLst>
            </p:cNvPr>
            <p:cNvSpPr/>
            <p:nvPr/>
          </p:nvSpPr>
          <p:spPr>
            <a:xfrm>
              <a:off x="4544293" y="4849089"/>
              <a:ext cx="979056" cy="10734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2F95551-560F-3525-641F-FCBF3093164C}"/>
                </a:ext>
              </a:extLst>
            </p:cNvPr>
            <p:cNvSpPr/>
            <p:nvPr/>
          </p:nvSpPr>
          <p:spPr>
            <a:xfrm>
              <a:off x="3334327" y="4849089"/>
              <a:ext cx="979056" cy="10734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4959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0EA3-41D1-17D4-0EC5-118AEB7C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4">
            <a:extLst>
              <a:ext uri="{FF2B5EF4-FFF2-40B4-BE49-F238E27FC236}">
                <a16:creationId xmlns:a16="http://schemas.microsoft.com/office/drawing/2014/main" id="{DACC0618-68F8-8C91-BC52-4FE4D9F362A0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2-1. </a:t>
            </a:r>
            <a:r>
              <a:rPr lang="ko-KR" altLang="en-US" sz="1400">
                <a:latin typeface="+mn-ea"/>
                <a:ea typeface="+mn-ea"/>
              </a:rPr>
              <a:t>문서 및 </a:t>
            </a:r>
            <a:r>
              <a:rPr lang="en-US" altLang="ko-KR" sz="1400">
                <a:latin typeface="+mn-ea"/>
                <a:ea typeface="+mn-ea"/>
              </a:rPr>
              <a:t>PC </a:t>
            </a:r>
            <a:r>
              <a:rPr lang="ko-KR" altLang="en-US" sz="1400">
                <a:latin typeface="+mn-ea"/>
                <a:ea typeface="+mn-ea"/>
              </a:rPr>
              <a:t>보안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1AD659AA-F981-4EE6-A6B5-59DF6ED11DE4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9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99441-ED4E-5334-EC60-3B6D60733DCD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문서 및 </a:t>
            </a:r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PC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보안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F555FC4-1764-C27B-B198-062A7466B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466211"/>
              </p:ext>
            </p:extLst>
          </p:nvPr>
        </p:nvGraphicFramePr>
        <p:xfrm>
          <a:off x="251519" y="1018567"/>
          <a:ext cx="11700337" cy="5426293"/>
        </p:xfrm>
        <a:graphic>
          <a:graphicData uri="http://schemas.openxmlformats.org/drawingml/2006/table">
            <a:tbl>
              <a:tblPr/>
              <a:tblGrid>
                <a:gridCol w="418630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662262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2464526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5541027">
                  <a:extLst>
                    <a:ext uri="{9D8B030D-6E8A-4147-A177-3AD203B41FA5}">
                      <a16:colId xmlns:a16="http://schemas.microsoft.com/office/drawing/2014/main" val="2604349263"/>
                    </a:ext>
                  </a:extLst>
                </a:gridCol>
                <a:gridCol w="2613892">
                  <a:extLst>
                    <a:ext uri="{9D8B030D-6E8A-4147-A177-3AD203B41FA5}">
                      <a16:colId xmlns:a16="http://schemas.microsoft.com/office/drawing/2014/main" val="687295235"/>
                    </a:ext>
                  </a:extLst>
                </a:gridCol>
              </a:tblGrid>
              <a:tr h="26897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관리설정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162652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본사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R&amp;D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문서보안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문서를 중앙서버에 보관하고 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반출시 승인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문서파일 개인 </a:t>
                      </a: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보관 금지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중앙 서버에 암호화하여 보관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PC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에서 작성되는 모든 문서 자동으로 서버에 보관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문서 외부 반출시 승인 필요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백신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바이러스 침입 실시간 감시 및 치료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 백업 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중요파일</a:t>
                      </a: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유출 파일 백업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 계정 수 만큼 비용 청구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적용시점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문서보안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25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&gt;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우선적용 대상자 선정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&gt;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추후 전직원 확산 적용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2747822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PC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보안 프로그램 설치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PC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용 메신저 사용 제한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이동식 매체 차단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출력물 보안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effectLst/>
                          <a:latin typeface="+mn-ea"/>
                        </a:rPr>
                        <a:t> 1. </a:t>
                      </a:r>
                      <a:r>
                        <a:rPr lang="ko-KR" altLang="en-US" sz="1200" b="1">
                          <a:effectLst/>
                          <a:latin typeface="+mn-ea"/>
                        </a:rPr>
                        <a:t>업무용 </a:t>
                      </a:r>
                      <a:r>
                        <a:rPr lang="en-US" altLang="ko-KR" sz="1200" b="1">
                          <a:effectLst/>
                          <a:latin typeface="+mn-ea"/>
                        </a:rPr>
                        <a:t>PC, </a:t>
                      </a:r>
                      <a:r>
                        <a:rPr lang="ko-KR" altLang="en-US" sz="1200" b="1">
                          <a:effectLst/>
                          <a:latin typeface="+mn-ea"/>
                        </a:rPr>
                        <a:t>노트북 </a:t>
                      </a:r>
                      <a:r>
                        <a:rPr lang="en-US" altLang="ko-KR" sz="1200" b="1">
                          <a:effectLst/>
                          <a:latin typeface="+mn-ea"/>
                        </a:rPr>
                        <a:t>: </a:t>
                      </a:r>
                      <a:r>
                        <a:rPr lang="ko-KR" altLang="en-US" sz="1200" b="1">
                          <a:effectLst/>
                          <a:latin typeface="+mn-ea"/>
                        </a:rPr>
                        <a:t>그룹웨어 메신저 사용 권장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-. 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카톡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, 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라인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, 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페이스북 사용 자제</a:t>
                      </a:r>
                      <a:endParaRPr lang="en-US" altLang="ko-KR" sz="1200">
                        <a:effectLst/>
                        <a:latin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effectLst/>
                          <a:latin typeface="+mn-ea"/>
                        </a:rPr>
                        <a:t> 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-. </a:t>
                      </a:r>
                      <a:r>
                        <a:rPr lang="ko-KR" altLang="en-US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카톡 </a:t>
                      </a:r>
                      <a:r>
                        <a:rPr lang="en-US" altLang="ko-KR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PC </a:t>
                      </a:r>
                      <a:r>
                        <a:rPr lang="ko-KR" altLang="en-US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버전에서 파일 첨부만 차단</a:t>
                      </a:r>
                      <a:r>
                        <a:rPr lang="en-US" altLang="ko-KR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(</a:t>
                      </a:r>
                      <a:r>
                        <a:rPr lang="ko-KR" altLang="en-US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핸드폰 어플 정상 사용</a:t>
                      </a:r>
                      <a:r>
                        <a:rPr lang="en-US" altLang="ko-KR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 -. </a:t>
                      </a:r>
                      <a:r>
                        <a:rPr lang="ko-KR" altLang="en-US" sz="1200" b="1" u="sng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첨부파일은 메일로 송수신</a:t>
                      </a:r>
                      <a:endParaRPr lang="en-US" altLang="ko-KR" sz="1200" b="1" u="sng">
                        <a:solidFill>
                          <a:srgbClr val="0000FF"/>
                        </a:solidFill>
                        <a:effectLst/>
                        <a:latin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effectLst/>
                          <a:latin typeface="+mn-ea"/>
                        </a:rPr>
                        <a:t> 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-. PC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 화면 캡처 기능 차단</a:t>
                      </a:r>
                      <a:endParaRPr lang="en-US" altLang="ko-KR" sz="1200">
                        <a:effectLst/>
                        <a:latin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ko-KR" altLang="en-US" sz="800">
                        <a:effectLst/>
                        <a:latin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>
                          <a:effectLst/>
                          <a:latin typeface="+mn-ea"/>
                        </a:rPr>
                        <a:t>2. </a:t>
                      </a:r>
                      <a:r>
                        <a:rPr lang="ko-KR" altLang="en-US" sz="1200" b="1">
                          <a:effectLst/>
                          <a:latin typeface="+mn-ea"/>
                        </a:rPr>
                        <a:t>보안프로그램 설치 </a:t>
                      </a:r>
                      <a:r>
                        <a:rPr lang="en-US" altLang="ko-KR" sz="1200" b="1">
                          <a:effectLst/>
                          <a:latin typeface="+mn-ea"/>
                        </a:rPr>
                        <a:t>: ESP</a:t>
                      </a:r>
                      <a:r>
                        <a:rPr lang="ko-KR" altLang="en-US" sz="1200" b="1">
                          <a:effectLst/>
                          <a:latin typeface="+mn-ea"/>
                        </a:rPr>
                        <a:t> </a:t>
                      </a:r>
                      <a:r>
                        <a:rPr lang="en-US" altLang="ko-KR" sz="1200" b="1">
                          <a:effectLst/>
                          <a:latin typeface="+mn-ea"/>
                        </a:rPr>
                        <a:t>PC </a:t>
                      </a:r>
                      <a:r>
                        <a:rPr lang="ko-KR" altLang="en-US" sz="1200" b="1">
                          <a:effectLst/>
                          <a:latin typeface="+mn-ea"/>
                        </a:rPr>
                        <a:t>보안 프로그램 설치</a:t>
                      </a:r>
                      <a:endParaRPr lang="ko-KR" altLang="en-US" sz="1200">
                        <a:effectLst/>
                        <a:latin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effectLst/>
                          <a:latin typeface="+mn-ea"/>
                        </a:rPr>
                        <a:t> 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-. 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출력물 보안 및 이동식 매체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(USB)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등 차단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(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읽기 가능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, 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쓰기 금지</a:t>
                      </a:r>
                      <a:r>
                        <a:rPr lang="en-US" altLang="ko-KR" sz="1200">
                          <a:effectLst/>
                          <a:latin typeface="+mn-ea"/>
                        </a:rPr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>
                          <a:effectLst/>
                          <a:latin typeface="+mn-ea"/>
                        </a:rPr>
                        <a:t> -. USB </a:t>
                      </a:r>
                      <a:r>
                        <a:rPr lang="ko-KR" altLang="en-US" sz="1200">
                          <a:effectLst/>
                          <a:latin typeface="+mn-ea"/>
                        </a:rPr>
                        <a:t>사용시 매체 사용 신청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effectLst/>
                          <a:latin typeface="+mn-ea"/>
                        </a:rPr>
                        <a:t> 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-. 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각부서별 사용중인 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USB, 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저장매체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이동식 하드디스크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)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등은 사전에 승인 요청</a:t>
                      </a:r>
                      <a:endParaRPr lang="ko-KR" altLang="en-US" sz="1200">
                        <a:effectLst/>
                        <a:latin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effectLst/>
                          <a:latin typeface="+mn-ea"/>
                        </a:rPr>
                        <a:t> </a:t>
                      </a:r>
                      <a:r>
                        <a:rPr lang="en-US" altLang="ko-KR" sz="1200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-. </a:t>
                      </a:r>
                      <a:r>
                        <a:rPr lang="ko-KR" altLang="en-US" sz="1200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출력물 워터마크 적용 및 </a:t>
                      </a:r>
                      <a:r>
                        <a:rPr lang="en-US" altLang="ko-KR" sz="1200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USB </a:t>
                      </a:r>
                      <a:r>
                        <a:rPr lang="ko-KR" altLang="en-US" sz="1200">
                          <a:solidFill>
                            <a:srgbClr val="0000FF"/>
                          </a:solidFill>
                          <a:effectLst/>
                          <a:latin typeface="+mn-ea"/>
                        </a:rPr>
                        <a:t>사용 신청 정책 적용은 추후 공지</a:t>
                      </a:r>
                      <a:endParaRPr lang="ko-KR" altLang="en-US" sz="1200">
                        <a:effectLst/>
                        <a:latin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적용시점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메신저 첨부파일 차단 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25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출력물 보안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25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월중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&gt;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인쇄물 워터마크 협의 필요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&gt;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 승인 프로세스 확정 필요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이동매체 차단 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25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&gt;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부서별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USB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사용현황 조사후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111407"/>
                  </a:ext>
                </a:extLst>
              </a:tr>
              <a:tr h="620682">
                <a:tc gridSpan="5">
                  <a:txBody>
                    <a:bodyPr/>
                    <a:lstStyle/>
                    <a:p>
                      <a:pPr algn="l" rtl="0" fontAlgn="ctr"/>
                      <a:endParaRPr lang="en-US" altLang="ko-KR" sz="14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*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본사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R&amp;D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VINA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확산 적용 예정</a:t>
                      </a:r>
                      <a:endParaRPr lang="en-US" altLang="ko-KR" sz="14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200">
                        <a:effectLst/>
                        <a:latin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88594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25D1EE4-7573-933C-CD2F-32820CA90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07" y="4893575"/>
            <a:ext cx="2277785" cy="7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71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951B-7E0E-3BD1-02A7-B9ACD66C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6F181B-506F-3D1B-4BA8-41BD2C051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6823"/>
              </p:ext>
            </p:extLst>
          </p:nvPr>
        </p:nvGraphicFramePr>
        <p:xfrm>
          <a:off x="251519" y="972386"/>
          <a:ext cx="11700336" cy="5434919"/>
        </p:xfrm>
        <a:graphic>
          <a:graphicData uri="http://schemas.openxmlformats.org/drawingml/2006/table">
            <a:tbl>
              <a:tblPr/>
              <a:tblGrid>
                <a:gridCol w="681354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7878619">
                  <a:extLst>
                    <a:ext uri="{9D8B030D-6E8A-4147-A177-3AD203B41FA5}">
                      <a16:colId xmlns:a16="http://schemas.microsoft.com/office/drawing/2014/main" val="2604349263"/>
                    </a:ext>
                  </a:extLst>
                </a:gridCol>
              </a:tblGrid>
              <a:tr h="28375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232407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문서보안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lvl="0" indent="-171450" algn="l" rtl="0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기밀정보 및 개인정보 유출 방지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개인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보안관리 툴 설치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-ESP)</a:t>
                      </a: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PC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보안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개인정보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IT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자산관리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이동매채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(USB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백신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바이러스 침입 실시간 감시 및 치료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 백업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중요파일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유출 파일 백업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출력물 보안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인쇄물 통제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출력 승인 프로세스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lvl="0" indent="0" algn="l" rtl="0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문서보안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문서파일 자동 암호화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복호화 프로세스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내역 검색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2827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저장 금지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허용된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접근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020857640"/>
                  </a:ext>
                </a:extLst>
              </a:tr>
            </a:tbl>
          </a:graphicData>
        </a:graphic>
      </p:graphicFrame>
      <p:sp>
        <p:nvSpPr>
          <p:cNvPr id="15" name="제목 4">
            <a:extLst>
              <a:ext uri="{FF2B5EF4-FFF2-40B4-BE49-F238E27FC236}">
                <a16:creationId xmlns:a16="http://schemas.microsoft.com/office/drawing/2014/main" id="{C76819A0-F6D4-94D8-9220-5DD741FF59AD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/>
              <a:t> 2-2. </a:t>
            </a:r>
            <a:r>
              <a:rPr lang="ko-KR" altLang="en-US" sz="1400"/>
              <a:t>문서 보안</a:t>
            </a:r>
            <a:endParaRPr lang="ko-KR" altLang="en-US" sz="1400" dirty="0"/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86526720-AF99-C684-BA99-3AA4B5CFA580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65708-FCC5-0778-F72A-34C5D8C2E73A}"/>
              </a:ext>
            </a:extLst>
          </p:cNvPr>
          <p:cNvSpPr txBox="1"/>
          <p:nvPr/>
        </p:nvSpPr>
        <p:spPr>
          <a:xfrm>
            <a:off x="96256" y="38100"/>
            <a:ext cx="64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문서 및 </a:t>
            </a:r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PC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보안</a:t>
            </a:r>
            <a:endParaRPr lang="ko-KR" altLang="en-US" sz="28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3909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8D89-AB92-00B5-D6EA-2CFCD0EA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13DB57-7116-2C7D-86FA-509B9239C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258192"/>
              </p:ext>
            </p:extLst>
          </p:nvPr>
        </p:nvGraphicFramePr>
        <p:xfrm>
          <a:off x="251519" y="972386"/>
          <a:ext cx="11700336" cy="5500985"/>
        </p:xfrm>
        <a:graphic>
          <a:graphicData uri="http://schemas.openxmlformats.org/drawingml/2006/table">
            <a:tbl>
              <a:tblPr/>
              <a:tblGrid>
                <a:gridCol w="681354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7472219">
                  <a:extLst>
                    <a:ext uri="{9D8B030D-6E8A-4147-A177-3AD203B41FA5}">
                      <a16:colId xmlns:a16="http://schemas.microsoft.com/office/drawing/2014/main" val="2604349263"/>
                    </a:ext>
                  </a:extLst>
                </a:gridCol>
              </a:tblGrid>
              <a:tr h="2652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261784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문서보안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공유 및 협업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유출 차단 및 반출 결재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파일관리 및 검색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랜섬웨어 대응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26178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반출에 대한 결재승인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비밀번호 지정</a:t>
                      </a:r>
                      <a:endParaRPr lang="en-US" altLang="ko-KR" sz="1400" b="1" i="0" u="none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87601069"/>
                  </a:ext>
                </a:extLst>
              </a:tr>
            </a:tbl>
          </a:graphicData>
        </a:graphic>
      </p:graphicFrame>
      <p:sp>
        <p:nvSpPr>
          <p:cNvPr id="15" name="제목 4">
            <a:extLst>
              <a:ext uri="{FF2B5EF4-FFF2-40B4-BE49-F238E27FC236}">
                <a16:creationId xmlns:a16="http://schemas.microsoft.com/office/drawing/2014/main" id="{B74BC229-78DD-2A56-C17B-DAD4648D8701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/>
              <a:t> 2-3. </a:t>
            </a:r>
            <a:r>
              <a:rPr lang="ko-KR" altLang="en-US" sz="1400"/>
              <a:t>문서 보안</a:t>
            </a:r>
            <a:endParaRPr lang="ko-KR" altLang="en-US" sz="1400" dirty="0"/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45BEA432-9187-7E23-2D3A-9CEF9969B711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556BB-0C72-9E0A-B125-23243522E48E}"/>
              </a:ext>
            </a:extLst>
          </p:cNvPr>
          <p:cNvSpPr txBox="1"/>
          <p:nvPr/>
        </p:nvSpPr>
        <p:spPr>
          <a:xfrm>
            <a:off x="96256" y="38100"/>
            <a:ext cx="640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2. </a:t>
            </a:r>
            <a:r>
              <a:rPr lang="ko-KR" altLang="en-US" sz="32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문서 및 </a:t>
            </a:r>
            <a:r>
              <a:rPr lang="en-US" altLang="ko-KR" sz="32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PC </a:t>
            </a:r>
            <a:r>
              <a:rPr lang="ko-KR" altLang="en-US" sz="32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보안</a:t>
            </a:r>
            <a:endParaRPr lang="ko-KR" altLang="en-US" sz="2000" b="1" dirty="0">
              <a:solidFill>
                <a:schemeClr val="bg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319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0EDA-4C42-3ED0-6ED4-C01A06E4A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4">
            <a:extLst>
              <a:ext uri="{FF2B5EF4-FFF2-40B4-BE49-F238E27FC236}">
                <a16:creationId xmlns:a16="http://schemas.microsoft.com/office/drawing/2014/main" id="{7FFA69AF-FAE6-E464-9F09-37233DE425D9}"/>
              </a:ext>
            </a:extLst>
          </p:cNvPr>
          <p:cNvSpPr txBox="1">
            <a:spLocks/>
          </p:cNvSpPr>
          <p:nvPr/>
        </p:nvSpPr>
        <p:spPr>
          <a:xfrm>
            <a:off x="58192" y="657216"/>
            <a:ext cx="7200000" cy="295873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000" b="1" kern="1200" spc="0" baseline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400">
                <a:latin typeface="+mn-ea"/>
                <a:ea typeface="+mn-ea"/>
              </a:rPr>
              <a:t> 3-1. </a:t>
            </a:r>
            <a:r>
              <a:rPr lang="ko-KR" altLang="en-US" sz="1400">
                <a:latin typeface="+mn-ea"/>
                <a:ea typeface="+mn-ea"/>
              </a:rPr>
              <a:t>단말기 보안</a:t>
            </a:r>
            <a:r>
              <a:rPr lang="en-US" altLang="ko-KR" sz="1400">
                <a:latin typeface="+mn-ea"/>
                <a:ea typeface="+mn-ea"/>
              </a:rPr>
              <a:t>(MDM)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" name="슬라이드 번호 개체 틀 2">
            <a:extLst>
              <a:ext uri="{FF2B5EF4-FFF2-40B4-BE49-F238E27FC236}">
                <a16:creationId xmlns:a16="http://schemas.microsoft.com/office/drawing/2014/main" id="{0D56E157-F551-CFD9-EFC6-89FB3A22C20A}"/>
              </a:ext>
            </a:extLst>
          </p:cNvPr>
          <p:cNvSpPr txBox="1">
            <a:spLocks/>
          </p:cNvSpPr>
          <p:nvPr/>
        </p:nvSpPr>
        <p:spPr>
          <a:xfrm>
            <a:off x="5907561" y="6492044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>
                <a:latin typeface="+mn-ea"/>
              </a:rPr>
              <a:pPr/>
              <a:t>12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E835F-3041-9289-59DC-45238F9C8B08}"/>
              </a:ext>
            </a:extLst>
          </p:cNvPr>
          <p:cNvSpPr txBox="1"/>
          <p:nvPr/>
        </p:nvSpPr>
        <p:spPr>
          <a:xfrm>
            <a:off x="96256" y="38100"/>
            <a:ext cx="9260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3. </a:t>
            </a:r>
            <a:r>
              <a:rPr lang="ko-KR" altLang="en-US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단말기 보안</a:t>
            </a:r>
            <a:r>
              <a:rPr lang="en-US" altLang="ko-KR" sz="2800" b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(MDM)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16DAA-7BAA-2718-DFF7-76E5F7BC6C67}"/>
              </a:ext>
            </a:extLst>
          </p:cNvPr>
          <p:cNvSpPr txBox="1"/>
          <p:nvPr/>
        </p:nvSpPr>
        <p:spPr>
          <a:xfrm>
            <a:off x="251519" y="6282040"/>
            <a:ext cx="24945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>
                <a:solidFill>
                  <a:schemeClr val="accent1"/>
                </a:solidFill>
              </a:rPr>
              <a:t>* MDM : Mobile Device Management</a:t>
            </a:r>
            <a:endParaRPr lang="ko-KR" altLang="en-US" sz="1050">
              <a:solidFill>
                <a:schemeClr val="accent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672B96E-B048-2AB7-FE26-A6126044B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797248"/>
              </p:ext>
            </p:extLst>
          </p:nvPr>
        </p:nvGraphicFramePr>
        <p:xfrm>
          <a:off x="251519" y="972386"/>
          <a:ext cx="11700336" cy="5309654"/>
        </p:xfrm>
        <a:graphic>
          <a:graphicData uri="http://schemas.openxmlformats.org/drawingml/2006/table">
            <a:tbl>
              <a:tblPr/>
              <a:tblGrid>
                <a:gridCol w="681354">
                  <a:extLst>
                    <a:ext uri="{9D8B030D-6E8A-4147-A177-3AD203B41FA5}">
                      <a16:colId xmlns:a16="http://schemas.microsoft.com/office/drawing/2014/main" val="2572971437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2887588538"/>
                    </a:ext>
                  </a:extLst>
                </a:gridCol>
                <a:gridCol w="3519055">
                  <a:extLst>
                    <a:ext uri="{9D8B030D-6E8A-4147-A177-3AD203B41FA5}">
                      <a16:colId xmlns:a16="http://schemas.microsoft.com/office/drawing/2014/main" val="258042166"/>
                    </a:ext>
                  </a:extLst>
                </a:gridCol>
                <a:gridCol w="4036291">
                  <a:extLst>
                    <a:ext uri="{9D8B030D-6E8A-4147-A177-3AD203B41FA5}">
                      <a16:colId xmlns:a16="http://schemas.microsoft.com/office/drawing/2014/main" val="2604349263"/>
                    </a:ext>
                  </a:extLst>
                </a:gridCol>
                <a:gridCol w="2660073">
                  <a:extLst>
                    <a:ext uri="{9D8B030D-6E8A-4147-A177-3AD203B41FA5}">
                      <a16:colId xmlns:a16="http://schemas.microsoft.com/office/drawing/2014/main" val="382724814"/>
                    </a:ext>
                  </a:extLst>
                </a:gridCol>
              </a:tblGrid>
              <a:tr h="28819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관리설정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99435"/>
                  </a:ext>
                </a:extLst>
              </a:tr>
              <a:tr h="240572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R&amp;D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MDM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프로그램 핸드폰 설치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출입 게이트 통과시 어플 자동 실행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퇴근시 자동 해제 및 수동 해제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카메라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스캔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녹음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블루투스 차단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아이폰 카메라만 차단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애플 정책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MDM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프로그램 전직원 핸드폰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타블렛에 설치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프로그램 임의 삭제 불가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출근시 프로그램 자동 실행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퇴근시 자동 해제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GPS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방식의 통제 기능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사내 서버 구축 필요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독자개발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OS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탑재 단말기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차단 불가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(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샤오미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노키아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오포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중국산 폰 등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본사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R&amp;D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적용시점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-. MDM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적용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: 25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VINA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본사 적용후</a:t>
                      </a: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( VINA </a:t>
                      </a:r>
                      <a:r>
                        <a:rPr lang="ko-KR" alt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출퇴근 게이트 설치 필요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23320"/>
                  </a:ext>
                </a:extLst>
              </a:tr>
              <a:tr h="2615731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1200" b="1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fontAlgn="ctr">
                        <a:lnSpc>
                          <a:spcPct val="150000"/>
                        </a:lnSpc>
                        <a:buFontTx/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5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111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470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F7A7A5-7D87-4AC3-818C-71B81A3C0B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1849" y="6356350"/>
            <a:ext cx="2743200" cy="365125"/>
          </a:xfrm>
        </p:spPr>
        <p:txBody>
          <a:bodyPr/>
          <a:lstStyle/>
          <a:p>
            <a:r>
              <a:rPr lang="en-US" altLang="ko-KR" dirty="0"/>
              <a:t>SEGYUNG HITECH  l </a:t>
            </a:r>
            <a:r>
              <a:rPr lang="ko-KR" altLang="en-US" dirty="0"/>
              <a:t> </a:t>
            </a:r>
            <a:fld id="{AB2A6665-3514-4948-8E09-39272CC142E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8EAE1-9C50-4931-8B7C-DAA715F2629B}"/>
              </a:ext>
            </a:extLst>
          </p:cNvPr>
          <p:cNvSpPr txBox="1"/>
          <p:nvPr/>
        </p:nvSpPr>
        <p:spPr>
          <a:xfrm>
            <a:off x="3429829" y="2470256"/>
            <a:ext cx="534911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47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566A15FC-3F58-4611-893F-9C6C01103E04}"/>
              </a:ext>
            </a:extLst>
          </p:cNvPr>
          <p:cNvSpPr/>
          <p:nvPr/>
        </p:nvSpPr>
        <p:spPr>
          <a:xfrm rot="8100000">
            <a:off x="9101989" y="4900168"/>
            <a:ext cx="4596985" cy="233745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2" descr="주)세경하이테크 2021년 기업정보 | 사원수 187명, 근무환경, 복리후생 등 기업정보 제공 - 사람인">
            <a:extLst>
              <a:ext uri="{FF2B5EF4-FFF2-40B4-BE49-F238E27FC236}">
                <a16:creationId xmlns:a16="http://schemas.microsoft.com/office/drawing/2014/main" id="{C181DAE8-3C41-41D9-A0DF-2574D4E75B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17"/>
          <a:stretch/>
        </p:blipFill>
        <p:spPr bwMode="auto">
          <a:xfrm>
            <a:off x="10479172" y="5546789"/>
            <a:ext cx="1321934" cy="9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7908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47429</TotalTime>
  <Words>1955</Words>
  <Application>Microsoft Office PowerPoint</Application>
  <PresentationFormat>와이드스크린</PresentationFormat>
  <Paragraphs>450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굴림체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영업팀</dc:creator>
  <cp:lastModifiedBy>TFOX</cp:lastModifiedBy>
  <cp:revision>1024</cp:revision>
  <cp:lastPrinted>2024-12-10T06:26:26Z</cp:lastPrinted>
  <dcterms:created xsi:type="dcterms:W3CDTF">2021-08-02T07:10:03Z</dcterms:created>
  <dcterms:modified xsi:type="dcterms:W3CDTF">2025-02-18T01:49:08Z</dcterms:modified>
</cp:coreProperties>
</file>