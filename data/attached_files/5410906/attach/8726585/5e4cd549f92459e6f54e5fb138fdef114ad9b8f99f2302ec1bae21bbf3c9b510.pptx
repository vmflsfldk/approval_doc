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08" r:id="rId2"/>
    <p:sldId id="4031" r:id="rId3"/>
    <p:sldId id="1690" r:id="rId4"/>
    <p:sldId id="4032" r:id="rId5"/>
    <p:sldId id="4033" r:id="rId6"/>
    <p:sldId id="4034" r:id="rId7"/>
    <p:sldId id="277" r:id="rId8"/>
  </p:sldIdLst>
  <p:sldSz cx="12192000" cy="6858000"/>
  <p:notesSz cx="6815138" cy="99472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75443"/>
    <a:srgbClr val="CFCFCF"/>
    <a:srgbClr val="DEDEDE"/>
    <a:srgbClr val="009296"/>
    <a:srgbClr val="EDEDED"/>
    <a:srgbClr val="E7E7E7"/>
    <a:srgbClr val="F2F2F2"/>
    <a:srgbClr val="3B4B5F"/>
    <a:srgbClr val="4058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3" autoAdjust="0"/>
    <p:restoredTop sz="94614" autoAdjust="0"/>
  </p:normalViewPr>
  <p:slideViewPr>
    <p:cSldViewPr snapToGrid="0">
      <p:cViewPr varScale="1">
        <p:scale>
          <a:sx n="110" d="100"/>
          <a:sy n="110" d="100"/>
        </p:scale>
        <p:origin x="90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463208D-54E3-47D6-81F3-811465471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2953227" cy="499091"/>
          </a:xfrm>
          <a:prstGeom prst="rect">
            <a:avLst/>
          </a:prstGeom>
        </p:spPr>
        <p:txBody>
          <a:bodyPr vert="horz" lIns="91678" tIns="45839" rIns="91678" bIns="4583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4BA11-92D9-448D-ABDB-5E7FB0340E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60334" y="2"/>
            <a:ext cx="2953227" cy="499091"/>
          </a:xfrm>
          <a:prstGeom prst="rect">
            <a:avLst/>
          </a:prstGeom>
        </p:spPr>
        <p:txBody>
          <a:bodyPr vert="horz" lIns="91678" tIns="45839" rIns="91678" bIns="45839" rtlCol="0"/>
          <a:lstStyle>
            <a:lvl1pPr algn="r">
              <a:defRPr sz="1200"/>
            </a:lvl1pPr>
          </a:lstStyle>
          <a:p>
            <a:fld id="{B80EE26C-51DA-4DAF-A168-3A71E27B6D3D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13F8B7-0556-4AF8-ADD8-E39F567F6C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8186"/>
            <a:ext cx="2953227" cy="499091"/>
          </a:xfrm>
          <a:prstGeom prst="rect">
            <a:avLst/>
          </a:prstGeom>
        </p:spPr>
        <p:txBody>
          <a:bodyPr vert="horz" lIns="91678" tIns="45839" rIns="91678" bIns="4583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2EC5AC-1669-414C-884C-297003091C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60334" y="9448186"/>
            <a:ext cx="2953227" cy="499091"/>
          </a:xfrm>
          <a:prstGeom prst="rect">
            <a:avLst/>
          </a:prstGeom>
        </p:spPr>
        <p:txBody>
          <a:bodyPr vert="horz" lIns="91678" tIns="45839" rIns="91678" bIns="45839" rtlCol="0" anchor="b"/>
          <a:lstStyle>
            <a:lvl1pPr algn="r">
              <a:defRPr sz="1200"/>
            </a:lvl1pPr>
          </a:lstStyle>
          <a:p>
            <a:fld id="{8C46F0D7-2F1C-432C-8DCB-605A26590E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653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53227" cy="499091"/>
          </a:xfrm>
          <a:prstGeom prst="rect">
            <a:avLst/>
          </a:prstGeom>
        </p:spPr>
        <p:txBody>
          <a:bodyPr vert="horz" lIns="91678" tIns="45839" rIns="91678" bIns="4583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60334" y="2"/>
            <a:ext cx="2953227" cy="499091"/>
          </a:xfrm>
          <a:prstGeom prst="rect">
            <a:avLst/>
          </a:prstGeom>
        </p:spPr>
        <p:txBody>
          <a:bodyPr vert="horz" lIns="91678" tIns="45839" rIns="91678" bIns="45839" rtlCol="0"/>
          <a:lstStyle>
            <a:lvl1pPr algn="r">
              <a:defRPr sz="1200"/>
            </a:lvl1pPr>
          </a:lstStyle>
          <a:p>
            <a:fld id="{EE70301D-BD39-4B7A-85F3-950C031BB8F1}" type="datetimeFigureOut">
              <a:rPr lang="ko-KR" altLang="en-US" smtClean="0"/>
              <a:t>2024-07-12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4600"/>
            <a:ext cx="5964238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78" tIns="45839" rIns="91678" bIns="4583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515" y="4787129"/>
            <a:ext cx="5452110" cy="3916739"/>
          </a:xfrm>
          <a:prstGeom prst="rect">
            <a:avLst/>
          </a:prstGeom>
        </p:spPr>
        <p:txBody>
          <a:bodyPr vert="horz" lIns="91678" tIns="45839" rIns="91678" bIns="45839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8186"/>
            <a:ext cx="2953227" cy="499091"/>
          </a:xfrm>
          <a:prstGeom prst="rect">
            <a:avLst/>
          </a:prstGeom>
        </p:spPr>
        <p:txBody>
          <a:bodyPr vert="horz" lIns="91678" tIns="45839" rIns="91678" bIns="4583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60334" y="9448186"/>
            <a:ext cx="2953227" cy="499091"/>
          </a:xfrm>
          <a:prstGeom prst="rect">
            <a:avLst/>
          </a:prstGeom>
        </p:spPr>
        <p:txBody>
          <a:bodyPr vert="horz" lIns="91678" tIns="45839" rIns="91678" bIns="45839" rtlCol="0" anchor="b"/>
          <a:lstStyle>
            <a:lvl1pPr algn="r">
              <a:defRPr sz="1200"/>
            </a:lvl1pPr>
          </a:lstStyle>
          <a:p>
            <a:fld id="{068BF6EB-4656-4A42-A8B3-0125CF75F3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418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BF6EB-4656-4A42-A8B3-0125CF75F3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86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 shadeToTitle="1">
        <a:gradFill flip="none" rotWithShape="1">
          <a:gsLst>
            <a:gs pos="0">
              <a:schemeClr val="bg1">
                <a:lumMod val="95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잘린 대각선 방향 모서리 31">
            <a:extLst>
              <a:ext uri="{FF2B5EF4-FFF2-40B4-BE49-F238E27FC236}">
                <a16:creationId xmlns:a16="http://schemas.microsoft.com/office/drawing/2014/main" id="{7649CA9F-CAB9-4A1A-90DC-0C8163EA8989}"/>
              </a:ext>
            </a:extLst>
          </p:cNvPr>
          <p:cNvSpPr/>
          <p:nvPr userDrawn="1"/>
        </p:nvSpPr>
        <p:spPr>
          <a:xfrm>
            <a:off x="2038350" y="1821301"/>
            <a:ext cx="8124826" cy="2684462"/>
          </a:xfrm>
          <a:prstGeom prst="snip2DiagRect">
            <a:avLst>
              <a:gd name="adj1" fmla="val 0"/>
              <a:gd name="adj2" fmla="val 34384"/>
            </a:avLst>
          </a:prstGeom>
          <a:solidFill>
            <a:schemeClr val="bg1">
              <a:lumMod val="95000"/>
            </a:schemeClr>
          </a:solidFill>
          <a:ln w="127000" cap="sq">
            <a:gradFill>
              <a:gsLst>
                <a:gs pos="0">
                  <a:schemeClr val="accent3">
                    <a:lumMod val="40000"/>
                    <a:lumOff val="60000"/>
                    <a:alpha val="50000"/>
                  </a:schemeClr>
                </a:gs>
                <a:gs pos="74000">
                  <a:schemeClr val="accent3">
                    <a:lumMod val="20000"/>
                    <a:lumOff val="80000"/>
                  </a:schemeClr>
                </a:gs>
                <a:gs pos="83000">
                  <a:schemeClr val="accent3">
                    <a:lumMod val="20000"/>
                    <a:lumOff val="80000"/>
                  </a:schemeClr>
                </a:gs>
                <a:gs pos="100000">
                  <a:schemeClr val="accent3">
                    <a:lumMod val="60000"/>
                    <a:lumOff val="40000"/>
                    <a:alpha val="59000"/>
                  </a:schemeClr>
                </a:gs>
              </a:gsLst>
              <a:lin ang="5400000" scaled="1"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E675A5D-73F0-4345-8C41-D16AE957434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F7595-9A03-4449-9361-A3ECF46FDA65}"/>
              </a:ext>
            </a:extLst>
          </p:cNvPr>
          <p:cNvSpPr/>
          <p:nvPr userDrawn="1"/>
        </p:nvSpPr>
        <p:spPr>
          <a:xfrm rot="10800000">
            <a:off x="0" y="0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 txBox="1">
            <a:spLocks/>
          </p:cNvSpPr>
          <p:nvPr userDrawn="1"/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5BA45A-4289-481B-8909-73EE20B93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SEGYUNG HITECH  l</a:t>
            </a:r>
            <a:r>
              <a:rPr lang="ko-KR" altLang="en-US"/>
              <a:t>  </a:t>
            </a:r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350FEF67-B76B-4CB0-71EE-CE7F6D4E9B21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/>
              <a:t>김종현 차장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558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E675A5D-73F0-4345-8C41-D16AE957434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EF7595-9A03-4449-9361-A3ECF46FDA65}"/>
              </a:ext>
            </a:extLst>
          </p:cNvPr>
          <p:cNvSpPr/>
          <p:nvPr userDrawn="1"/>
        </p:nvSpPr>
        <p:spPr>
          <a:xfrm rot="10800000">
            <a:off x="0" y="0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 txBox="1">
            <a:spLocks/>
          </p:cNvSpPr>
          <p:nvPr userDrawn="1"/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C166B8-75FA-314F-5EE8-1D82377497CB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/>
              <a:t>김종현 차장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5464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 shadeToTitle="1">
        <a:gradFill flip="none" rotWithShape="1">
          <a:gsLst>
            <a:gs pos="0">
              <a:schemeClr val="accent3">
                <a:lumMod val="5000"/>
                <a:lumOff val="95000"/>
                <a:alpha val="60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8B56C3-6A92-4990-B687-42768ABB269F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6563F6-1F31-4467-8C11-6BD9AEA8BE0F}"/>
              </a:ext>
            </a:extLst>
          </p:cNvPr>
          <p:cNvSpPr/>
          <p:nvPr userDrawn="1"/>
        </p:nvSpPr>
        <p:spPr>
          <a:xfrm rot="10800000">
            <a:off x="0" y="0"/>
            <a:ext cx="12192000" cy="13652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74000">
                <a:srgbClr val="009999"/>
              </a:gs>
              <a:gs pos="83000">
                <a:srgbClr val="009999"/>
              </a:gs>
              <a:gs pos="100000">
                <a:srgbClr val="00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2" name="그룹 1"/>
          <p:cNvGrpSpPr/>
          <p:nvPr userDrawn="1"/>
        </p:nvGrpSpPr>
        <p:grpSpPr>
          <a:xfrm>
            <a:off x="8770128" y="6253988"/>
            <a:ext cx="3313922" cy="409343"/>
            <a:chOff x="8770128" y="6215888"/>
            <a:chExt cx="3313922" cy="409343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B8AFE64-8F16-48E8-AE83-FF0BAF7F5046}"/>
                </a:ext>
              </a:extLst>
            </p:cNvPr>
            <p:cNvGrpSpPr/>
            <p:nvPr/>
          </p:nvGrpSpPr>
          <p:grpSpPr>
            <a:xfrm>
              <a:off x="8770128" y="6215888"/>
              <a:ext cx="3267776" cy="409343"/>
              <a:chOff x="117722" y="46910"/>
              <a:chExt cx="2165629" cy="267091"/>
            </a:xfrm>
          </p:grpSpPr>
          <p:pic>
            <p:nvPicPr>
              <p:cNvPr id="15" name="그래픽 5">
                <a:extLst>
                  <a:ext uri="{FF2B5EF4-FFF2-40B4-BE49-F238E27FC236}">
                    <a16:creationId xmlns:a16="http://schemas.microsoft.com/office/drawing/2014/main" id="{8D0D1A31-34CD-438C-A293-8E45ECA1D9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7722" y="46910"/>
                <a:ext cx="298267" cy="190322"/>
              </a:xfrm>
              <a:prstGeom prst="rect">
                <a:avLst/>
              </a:prstGeom>
            </p:spPr>
          </p:pic>
          <p:pic>
            <p:nvPicPr>
              <p:cNvPr id="16" name="그래픽 6">
                <a:extLst>
                  <a:ext uri="{FF2B5EF4-FFF2-40B4-BE49-F238E27FC236}">
                    <a16:creationId xmlns:a16="http://schemas.microsoft.com/office/drawing/2014/main" id="{7646B6B4-7CEA-44C7-9340-3DB2E0E8C1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8727" y="53979"/>
                <a:ext cx="1814624" cy="260022"/>
              </a:xfrm>
              <a:prstGeom prst="rect">
                <a:avLst/>
              </a:prstGeom>
            </p:spPr>
          </p:pic>
        </p:grpSp>
        <p:sp>
          <p:nvSpPr>
            <p:cNvPr id="14" name="직사각형 13"/>
            <p:cNvSpPr/>
            <p:nvPr/>
          </p:nvSpPr>
          <p:spPr>
            <a:xfrm>
              <a:off x="10617200" y="6494874"/>
              <a:ext cx="1466850" cy="130357"/>
            </a:xfrm>
            <a:prstGeom prst="rect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0692850-CB77-0E07-3DB6-43BD01E869CA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/>
              <a:t>김종현 차장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470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 shadeToTitle="1">
        <a:gradFill flip="none" rotWithShape="1">
          <a:gsLst>
            <a:gs pos="0">
              <a:schemeClr val="accent3">
                <a:lumMod val="5000"/>
                <a:lumOff val="95000"/>
                <a:alpha val="60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AAEAF18-B8B4-4B91-9075-48BEA43EFB7F}"/>
              </a:ext>
            </a:extLst>
          </p:cNvPr>
          <p:cNvGrpSpPr/>
          <p:nvPr userDrawn="1"/>
        </p:nvGrpSpPr>
        <p:grpSpPr>
          <a:xfrm>
            <a:off x="-12526" y="-9525"/>
            <a:ext cx="12204525" cy="647703"/>
            <a:chOff x="-12526" y="-9525"/>
            <a:chExt cx="12204525" cy="64770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BBE7039-DBB8-4C4C-96B2-C5247D103483}"/>
                </a:ext>
              </a:extLst>
            </p:cNvPr>
            <p:cNvSpPr/>
            <p:nvPr userDrawn="1"/>
          </p:nvSpPr>
          <p:spPr>
            <a:xfrm>
              <a:off x="-12526" y="-9522"/>
              <a:ext cx="12192000" cy="647700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74000">
                  <a:srgbClr val="009999"/>
                </a:gs>
                <a:gs pos="83000">
                  <a:srgbClr val="009999"/>
                </a:gs>
                <a:gs pos="100000">
                  <a:srgbClr val="00999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/>
                <a:t> </a:t>
              </a:r>
              <a:endParaRPr lang="ko-KR" altLang="en-US"/>
            </a:p>
          </p:txBody>
        </p:sp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36732C21-5F54-432E-9EFF-ED12B1B1D899}"/>
                </a:ext>
              </a:extLst>
            </p:cNvPr>
            <p:cNvSpPr/>
            <p:nvPr userDrawn="1"/>
          </p:nvSpPr>
          <p:spPr>
            <a:xfrm>
              <a:off x="9339259" y="-9525"/>
              <a:ext cx="1552577" cy="647702"/>
            </a:xfrm>
            <a:prstGeom prst="triangl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C598918-880D-420B-A104-D7E39733DB81}"/>
                </a:ext>
              </a:extLst>
            </p:cNvPr>
            <p:cNvSpPr/>
            <p:nvPr userDrawn="1"/>
          </p:nvSpPr>
          <p:spPr>
            <a:xfrm rot="10800000">
              <a:off x="10115549" y="-9525"/>
              <a:ext cx="2076450" cy="64770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3264473-A8C2-4985-8A22-7EF5A5D9F5C8}"/>
              </a:ext>
            </a:extLst>
          </p:cNvPr>
          <p:cNvCxnSpPr/>
          <p:nvPr userDrawn="1"/>
        </p:nvCxnSpPr>
        <p:spPr>
          <a:xfrm>
            <a:off x="338203" y="6743699"/>
            <a:ext cx="1152394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B8AFE64-8F16-48E8-AE83-FF0BAF7F5046}"/>
              </a:ext>
            </a:extLst>
          </p:cNvPr>
          <p:cNvGrpSpPr/>
          <p:nvPr/>
        </p:nvGrpSpPr>
        <p:grpSpPr>
          <a:xfrm>
            <a:off x="9921240" y="226001"/>
            <a:ext cx="2156487" cy="270136"/>
            <a:chOff x="117722" y="46910"/>
            <a:chExt cx="2165629" cy="267091"/>
          </a:xfrm>
        </p:grpSpPr>
        <p:pic>
          <p:nvPicPr>
            <p:cNvPr id="19" name="그래픽 5">
              <a:extLst>
                <a:ext uri="{FF2B5EF4-FFF2-40B4-BE49-F238E27FC236}">
                  <a16:creationId xmlns:a16="http://schemas.microsoft.com/office/drawing/2014/main" id="{8D0D1A31-34CD-438C-A293-8E45ECA1D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722" y="46910"/>
              <a:ext cx="298267" cy="190322"/>
            </a:xfrm>
            <a:prstGeom prst="rect">
              <a:avLst/>
            </a:prstGeom>
          </p:spPr>
        </p:pic>
        <p:pic>
          <p:nvPicPr>
            <p:cNvPr id="20" name="그래픽 6">
              <a:extLst>
                <a:ext uri="{FF2B5EF4-FFF2-40B4-BE49-F238E27FC236}">
                  <a16:creationId xmlns:a16="http://schemas.microsoft.com/office/drawing/2014/main" id="{7646B6B4-7CEA-44C7-9340-3DB2E0E8C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8727" y="53979"/>
              <a:ext cx="1814624" cy="260022"/>
            </a:xfrm>
            <a:prstGeom prst="rect">
              <a:avLst/>
            </a:prstGeom>
          </p:spPr>
        </p:pic>
      </p:grpSp>
      <p:sp>
        <p:nvSpPr>
          <p:cNvPr id="18" name="직사각형 17"/>
          <p:cNvSpPr/>
          <p:nvPr/>
        </p:nvSpPr>
        <p:spPr>
          <a:xfrm>
            <a:off x="11140169" y="410111"/>
            <a:ext cx="968011" cy="8602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9BC6AF4-6B55-04B0-5CB0-11667A48E367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/>
              <a:t>김종현 차장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602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bg>
      <p:bgPr shadeToTitle="1">
        <a:gradFill flip="none" rotWithShape="1">
          <a:gsLst>
            <a:gs pos="0">
              <a:schemeClr val="accent3">
                <a:lumMod val="5000"/>
                <a:lumOff val="95000"/>
                <a:alpha val="60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6797" y="6528988"/>
            <a:ext cx="358405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7A7CB17B-6EF7-9C23-35E2-702910C624A4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/>
              <a:t>김종현 차장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47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gradFill flip="none" rotWithShape="1">
          <a:gsLst>
            <a:gs pos="10000">
              <a:srgbClr val="009999"/>
            </a:gs>
            <a:gs pos="30000">
              <a:srgbClr val="178189"/>
            </a:gs>
            <a:gs pos="100000">
              <a:srgbClr val="44546A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81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3F6B1BEE-1965-8A4C-D6F0-20BC13A9166F}"/>
              </a:ext>
            </a:extLst>
          </p:cNvPr>
          <p:cNvSpPr txBox="1">
            <a:spLocks/>
          </p:cNvSpPr>
          <p:nvPr userDrawn="1"/>
        </p:nvSpPr>
        <p:spPr>
          <a:xfrm>
            <a:off x="1552" y="6501971"/>
            <a:ext cx="2743200" cy="21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/>
              <a:t>작성자 </a:t>
            </a:r>
            <a:r>
              <a:rPr lang="en-US" altLang="ko-KR" dirty="0"/>
              <a:t>: </a:t>
            </a:r>
            <a:r>
              <a:rPr lang="ko-KR" altLang="en-US"/>
              <a:t>김종현 차장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562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  <a:alpha val="60000"/>
              </a:schemeClr>
            </a:gs>
            <a:gs pos="74000">
              <a:schemeClr val="bg1">
                <a:lumMod val="95000"/>
              </a:schemeClr>
            </a:gs>
            <a:gs pos="83000">
              <a:schemeClr val="bg1">
                <a:lumMod val="9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9">
            <a:extLst>
              <a:ext uri="{FF2B5EF4-FFF2-40B4-BE49-F238E27FC236}">
                <a16:creationId xmlns:a16="http://schemas.microsoft.com/office/drawing/2014/main" id="{9894D5EF-168A-4A49-874B-4287F7039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184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SEGYUNG HITECH  l</a:t>
            </a:r>
            <a:r>
              <a:rPr lang="ko-KR" altLang="en-US"/>
              <a:t>  </a:t>
            </a:r>
            <a:fld id="{AB2A6665-3514-4948-8E09-39272CC142E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48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1" r:id="rId3"/>
    <p:sldLayoutId id="2147483650" r:id="rId4"/>
    <p:sldLayoutId id="2147483652" r:id="rId5"/>
    <p:sldLayoutId id="2147483653" r:id="rId6"/>
    <p:sldLayoutId id="2147483655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microsoft.com/office/2007/relationships/hdphoto" Target="../media/hdphoto2.wdp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jpeg"/><Relationship Id="rId17" Type="http://schemas.openxmlformats.org/officeDocument/2006/relationships/image" Target="../media/image23.png"/><Relationship Id="rId2" Type="http://schemas.openxmlformats.org/officeDocument/2006/relationships/image" Target="../media/image9.png"/><Relationship Id="rId16" Type="http://schemas.microsoft.com/office/2007/relationships/hdphoto" Target="../media/hdphoto1.wdp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jpe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4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1F65B5-F925-44F2-8C21-89A0E78C8492}"/>
              </a:ext>
            </a:extLst>
          </p:cNvPr>
          <p:cNvSpPr txBox="1"/>
          <p:nvPr/>
        </p:nvSpPr>
        <p:spPr>
          <a:xfrm>
            <a:off x="2786744" y="2259638"/>
            <a:ext cx="655755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6011" latinLnBrk="0">
              <a:defRPr/>
            </a:pPr>
            <a:r>
              <a:rPr lang="ko-KR" altLang="en-US" sz="3500" b="1" kern="0">
                <a:solidFill>
                  <a:srgbClr val="4BACC6">
                    <a:lumMod val="75000"/>
                  </a:srgbClr>
                </a:solidFill>
                <a:latin typeface="+mn-ea"/>
              </a:rPr>
              <a:t>일반관리 시스템 구축</a:t>
            </a:r>
            <a:endParaRPr lang="en-US" altLang="ko-KR" sz="3500" b="1" kern="0">
              <a:solidFill>
                <a:srgbClr val="4BACC6">
                  <a:lumMod val="75000"/>
                </a:srgbClr>
              </a:solidFill>
              <a:latin typeface="+mn-ea"/>
            </a:endParaRPr>
          </a:p>
          <a:p>
            <a:pPr algn="ctr" defTabSz="456011" latinLnBrk="0">
              <a:defRPr/>
            </a:pPr>
            <a:r>
              <a:rPr lang="en-US" altLang="ko-KR" sz="2800" b="1" kern="0">
                <a:solidFill>
                  <a:srgbClr val="4BACC6">
                    <a:lumMod val="75000"/>
                  </a:srgbClr>
                </a:solidFill>
                <a:latin typeface="+mn-ea"/>
              </a:rPr>
              <a:t>(</a:t>
            </a:r>
            <a:r>
              <a:rPr lang="ko-KR" altLang="en-US" sz="2800" b="1" kern="0">
                <a:solidFill>
                  <a:srgbClr val="4BACC6">
                    <a:lumMod val="75000"/>
                  </a:srgbClr>
                </a:solidFill>
                <a:latin typeface="+mn-ea"/>
              </a:rPr>
              <a:t>인사</a:t>
            </a:r>
            <a:r>
              <a:rPr lang="en-US" altLang="ko-KR" sz="2800" b="1" kern="0">
                <a:solidFill>
                  <a:srgbClr val="4BACC6">
                    <a:lumMod val="75000"/>
                  </a:srgbClr>
                </a:solidFill>
                <a:latin typeface="+mn-ea"/>
              </a:rPr>
              <a:t>,</a:t>
            </a:r>
            <a:r>
              <a:rPr lang="ko-KR" altLang="en-US" sz="2800" b="1" kern="0">
                <a:solidFill>
                  <a:srgbClr val="4BACC6">
                    <a:lumMod val="75000"/>
                  </a:srgbClr>
                </a:solidFill>
                <a:latin typeface="+mn-ea"/>
              </a:rPr>
              <a:t>회계</a:t>
            </a:r>
            <a:r>
              <a:rPr lang="en-US" altLang="ko-KR" sz="2800" b="1" kern="0">
                <a:solidFill>
                  <a:srgbClr val="4BACC6">
                    <a:lumMod val="75000"/>
                  </a:srgbClr>
                </a:solidFill>
                <a:latin typeface="+mn-ea"/>
              </a:rPr>
              <a:t>,</a:t>
            </a:r>
            <a:r>
              <a:rPr lang="ko-KR" altLang="en-US" sz="2800" b="1" kern="0">
                <a:solidFill>
                  <a:srgbClr val="4BACC6">
                    <a:lumMod val="75000"/>
                  </a:srgbClr>
                </a:solidFill>
                <a:latin typeface="+mn-ea"/>
              </a:rPr>
              <a:t>원가</a:t>
            </a:r>
            <a:r>
              <a:rPr lang="en-US" altLang="ko-KR" sz="2800" b="1" kern="0">
                <a:solidFill>
                  <a:srgbClr val="4BACC6">
                    <a:lumMod val="75000"/>
                  </a:srgbClr>
                </a:solidFill>
                <a:latin typeface="+mn-ea"/>
              </a:rPr>
              <a:t>,</a:t>
            </a:r>
            <a:r>
              <a:rPr lang="ko-KR" altLang="en-US" sz="2800" b="1" kern="0">
                <a:solidFill>
                  <a:srgbClr val="4BACC6">
                    <a:lumMod val="75000"/>
                  </a:srgbClr>
                </a:solidFill>
                <a:latin typeface="+mn-ea"/>
              </a:rPr>
              <a:t>구매고도화</a:t>
            </a:r>
            <a:r>
              <a:rPr lang="en-US" altLang="ko-KR" sz="2800" b="1" kern="0">
                <a:solidFill>
                  <a:srgbClr val="4BACC6">
                    <a:lumMod val="75000"/>
                  </a:srgbClr>
                </a:solidFill>
                <a:latin typeface="+mn-ea"/>
              </a:rPr>
              <a:t>)</a:t>
            </a:r>
            <a:endParaRPr lang="ko-KR" altLang="en-US" sz="2800" b="1" kern="0" dirty="0">
              <a:solidFill>
                <a:srgbClr val="4BACC6">
                  <a:lumMod val="75000"/>
                </a:srgbClr>
              </a:solidFill>
              <a:latin typeface="+mn-ea"/>
            </a:endParaRPr>
          </a:p>
        </p:txBody>
      </p:sp>
      <p:sp>
        <p:nvSpPr>
          <p:cNvPr id="8" name="PA_圆角矩形 31">
            <a:extLst>
              <a:ext uri="{FF2B5EF4-FFF2-40B4-BE49-F238E27FC236}">
                <a16:creationId xmlns:a16="http://schemas.microsoft.com/office/drawing/2014/main" id="{F09BFE29-D842-483A-A8E6-A84664628BE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513870" y="3629108"/>
            <a:ext cx="3177617" cy="303063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2024.07.01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8655828" y="6059312"/>
            <a:ext cx="3313922" cy="409343"/>
            <a:chOff x="8655828" y="6059312"/>
            <a:chExt cx="3313922" cy="409343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B8AFE64-8F16-48E8-AE83-FF0BAF7F5046}"/>
                </a:ext>
              </a:extLst>
            </p:cNvPr>
            <p:cNvGrpSpPr/>
            <p:nvPr/>
          </p:nvGrpSpPr>
          <p:grpSpPr>
            <a:xfrm>
              <a:off x="8655828" y="6059312"/>
              <a:ext cx="3267776" cy="409343"/>
              <a:chOff x="117722" y="46910"/>
              <a:chExt cx="2165629" cy="267091"/>
            </a:xfrm>
          </p:grpSpPr>
          <p:pic>
            <p:nvPicPr>
              <p:cNvPr id="5" name="그래픽 5">
                <a:extLst>
                  <a:ext uri="{FF2B5EF4-FFF2-40B4-BE49-F238E27FC236}">
                    <a16:creationId xmlns:a16="http://schemas.microsoft.com/office/drawing/2014/main" id="{8D0D1A31-34CD-438C-A293-8E45ECA1D9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7722" y="46910"/>
                <a:ext cx="298267" cy="190322"/>
              </a:xfrm>
              <a:prstGeom prst="rect">
                <a:avLst/>
              </a:prstGeom>
            </p:spPr>
          </p:pic>
          <p:pic>
            <p:nvPicPr>
              <p:cNvPr id="6" name="그래픽 6">
                <a:extLst>
                  <a:ext uri="{FF2B5EF4-FFF2-40B4-BE49-F238E27FC236}">
                    <a16:creationId xmlns:a16="http://schemas.microsoft.com/office/drawing/2014/main" id="{7646B6B4-7CEA-44C7-9340-3DB2E0E8C1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68727" y="53979"/>
                <a:ext cx="1814624" cy="260022"/>
              </a:xfrm>
              <a:prstGeom prst="rect">
                <a:avLst/>
              </a:prstGeom>
            </p:spPr>
          </p:pic>
        </p:grpSp>
        <p:sp>
          <p:nvSpPr>
            <p:cNvPr id="2" name="직사각형 1"/>
            <p:cNvSpPr/>
            <p:nvPr/>
          </p:nvSpPr>
          <p:spPr>
            <a:xfrm>
              <a:off x="10502900" y="6338298"/>
              <a:ext cx="1466850" cy="130357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4928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84147E-E369-78FA-4C39-AFEA0E1DC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2A6665-3514-4948-8E09-39272CC142EA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FCC0D1C-ABB4-4FC2-8058-BE6290887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93" y="713000"/>
            <a:ext cx="1145130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lang="ko-KR" altLang="en-US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부서간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 정보를 같이 공유하는 효율적인 업무처리와 </a:t>
            </a:r>
            <a:r>
              <a:rPr lang="ko-KR" altLang="en-US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관리를 위해</a:t>
            </a:r>
            <a:endParaRPr lang="en-US" altLang="ko-KR" sz="2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lang="en-US" altLang="ko-KR" sz="200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단계로 </a:t>
            </a:r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ERP/MES </a:t>
            </a:r>
            <a:r>
              <a:rPr lang="ko-KR" altLang="en-US" sz="200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</a:t>
            </a:r>
            <a:r>
              <a:rPr lang="ko-KR" altLang="en-US" sz="2000">
                <a:latin typeface="맑은 고딕" panose="020B0503020000020004" pitchFamily="50" charset="-127"/>
                <a:ea typeface="맑은 고딕" panose="020B0503020000020004" pitchFamily="50" charset="-127"/>
              </a:rPr>
              <a:t>하였고 </a:t>
            </a:r>
            <a:r>
              <a:rPr lang="en-US" altLang="ko-KR" sz="20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고도화로 일반관리</a:t>
            </a:r>
            <a:r>
              <a:rPr lang="en-US" altLang="ko-KR" sz="20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인사</a:t>
            </a:r>
            <a:r>
              <a:rPr lang="en-US" altLang="ko-KR" sz="20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</a:t>
            </a:r>
            <a:r>
              <a:rPr lang="en-US" altLang="ko-KR" sz="20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원가</a:t>
            </a:r>
            <a:r>
              <a:rPr lang="en-US" altLang="ko-KR" sz="20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20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</a:t>
            </a:r>
            <a:endParaRPr lang="ko-KR" altLang="en-US" sz="20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오각형 81">
            <a:extLst>
              <a:ext uri="{FF2B5EF4-FFF2-40B4-BE49-F238E27FC236}">
                <a16:creationId xmlns:a16="http://schemas.microsoft.com/office/drawing/2014/main" id="{52D81C21-22D7-4DA5-A58E-705292A831E3}"/>
              </a:ext>
            </a:extLst>
          </p:cNvPr>
          <p:cNvSpPr/>
          <p:nvPr/>
        </p:nvSpPr>
        <p:spPr>
          <a:xfrm>
            <a:off x="7355719" y="4770005"/>
            <a:ext cx="1800000" cy="1008000"/>
          </a:xfrm>
          <a:prstGeom prst="homePlate">
            <a:avLst>
              <a:gd name="adj" fmla="val 27939"/>
            </a:avLst>
          </a:prstGeom>
          <a:solidFill>
            <a:srgbClr val="1C3C62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ts val="200"/>
              </a:spcBef>
            </a:pPr>
            <a:r>
              <a:rPr lang="ko-KR" altLang="en-US" sz="14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효율적이고 합리적인</a:t>
            </a:r>
            <a:endParaRPr lang="en-US" altLang="ko-KR" sz="1400" dirty="0">
              <a:solidFill>
                <a:srgbClr val="00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spcBef>
                <a:spcPts val="200"/>
              </a:spcBef>
            </a:pPr>
            <a:r>
              <a:rPr lang="en-US" altLang="ko-KR" sz="14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Infra</a:t>
            </a:r>
            <a:r>
              <a:rPr lang="ko-KR" altLang="en-US" sz="14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구축</a:t>
            </a:r>
            <a:endParaRPr lang="en-US" altLang="ko-KR" sz="1400" dirty="0">
              <a:solidFill>
                <a:srgbClr val="00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spcBef>
                <a:spcPts val="200"/>
              </a:spcBef>
            </a:pP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(Smart Factory</a:t>
            </a:r>
            <a:r>
              <a:rPr lang="ko-KR" altLang="en-US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환경</a:t>
            </a: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오각형 95">
            <a:extLst>
              <a:ext uri="{FF2B5EF4-FFF2-40B4-BE49-F238E27FC236}">
                <a16:creationId xmlns:a16="http://schemas.microsoft.com/office/drawing/2014/main" id="{ECFC2F1C-FE52-4B57-9910-EE3674CC392E}"/>
              </a:ext>
            </a:extLst>
          </p:cNvPr>
          <p:cNvSpPr/>
          <p:nvPr/>
        </p:nvSpPr>
        <p:spPr>
          <a:xfrm>
            <a:off x="7355719" y="3470616"/>
            <a:ext cx="1800000" cy="1008000"/>
          </a:xfrm>
          <a:prstGeom prst="homePlate">
            <a:avLst>
              <a:gd name="adj" fmla="val 28935"/>
            </a:avLst>
          </a:prstGeom>
          <a:solidFill>
            <a:srgbClr val="1C3C62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ts val="200"/>
              </a:spcBef>
            </a:pPr>
            <a:r>
              <a:rPr lang="ko-KR" altLang="en-US" sz="14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효율적인 운영 시스템 환경 구축</a:t>
            </a:r>
            <a:endParaRPr lang="en-US" altLang="ko-KR" sz="1400" dirty="0">
              <a:solidFill>
                <a:srgbClr val="00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spcBef>
                <a:spcPts val="200"/>
              </a:spcBef>
            </a:pPr>
            <a:r>
              <a:rPr lang="en-US" altLang="ko-KR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관리와 실행 통합</a:t>
            </a:r>
            <a:r>
              <a:rPr lang="en-US" altLang="ko-KR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오각형 99">
            <a:extLst>
              <a:ext uri="{FF2B5EF4-FFF2-40B4-BE49-F238E27FC236}">
                <a16:creationId xmlns:a16="http://schemas.microsoft.com/office/drawing/2014/main" id="{EB09165E-4B20-4D2D-9013-2BA87061E362}"/>
              </a:ext>
            </a:extLst>
          </p:cNvPr>
          <p:cNvSpPr/>
          <p:nvPr/>
        </p:nvSpPr>
        <p:spPr>
          <a:xfrm>
            <a:off x="7355719" y="2171226"/>
            <a:ext cx="1800000" cy="1008000"/>
          </a:xfrm>
          <a:prstGeom prst="homePlate">
            <a:avLst>
              <a:gd name="adj" fmla="val 27938"/>
            </a:avLst>
          </a:prstGeom>
          <a:solidFill>
            <a:srgbClr val="1C3C62"/>
          </a:solidFill>
          <a:ln w="63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spcBef>
                <a:spcPts val="200"/>
              </a:spcBef>
            </a:pPr>
            <a:r>
              <a:rPr lang="ko-KR" altLang="en-US" sz="1400" dirty="0">
                <a:solidFill>
                  <a:srgbClr val="00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체계 구축</a:t>
            </a:r>
            <a:endParaRPr lang="en-US" altLang="ko-KR" sz="1400" dirty="0">
              <a:solidFill>
                <a:srgbClr val="00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spcBef>
                <a:spcPts val="200"/>
              </a:spcBef>
            </a:pPr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(ERP/MES</a:t>
            </a:r>
            <a:r>
              <a:rPr lang="ko-KR" altLang="en-US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기반의 연동 프로세스</a:t>
            </a:r>
            <a:r>
              <a:rPr lang="en-US" altLang="ko-KR" sz="1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646BEE2-E38F-43D2-AED5-94597A02B8F9}"/>
              </a:ext>
            </a:extLst>
          </p:cNvPr>
          <p:cNvCxnSpPr>
            <a:cxnSpLocks/>
            <a:stCxn id="5" idx="3"/>
            <a:endCxn id="33" idx="2"/>
          </p:cNvCxnSpPr>
          <p:nvPr/>
        </p:nvCxnSpPr>
        <p:spPr>
          <a:xfrm flipV="1">
            <a:off x="9155719" y="3973036"/>
            <a:ext cx="538188" cy="15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105">
            <a:extLst>
              <a:ext uri="{FF2B5EF4-FFF2-40B4-BE49-F238E27FC236}">
                <a16:creationId xmlns:a16="http://schemas.microsoft.com/office/drawing/2014/main" id="{7AC3D23A-1B3D-498C-A7A2-2ABD0833AE89}"/>
              </a:ext>
            </a:extLst>
          </p:cNvPr>
          <p:cNvCxnSpPr>
            <a:cxnSpLocks/>
            <a:stCxn id="6" idx="3"/>
            <a:endCxn id="33" idx="2"/>
          </p:cNvCxnSpPr>
          <p:nvPr/>
        </p:nvCxnSpPr>
        <p:spPr>
          <a:xfrm>
            <a:off x="9155719" y="2675226"/>
            <a:ext cx="538188" cy="1297810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106">
            <a:extLst>
              <a:ext uri="{FF2B5EF4-FFF2-40B4-BE49-F238E27FC236}">
                <a16:creationId xmlns:a16="http://schemas.microsoft.com/office/drawing/2014/main" id="{5215230E-DAFA-476B-B08B-1CD245065C25}"/>
              </a:ext>
            </a:extLst>
          </p:cNvPr>
          <p:cNvCxnSpPr>
            <a:cxnSpLocks/>
            <a:stCxn id="4" idx="3"/>
            <a:endCxn id="33" idx="2"/>
          </p:cNvCxnSpPr>
          <p:nvPr/>
        </p:nvCxnSpPr>
        <p:spPr>
          <a:xfrm flipV="1">
            <a:off x="9155719" y="3973036"/>
            <a:ext cx="538188" cy="130096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십자형 9">
            <a:extLst>
              <a:ext uri="{FF2B5EF4-FFF2-40B4-BE49-F238E27FC236}">
                <a16:creationId xmlns:a16="http://schemas.microsoft.com/office/drawing/2014/main" id="{17DEBCC1-D120-4C9B-A6C6-332B21061978}"/>
              </a:ext>
            </a:extLst>
          </p:cNvPr>
          <p:cNvSpPr>
            <a:spLocks noChangeAspect="1"/>
          </p:cNvSpPr>
          <p:nvPr/>
        </p:nvSpPr>
        <p:spPr>
          <a:xfrm>
            <a:off x="6571732" y="3227010"/>
            <a:ext cx="180000" cy="180000"/>
          </a:xfrm>
          <a:prstGeom prst="plus">
            <a:avLst>
              <a:gd name="adj" fmla="val 37529"/>
            </a:avLst>
          </a:prstGeom>
          <a:solidFill>
            <a:schemeClr val="accent1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십자형 10">
            <a:extLst>
              <a:ext uri="{FF2B5EF4-FFF2-40B4-BE49-F238E27FC236}">
                <a16:creationId xmlns:a16="http://schemas.microsoft.com/office/drawing/2014/main" id="{F93EF947-9D47-4638-8984-D030781F5FF0}"/>
              </a:ext>
            </a:extLst>
          </p:cNvPr>
          <p:cNvSpPr>
            <a:spLocks noChangeAspect="1"/>
          </p:cNvSpPr>
          <p:nvPr/>
        </p:nvSpPr>
        <p:spPr>
          <a:xfrm>
            <a:off x="6571732" y="4551811"/>
            <a:ext cx="180000" cy="180000"/>
          </a:xfrm>
          <a:prstGeom prst="plus">
            <a:avLst>
              <a:gd name="adj" fmla="val 37529"/>
            </a:avLst>
          </a:prstGeom>
          <a:solidFill>
            <a:schemeClr val="accent1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E369AB4-5EC9-4BDD-AA51-9B4E189034BE}"/>
              </a:ext>
            </a:extLst>
          </p:cNvPr>
          <p:cNvCxnSpPr>
            <a:stCxn id="20" idx="3"/>
            <a:endCxn id="5" idx="1"/>
          </p:cNvCxnSpPr>
          <p:nvPr/>
        </p:nvCxnSpPr>
        <p:spPr>
          <a:xfrm>
            <a:off x="7171424" y="3974616"/>
            <a:ext cx="1842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442F7BC-FB7D-47DB-BBE1-2788B5CCE6B8}"/>
              </a:ext>
            </a:extLst>
          </p:cNvPr>
          <p:cNvCxnSpPr>
            <a:stCxn id="19" idx="3"/>
            <a:endCxn id="6" idx="1"/>
          </p:cNvCxnSpPr>
          <p:nvPr/>
        </p:nvCxnSpPr>
        <p:spPr>
          <a:xfrm>
            <a:off x="7171424" y="2675226"/>
            <a:ext cx="1842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FB7A879-7F48-40A4-8B55-C977A4B696BD}"/>
              </a:ext>
            </a:extLst>
          </p:cNvPr>
          <p:cNvCxnSpPr>
            <a:stCxn id="21" idx="3"/>
            <a:endCxn id="4" idx="1"/>
          </p:cNvCxnSpPr>
          <p:nvPr/>
        </p:nvCxnSpPr>
        <p:spPr>
          <a:xfrm>
            <a:off x="7185581" y="5274005"/>
            <a:ext cx="1701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F8CE2E82-1C60-4AC1-916E-897C65522EC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49012" y="2652459"/>
            <a:ext cx="658677" cy="2652059"/>
          </a:xfrm>
          <a:prstGeom prst="rect">
            <a:avLst/>
          </a:prstGeom>
        </p:spPr>
      </p:pic>
      <p:sp>
        <p:nvSpPr>
          <p:cNvPr id="16" name="Rectangle 8">
            <a:extLst>
              <a:ext uri="{FF2B5EF4-FFF2-40B4-BE49-F238E27FC236}">
                <a16:creationId xmlns:a16="http://schemas.microsoft.com/office/drawing/2014/main" id="{3A954C93-6455-470C-B6A0-6B82E7E652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92128" y="1749099"/>
            <a:ext cx="946262" cy="216000"/>
          </a:xfrm>
          <a:prstGeom prst="rect">
            <a:avLst/>
          </a:prstGeom>
          <a:noFill/>
          <a:ln w="3175">
            <a:noFill/>
            <a:miter lim="800000"/>
            <a:headEnd type="none" w="sm" len="sm"/>
            <a:tailEnd type="none" w="med" len="sm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en-US" sz="1400" b="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시사점</a:t>
            </a:r>
            <a:endParaRPr kumimoji="0" lang="en-US" altLang="ko-KR" sz="1400" b="0" u="sng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00B70044-E6B9-4574-94E0-5F56EFC526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83120" y="1749099"/>
            <a:ext cx="1385423" cy="216000"/>
          </a:xfrm>
          <a:prstGeom prst="rect">
            <a:avLst/>
          </a:prstGeom>
          <a:noFill/>
          <a:ln w="3175">
            <a:noFill/>
            <a:miter lim="800000"/>
            <a:headEnd type="none" w="sm" len="sm"/>
            <a:tailEnd type="none" w="med" len="sm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en-US" sz="1400" b="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 방향</a:t>
            </a:r>
            <a:endParaRPr kumimoji="0" lang="en-US" altLang="ko-KR" sz="1400" b="0" u="sng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219FB8BF-1046-46A8-9A55-D61FAEAB53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9710789" y="1749099"/>
            <a:ext cx="1040888" cy="216000"/>
          </a:xfrm>
          <a:prstGeom prst="rect">
            <a:avLst/>
          </a:prstGeom>
          <a:noFill/>
          <a:ln w="3175">
            <a:noFill/>
            <a:miter lim="800000"/>
            <a:headEnd type="none" w="sm" len="sm"/>
            <a:tailEnd type="none" w="med" len="sm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en-US" sz="14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 표</a:t>
            </a:r>
            <a:endParaRPr kumimoji="0" lang="en-US" altLang="ko-KR" sz="1400" b="1" u="sng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모서리가 둥근 직사각형 116">
            <a:extLst>
              <a:ext uri="{FF2B5EF4-FFF2-40B4-BE49-F238E27FC236}">
                <a16:creationId xmlns:a16="http://schemas.microsoft.com/office/drawing/2014/main" id="{CB6D6C81-DFFE-415A-9106-B79275497492}"/>
              </a:ext>
            </a:extLst>
          </p:cNvPr>
          <p:cNvSpPr/>
          <p:nvPr/>
        </p:nvSpPr>
        <p:spPr>
          <a:xfrm>
            <a:off x="6020727" y="2405226"/>
            <a:ext cx="1150697" cy="540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프로세스 개선</a:t>
            </a:r>
          </a:p>
        </p:txBody>
      </p:sp>
      <p:sp>
        <p:nvSpPr>
          <p:cNvPr id="20" name="모서리가 둥근 직사각형 117">
            <a:extLst>
              <a:ext uri="{FF2B5EF4-FFF2-40B4-BE49-F238E27FC236}">
                <a16:creationId xmlns:a16="http://schemas.microsoft.com/office/drawing/2014/main" id="{796FBF28-4964-44C2-B2EC-DA0E9534F7DA}"/>
              </a:ext>
            </a:extLst>
          </p:cNvPr>
          <p:cNvSpPr/>
          <p:nvPr/>
        </p:nvSpPr>
        <p:spPr>
          <a:xfrm>
            <a:off x="6020727" y="3704616"/>
            <a:ext cx="1150697" cy="540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최적의 플랫폼 구축</a:t>
            </a:r>
          </a:p>
        </p:txBody>
      </p:sp>
      <p:sp>
        <p:nvSpPr>
          <p:cNvPr id="21" name="모서리가 둥근 직사각형 118">
            <a:extLst>
              <a:ext uri="{FF2B5EF4-FFF2-40B4-BE49-F238E27FC236}">
                <a16:creationId xmlns:a16="http://schemas.microsoft.com/office/drawing/2014/main" id="{05598E3F-DAAF-4DD1-9D0D-DFCFAA6E9229}"/>
              </a:ext>
            </a:extLst>
          </p:cNvPr>
          <p:cNvSpPr/>
          <p:nvPr/>
        </p:nvSpPr>
        <p:spPr>
          <a:xfrm>
            <a:off x="6034884" y="5004005"/>
            <a:ext cx="1150697" cy="540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Smart Factory </a:t>
            </a:r>
            <a:r>
              <a:rPr lang="ko-KR" altLang="en-US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인프라 구축</a:t>
            </a:r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E89B3668-16A5-4222-B51B-01356B6DD3D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78815" y="1749099"/>
            <a:ext cx="2956033" cy="216000"/>
          </a:xfrm>
          <a:prstGeom prst="rect">
            <a:avLst/>
          </a:prstGeom>
          <a:noFill/>
          <a:ln w="3175">
            <a:noFill/>
            <a:miter lim="800000"/>
            <a:headEnd type="none" w="sm" len="sm"/>
            <a:tailEnd type="none" w="med" len="sm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en-US" sz="1400" b="0" u="sng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현황</a:t>
            </a:r>
            <a:endParaRPr kumimoji="0" lang="en-US" altLang="ko-KR" sz="1400" b="0" u="sng" baseline="200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44E9F02-FA9C-40C3-8C4E-289C11BCC824}"/>
              </a:ext>
            </a:extLst>
          </p:cNvPr>
          <p:cNvGrpSpPr/>
          <p:nvPr/>
        </p:nvGrpSpPr>
        <p:grpSpPr>
          <a:xfrm>
            <a:off x="1263318" y="2115040"/>
            <a:ext cx="4303030" cy="1800000"/>
            <a:chOff x="361144" y="2114140"/>
            <a:chExt cx="4303030" cy="180000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6D96DB8-8976-4536-B882-2E5B900C92D2}"/>
                </a:ext>
              </a:extLst>
            </p:cNvPr>
            <p:cNvSpPr/>
            <p:nvPr/>
          </p:nvSpPr>
          <p:spPr>
            <a:xfrm>
              <a:off x="1624861" y="2114140"/>
              <a:ext cx="3039313" cy="1800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B96B492A-64B7-482D-97A5-7B9C5D6CE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144" y="2114140"/>
              <a:ext cx="1263717" cy="1176918"/>
            </a:xfrm>
            <a:prstGeom prst="rect">
              <a:avLst/>
            </a:prstGeom>
          </p:spPr>
        </p:pic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0C39657-AB70-4EEE-A5AC-AEF2993D7B30}"/>
                </a:ext>
              </a:extLst>
            </p:cNvPr>
            <p:cNvSpPr/>
            <p:nvPr/>
          </p:nvSpPr>
          <p:spPr>
            <a:xfrm>
              <a:off x="361144" y="3291059"/>
              <a:ext cx="1279593" cy="62308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관리적 측면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5BB872D-8B34-4E85-B187-B1056357AD74}"/>
                </a:ext>
              </a:extLst>
            </p:cNvPr>
            <p:cNvSpPr/>
            <p:nvPr/>
          </p:nvSpPr>
          <p:spPr>
            <a:xfrm>
              <a:off x="1655981" y="2189848"/>
              <a:ext cx="3008193" cy="1657057"/>
            </a:xfrm>
            <a:prstGeom prst="rect">
              <a:avLst/>
            </a:prstGeom>
          </p:spPr>
          <p:txBody>
            <a:bodyPr wrap="square" lIns="36000" tIns="0" rIns="0" bIns="0">
              <a:spAutoFit/>
            </a:bodyPr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 latinLnBrk="0">
                <a:lnSpc>
                  <a:spcPct val="150000"/>
                </a:lnSpc>
                <a:spcBef>
                  <a:spcPts val="600"/>
                </a:spcBef>
                <a:buClr>
                  <a:srgbClr val="0070C0"/>
                </a:buClr>
                <a:buFont typeface="Arial" panose="020B0604020202020204" pitchFamily="34" charset="0"/>
                <a:buChar char="•"/>
              </a:pP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지속적 성장을 위한 </a:t>
              </a:r>
              <a:r>
                <a:rPr lang="ko-KR" altLang="en-US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 프로세스</a:t>
              </a:r>
              <a:endParaRPr lang="en-US" altLang="ko-KR" sz="12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latinLnBrk="0">
                <a:lnSpc>
                  <a:spcPct val="150000"/>
                </a:lnSpc>
                <a:spcBef>
                  <a:spcPts val="600"/>
                </a:spcBef>
                <a:buClr>
                  <a:srgbClr val="0070C0"/>
                </a:buClr>
              </a:pPr>
              <a:r>
                <a:rPr lang="en-US" altLang="ko-KR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재정리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필요</a:t>
              </a:r>
              <a:endPara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latinLnBrk="0">
                <a:lnSpc>
                  <a:spcPct val="150000"/>
                </a:lnSpc>
                <a:spcBef>
                  <a:spcPts val="600"/>
                </a:spcBef>
                <a:buClr>
                  <a:srgbClr val="0070C0"/>
                </a:buClr>
                <a:buFont typeface="Arial" panose="020B0604020202020204" pitchFamily="34" charset="0"/>
                <a:buChar char="•"/>
              </a:pP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전사 프로세스와 </a:t>
              </a: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Data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공유 및 통합</a:t>
              </a:r>
              <a:endPara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latinLnBrk="0">
                <a:lnSpc>
                  <a:spcPct val="150000"/>
                </a:lnSpc>
                <a:spcBef>
                  <a:spcPts val="600"/>
                </a:spcBef>
                <a:buClr>
                  <a:srgbClr val="0070C0"/>
                </a:buClr>
                <a:buFont typeface="Arial" panose="020B0604020202020204" pitchFamily="34" charset="0"/>
                <a:buChar char="•"/>
              </a:pP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 </a:t>
              </a:r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Data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활용도 향상 필요</a:t>
              </a:r>
              <a:endPara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latinLnBrk="0">
                <a:lnSpc>
                  <a:spcPct val="150000"/>
                </a:lnSpc>
                <a:spcBef>
                  <a:spcPts val="600"/>
                </a:spcBef>
                <a:buClr>
                  <a:srgbClr val="0070C0"/>
                </a:buClr>
                <a:buFont typeface="Arial" panose="020B0604020202020204" pitchFamily="34" charset="0"/>
                <a:buChar char="•"/>
              </a:pPr>
              <a:r>
                <a:rPr lang="ko-KR" altLang="en-US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업무별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프로세스 개선 및 정리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61D66E4-5646-406B-A2FD-C912C8D45ABA}"/>
              </a:ext>
            </a:extLst>
          </p:cNvPr>
          <p:cNvGrpSpPr/>
          <p:nvPr/>
        </p:nvGrpSpPr>
        <p:grpSpPr>
          <a:xfrm>
            <a:off x="1263069" y="4161407"/>
            <a:ext cx="4303030" cy="1800000"/>
            <a:chOff x="361144" y="2114858"/>
            <a:chExt cx="4303030" cy="1800000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56881BC-582A-442A-8BBE-A99422563771}"/>
                </a:ext>
              </a:extLst>
            </p:cNvPr>
            <p:cNvSpPr/>
            <p:nvPr/>
          </p:nvSpPr>
          <p:spPr>
            <a:xfrm>
              <a:off x="1624861" y="2114858"/>
              <a:ext cx="3039313" cy="1800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345B5AF-0A11-4146-B56B-32DA94E3C209}"/>
                </a:ext>
              </a:extLst>
            </p:cNvPr>
            <p:cNvSpPr/>
            <p:nvPr/>
          </p:nvSpPr>
          <p:spPr>
            <a:xfrm>
              <a:off x="361144" y="3291059"/>
              <a:ext cx="1279593" cy="623081"/>
            </a:xfrm>
            <a:prstGeom prst="rect">
              <a:avLst/>
            </a:prstGeom>
            <a:solidFill>
              <a:srgbClr val="27282D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 시스템 측면 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C52F063-DE1C-4F70-880E-72CF38377C7D}"/>
                </a:ext>
              </a:extLst>
            </p:cNvPr>
            <p:cNvSpPr/>
            <p:nvPr/>
          </p:nvSpPr>
          <p:spPr>
            <a:xfrm>
              <a:off x="1655981" y="2256048"/>
              <a:ext cx="3008193" cy="1503168"/>
            </a:xfrm>
            <a:prstGeom prst="rect">
              <a:avLst/>
            </a:prstGeom>
          </p:spPr>
          <p:txBody>
            <a:bodyPr wrap="square" lIns="36000" tIns="0" rIns="0" bIns="0">
              <a:spAutoFit/>
            </a:bodyPr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 latinLnBrk="0">
                <a:lnSpc>
                  <a:spcPct val="150000"/>
                </a:lnSpc>
                <a:spcBef>
                  <a:spcPts val="600"/>
                </a:spcBef>
                <a:buClr>
                  <a:srgbClr val="0070C0"/>
                </a:buClr>
                <a:buFont typeface="Arial" panose="020B0604020202020204" pitchFamily="34" charset="0"/>
                <a:buChar char="•"/>
              </a:pPr>
              <a:r>
                <a:rPr lang="ko-KR" altLang="en-US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기구축 시스템의 통합 관리 미흡하고 모든 정보에 대한 실시간 정보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파악 미흡</a:t>
              </a:r>
              <a:endPara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latinLnBrk="0">
                <a:lnSpc>
                  <a:spcPct val="150000"/>
                </a:lnSpc>
                <a:spcBef>
                  <a:spcPts val="600"/>
                </a:spcBef>
                <a:buClr>
                  <a:srgbClr val="0070C0"/>
                </a:buClr>
                <a:buFont typeface="Arial" panose="020B0604020202020204" pitchFamily="34" charset="0"/>
                <a:buChar char="•"/>
              </a:pPr>
              <a:r>
                <a:rPr lang="ko-KR" altLang="en-US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가동 </a:t>
              </a:r>
              <a:r>
                <a:rPr lang="ko-KR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현황에 대한 효율적 관리 및 분석 어려움</a:t>
              </a:r>
              <a:endPara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latinLnBrk="0">
                <a:lnSpc>
                  <a:spcPct val="150000"/>
                </a:lnSpc>
                <a:spcBef>
                  <a:spcPts val="600"/>
                </a:spcBef>
                <a:buClr>
                  <a:srgbClr val="0070C0"/>
                </a:buClr>
                <a:buFont typeface="Arial" panose="020B0604020202020204" pitchFamily="34" charset="0"/>
                <a:buChar char="•"/>
              </a:pPr>
              <a:r>
                <a:rPr lang="en-US" altLang="ko-KR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ERP,MES</a:t>
              </a:r>
              <a:r>
                <a:rPr lang="ko-KR" altLang="en-US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전체 시스템의 통합성 미흡</a:t>
              </a:r>
              <a:endPara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80400FCD-17F8-4B22-8C18-F6CDD2A33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397" y="4168909"/>
            <a:ext cx="1273266" cy="11687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8BEA6D6-D140-4DF4-BF6F-DFE7662F80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89" y="2860563"/>
            <a:ext cx="1166313" cy="57793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857E6105-AF9D-4F0A-B3FA-71C9D9A9F5B4}"/>
              </a:ext>
            </a:extLst>
          </p:cNvPr>
          <p:cNvGrpSpPr/>
          <p:nvPr/>
        </p:nvGrpSpPr>
        <p:grpSpPr>
          <a:xfrm>
            <a:off x="9693907" y="3448831"/>
            <a:ext cx="1081653" cy="1048410"/>
            <a:chOff x="7309845" y="1630704"/>
            <a:chExt cx="1227136" cy="122713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201F0426-B076-4E19-A4D1-685EE0C19448}"/>
                </a:ext>
              </a:extLst>
            </p:cNvPr>
            <p:cNvSpPr/>
            <p:nvPr/>
          </p:nvSpPr>
          <p:spPr>
            <a:xfrm>
              <a:off x="7309845" y="1630704"/>
              <a:ext cx="1227135" cy="122713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381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자유형 51">
              <a:extLst>
                <a:ext uri="{FF2B5EF4-FFF2-40B4-BE49-F238E27FC236}">
                  <a16:creationId xmlns:a16="http://schemas.microsoft.com/office/drawing/2014/main" id="{2294B1FB-AE19-4436-A47D-80F1A242B0C2}"/>
                </a:ext>
              </a:extLst>
            </p:cNvPr>
            <p:cNvSpPr/>
            <p:nvPr/>
          </p:nvSpPr>
          <p:spPr>
            <a:xfrm>
              <a:off x="7332116" y="1952677"/>
              <a:ext cx="1182632" cy="883875"/>
            </a:xfrm>
            <a:custGeom>
              <a:avLst/>
              <a:gdLst>
                <a:gd name="connsiteX0" fmla="*/ 0 w 1086928"/>
                <a:gd name="connsiteY0" fmla="*/ 543464 h 1086928"/>
                <a:gd name="connsiteX1" fmla="*/ 159177 w 1086928"/>
                <a:gd name="connsiteY1" fmla="*/ 159177 h 1086928"/>
                <a:gd name="connsiteX2" fmla="*/ 543464 w 1086928"/>
                <a:gd name="connsiteY2" fmla="*/ 1 h 1086928"/>
                <a:gd name="connsiteX3" fmla="*/ 927751 w 1086928"/>
                <a:gd name="connsiteY3" fmla="*/ 159178 h 1086928"/>
                <a:gd name="connsiteX4" fmla="*/ 1086927 w 1086928"/>
                <a:gd name="connsiteY4" fmla="*/ 543465 h 1086928"/>
                <a:gd name="connsiteX5" fmla="*/ 927750 w 1086928"/>
                <a:gd name="connsiteY5" fmla="*/ 927752 h 1086928"/>
                <a:gd name="connsiteX6" fmla="*/ 543463 w 1086928"/>
                <a:gd name="connsiteY6" fmla="*/ 1086929 h 1086928"/>
                <a:gd name="connsiteX7" fmla="*/ 159176 w 1086928"/>
                <a:gd name="connsiteY7" fmla="*/ 927752 h 1086928"/>
                <a:gd name="connsiteX8" fmla="*/ -1 w 1086928"/>
                <a:gd name="connsiteY8" fmla="*/ 543465 h 1086928"/>
                <a:gd name="connsiteX9" fmla="*/ 0 w 1086928"/>
                <a:gd name="connsiteY9" fmla="*/ 543464 h 1086928"/>
                <a:gd name="connsiteX0" fmla="*/ 1 w 1086929"/>
                <a:gd name="connsiteY0" fmla="*/ 448335 h 991800"/>
                <a:gd name="connsiteX1" fmla="*/ 159178 w 1086929"/>
                <a:gd name="connsiteY1" fmla="*/ 64048 h 991800"/>
                <a:gd name="connsiteX2" fmla="*/ 927752 w 1086929"/>
                <a:gd name="connsiteY2" fmla="*/ 64049 h 991800"/>
                <a:gd name="connsiteX3" fmla="*/ 1086928 w 1086929"/>
                <a:gd name="connsiteY3" fmla="*/ 448336 h 991800"/>
                <a:gd name="connsiteX4" fmla="*/ 927751 w 1086929"/>
                <a:gd name="connsiteY4" fmla="*/ 832623 h 991800"/>
                <a:gd name="connsiteX5" fmla="*/ 543464 w 1086929"/>
                <a:gd name="connsiteY5" fmla="*/ 991800 h 991800"/>
                <a:gd name="connsiteX6" fmla="*/ 159177 w 1086929"/>
                <a:gd name="connsiteY6" fmla="*/ 832623 h 991800"/>
                <a:gd name="connsiteX7" fmla="*/ 0 w 1086929"/>
                <a:gd name="connsiteY7" fmla="*/ 448336 h 991800"/>
                <a:gd name="connsiteX8" fmla="*/ 1 w 1086929"/>
                <a:gd name="connsiteY8" fmla="*/ 448335 h 991800"/>
                <a:gd name="connsiteX0" fmla="*/ 1 w 1086929"/>
                <a:gd name="connsiteY0" fmla="*/ 384286 h 927751"/>
                <a:gd name="connsiteX1" fmla="*/ 927752 w 1086929"/>
                <a:gd name="connsiteY1" fmla="*/ 0 h 927751"/>
                <a:gd name="connsiteX2" fmla="*/ 1086928 w 1086929"/>
                <a:gd name="connsiteY2" fmla="*/ 384287 h 927751"/>
                <a:gd name="connsiteX3" fmla="*/ 927751 w 1086929"/>
                <a:gd name="connsiteY3" fmla="*/ 768574 h 927751"/>
                <a:gd name="connsiteX4" fmla="*/ 543464 w 1086929"/>
                <a:gd name="connsiteY4" fmla="*/ 927751 h 927751"/>
                <a:gd name="connsiteX5" fmla="*/ 159177 w 1086929"/>
                <a:gd name="connsiteY5" fmla="*/ 768574 h 927751"/>
                <a:gd name="connsiteX6" fmla="*/ 0 w 1086929"/>
                <a:gd name="connsiteY6" fmla="*/ 384287 h 927751"/>
                <a:gd name="connsiteX7" fmla="*/ 1 w 1086929"/>
                <a:gd name="connsiteY7" fmla="*/ 384286 h 927751"/>
                <a:gd name="connsiteX0" fmla="*/ 1 w 1241553"/>
                <a:gd name="connsiteY0" fmla="*/ 64047 h 607512"/>
                <a:gd name="connsiteX1" fmla="*/ 1086928 w 1241553"/>
                <a:gd name="connsiteY1" fmla="*/ 64048 h 607512"/>
                <a:gd name="connsiteX2" fmla="*/ 927751 w 1241553"/>
                <a:gd name="connsiteY2" fmla="*/ 448335 h 607512"/>
                <a:gd name="connsiteX3" fmla="*/ 543464 w 1241553"/>
                <a:gd name="connsiteY3" fmla="*/ 607512 h 607512"/>
                <a:gd name="connsiteX4" fmla="*/ 159177 w 1241553"/>
                <a:gd name="connsiteY4" fmla="*/ 448335 h 607512"/>
                <a:gd name="connsiteX5" fmla="*/ 0 w 1241553"/>
                <a:gd name="connsiteY5" fmla="*/ 64048 h 607512"/>
                <a:gd name="connsiteX6" fmla="*/ 1 w 1241553"/>
                <a:gd name="connsiteY6" fmla="*/ 64047 h 607512"/>
                <a:gd name="connsiteX0" fmla="*/ 1 w 1086928"/>
                <a:gd name="connsiteY0" fmla="*/ 64047 h 607512"/>
                <a:gd name="connsiteX1" fmla="*/ 1086928 w 1086928"/>
                <a:gd name="connsiteY1" fmla="*/ 64048 h 607512"/>
                <a:gd name="connsiteX2" fmla="*/ 927751 w 1086928"/>
                <a:gd name="connsiteY2" fmla="*/ 448335 h 607512"/>
                <a:gd name="connsiteX3" fmla="*/ 543464 w 1086928"/>
                <a:gd name="connsiteY3" fmla="*/ 607512 h 607512"/>
                <a:gd name="connsiteX4" fmla="*/ 159177 w 1086928"/>
                <a:gd name="connsiteY4" fmla="*/ 448335 h 607512"/>
                <a:gd name="connsiteX5" fmla="*/ 0 w 1086928"/>
                <a:gd name="connsiteY5" fmla="*/ 64048 h 607512"/>
                <a:gd name="connsiteX6" fmla="*/ 1 w 1086928"/>
                <a:gd name="connsiteY6" fmla="*/ 64047 h 607512"/>
                <a:gd name="connsiteX0" fmla="*/ 1 w 1086928"/>
                <a:gd name="connsiteY0" fmla="*/ 64047 h 607512"/>
                <a:gd name="connsiteX1" fmla="*/ 1086928 w 1086928"/>
                <a:gd name="connsiteY1" fmla="*/ 64048 h 607512"/>
                <a:gd name="connsiteX2" fmla="*/ 927751 w 1086928"/>
                <a:gd name="connsiteY2" fmla="*/ 448335 h 607512"/>
                <a:gd name="connsiteX3" fmla="*/ 543464 w 1086928"/>
                <a:gd name="connsiteY3" fmla="*/ 607512 h 607512"/>
                <a:gd name="connsiteX4" fmla="*/ 159177 w 1086928"/>
                <a:gd name="connsiteY4" fmla="*/ 448335 h 607512"/>
                <a:gd name="connsiteX5" fmla="*/ 0 w 1086928"/>
                <a:gd name="connsiteY5" fmla="*/ 64048 h 607512"/>
                <a:gd name="connsiteX6" fmla="*/ 1 w 1086928"/>
                <a:gd name="connsiteY6" fmla="*/ 64047 h 607512"/>
                <a:gd name="connsiteX0" fmla="*/ 1 w 1086928"/>
                <a:gd name="connsiteY0" fmla="*/ 64047 h 607512"/>
                <a:gd name="connsiteX1" fmla="*/ 1086928 w 1086928"/>
                <a:gd name="connsiteY1" fmla="*/ 64048 h 607512"/>
                <a:gd name="connsiteX2" fmla="*/ 927751 w 1086928"/>
                <a:gd name="connsiteY2" fmla="*/ 448335 h 607512"/>
                <a:gd name="connsiteX3" fmla="*/ 543464 w 1086928"/>
                <a:gd name="connsiteY3" fmla="*/ 607512 h 607512"/>
                <a:gd name="connsiteX4" fmla="*/ 159177 w 1086928"/>
                <a:gd name="connsiteY4" fmla="*/ 448335 h 607512"/>
                <a:gd name="connsiteX5" fmla="*/ 0 w 1086928"/>
                <a:gd name="connsiteY5" fmla="*/ 64048 h 607512"/>
                <a:gd name="connsiteX6" fmla="*/ 1 w 1086928"/>
                <a:gd name="connsiteY6" fmla="*/ 64047 h 607512"/>
                <a:gd name="connsiteX0" fmla="*/ 1 w 1086928"/>
                <a:gd name="connsiteY0" fmla="*/ 64047 h 607512"/>
                <a:gd name="connsiteX1" fmla="*/ 1086928 w 1086928"/>
                <a:gd name="connsiteY1" fmla="*/ 64048 h 607512"/>
                <a:gd name="connsiteX2" fmla="*/ 927751 w 1086928"/>
                <a:gd name="connsiteY2" fmla="*/ 448335 h 607512"/>
                <a:gd name="connsiteX3" fmla="*/ 543464 w 1086928"/>
                <a:gd name="connsiteY3" fmla="*/ 607512 h 607512"/>
                <a:gd name="connsiteX4" fmla="*/ 159177 w 1086928"/>
                <a:gd name="connsiteY4" fmla="*/ 448335 h 607512"/>
                <a:gd name="connsiteX5" fmla="*/ 0 w 1086928"/>
                <a:gd name="connsiteY5" fmla="*/ 64048 h 607512"/>
                <a:gd name="connsiteX6" fmla="*/ 1 w 1086928"/>
                <a:gd name="connsiteY6" fmla="*/ 64047 h 607512"/>
                <a:gd name="connsiteX0" fmla="*/ 1 w 1086928"/>
                <a:gd name="connsiteY0" fmla="*/ 64047 h 607512"/>
                <a:gd name="connsiteX1" fmla="*/ 1086928 w 1086928"/>
                <a:gd name="connsiteY1" fmla="*/ 64048 h 607512"/>
                <a:gd name="connsiteX2" fmla="*/ 927751 w 1086928"/>
                <a:gd name="connsiteY2" fmla="*/ 448335 h 607512"/>
                <a:gd name="connsiteX3" fmla="*/ 543464 w 1086928"/>
                <a:gd name="connsiteY3" fmla="*/ 607512 h 607512"/>
                <a:gd name="connsiteX4" fmla="*/ 159177 w 1086928"/>
                <a:gd name="connsiteY4" fmla="*/ 448335 h 607512"/>
                <a:gd name="connsiteX5" fmla="*/ 0 w 1086928"/>
                <a:gd name="connsiteY5" fmla="*/ 64048 h 607512"/>
                <a:gd name="connsiteX6" fmla="*/ 1 w 1086928"/>
                <a:gd name="connsiteY6" fmla="*/ 64047 h 607512"/>
                <a:gd name="connsiteX0" fmla="*/ 1 w 1086928"/>
                <a:gd name="connsiteY0" fmla="*/ 64047 h 607512"/>
                <a:gd name="connsiteX1" fmla="*/ 1086928 w 1086928"/>
                <a:gd name="connsiteY1" fmla="*/ 64048 h 607512"/>
                <a:gd name="connsiteX2" fmla="*/ 927751 w 1086928"/>
                <a:gd name="connsiteY2" fmla="*/ 448335 h 607512"/>
                <a:gd name="connsiteX3" fmla="*/ 543464 w 1086928"/>
                <a:gd name="connsiteY3" fmla="*/ 607512 h 607512"/>
                <a:gd name="connsiteX4" fmla="*/ 159177 w 1086928"/>
                <a:gd name="connsiteY4" fmla="*/ 448335 h 607512"/>
                <a:gd name="connsiteX5" fmla="*/ 0 w 1086928"/>
                <a:gd name="connsiteY5" fmla="*/ 64048 h 607512"/>
                <a:gd name="connsiteX6" fmla="*/ 1 w 1086928"/>
                <a:gd name="connsiteY6" fmla="*/ 64047 h 607512"/>
                <a:gd name="connsiteX0" fmla="*/ 1 w 1086928"/>
                <a:gd name="connsiteY0" fmla="*/ 158348 h 701813"/>
                <a:gd name="connsiteX1" fmla="*/ 1086928 w 1086928"/>
                <a:gd name="connsiteY1" fmla="*/ 158349 h 701813"/>
                <a:gd name="connsiteX2" fmla="*/ 927751 w 1086928"/>
                <a:gd name="connsiteY2" fmla="*/ 542636 h 701813"/>
                <a:gd name="connsiteX3" fmla="*/ 543464 w 1086928"/>
                <a:gd name="connsiteY3" fmla="*/ 701813 h 701813"/>
                <a:gd name="connsiteX4" fmla="*/ 159177 w 1086928"/>
                <a:gd name="connsiteY4" fmla="*/ 542636 h 701813"/>
                <a:gd name="connsiteX5" fmla="*/ 0 w 1086928"/>
                <a:gd name="connsiteY5" fmla="*/ 158349 h 701813"/>
                <a:gd name="connsiteX6" fmla="*/ 1 w 1086928"/>
                <a:gd name="connsiteY6" fmla="*/ 158348 h 701813"/>
                <a:gd name="connsiteX0" fmla="*/ 1 w 1086928"/>
                <a:gd name="connsiteY0" fmla="*/ 258279 h 801744"/>
                <a:gd name="connsiteX1" fmla="*/ 1086928 w 1086928"/>
                <a:gd name="connsiteY1" fmla="*/ 258280 h 801744"/>
                <a:gd name="connsiteX2" fmla="*/ 927751 w 1086928"/>
                <a:gd name="connsiteY2" fmla="*/ 642567 h 801744"/>
                <a:gd name="connsiteX3" fmla="*/ 543464 w 1086928"/>
                <a:gd name="connsiteY3" fmla="*/ 801744 h 801744"/>
                <a:gd name="connsiteX4" fmla="*/ 159177 w 1086928"/>
                <a:gd name="connsiteY4" fmla="*/ 642567 h 801744"/>
                <a:gd name="connsiteX5" fmla="*/ 0 w 1086928"/>
                <a:gd name="connsiteY5" fmla="*/ 258280 h 801744"/>
                <a:gd name="connsiteX6" fmla="*/ 1 w 1086928"/>
                <a:gd name="connsiteY6" fmla="*/ 258279 h 801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6928" h="801744">
                  <a:moveTo>
                    <a:pt x="1" y="258279"/>
                  </a:moveTo>
                  <a:cubicBezTo>
                    <a:pt x="570273" y="675795"/>
                    <a:pt x="727013" y="0"/>
                    <a:pt x="1086928" y="258280"/>
                  </a:cubicBezTo>
                  <a:cubicBezTo>
                    <a:pt x="1067044" y="452627"/>
                    <a:pt x="1029670" y="540648"/>
                    <a:pt x="927751" y="642567"/>
                  </a:cubicBezTo>
                  <a:cubicBezTo>
                    <a:pt x="825832" y="744486"/>
                    <a:pt x="687599" y="801744"/>
                    <a:pt x="543464" y="801744"/>
                  </a:cubicBezTo>
                  <a:cubicBezTo>
                    <a:pt x="399328" y="801744"/>
                    <a:pt x="261096" y="744486"/>
                    <a:pt x="159177" y="642567"/>
                  </a:cubicBezTo>
                  <a:cubicBezTo>
                    <a:pt x="57258" y="540648"/>
                    <a:pt x="0" y="402415"/>
                    <a:pt x="0" y="258280"/>
                  </a:cubicBezTo>
                  <a:lnTo>
                    <a:pt x="1" y="258279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ffectLst>
              <a:outerShdw blurRad="381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타원 34" hidden="1">
              <a:extLst>
                <a:ext uri="{FF2B5EF4-FFF2-40B4-BE49-F238E27FC236}">
                  <a16:creationId xmlns:a16="http://schemas.microsoft.com/office/drawing/2014/main" id="{571FFB6D-6EFB-4083-AAC9-D44F6D281EB1}"/>
                </a:ext>
              </a:extLst>
            </p:cNvPr>
            <p:cNvSpPr/>
            <p:nvPr/>
          </p:nvSpPr>
          <p:spPr>
            <a:xfrm>
              <a:off x="7309846" y="1630704"/>
              <a:ext cx="1227135" cy="1227136"/>
            </a:xfrm>
            <a:prstGeom prst="ellipse">
              <a:avLst/>
            </a:prstGeom>
            <a:gradFill flip="none" rotWithShape="1">
              <a:gsLst>
                <a:gs pos="50000">
                  <a:schemeClr val="bg1">
                    <a:alpha val="0"/>
                  </a:schemeClr>
                </a:gs>
                <a:gs pos="100000">
                  <a:schemeClr val="bg1">
                    <a:alpha val="1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flat" dir="t">
                <a:rot lat="0" lon="0" rev="3000000"/>
              </a:lightRig>
            </a:scene3d>
            <a:sp3d prstMaterial="plastic">
              <a:bevelT w="165100" h="1841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7508FFF-516C-4DC7-935A-0EA535125D88}"/>
                </a:ext>
              </a:extLst>
            </p:cNvPr>
            <p:cNvSpPr/>
            <p:nvPr/>
          </p:nvSpPr>
          <p:spPr>
            <a:xfrm>
              <a:off x="7424565" y="1745423"/>
              <a:ext cx="997697" cy="9976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254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2D6C6A2-C290-477B-ACD4-6B1B5E51AB42}"/>
              </a:ext>
            </a:extLst>
          </p:cNvPr>
          <p:cNvSpPr/>
          <p:nvPr/>
        </p:nvSpPr>
        <p:spPr>
          <a:xfrm>
            <a:off x="9875662" y="3693291"/>
            <a:ext cx="718145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최적화된</a:t>
            </a:r>
            <a:endParaRPr lang="en-US" altLang="ko-KR" sz="1400" b="1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  <a:endParaRPr lang="en-US" altLang="ko-KR" sz="14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4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lang="ko-KR" altLang="en-US" sz="14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대각선 방향의 모서리가 둥근 사각형 56">
            <a:extLst>
              <a:ext uri="{FF2B5EF4-FFF2-40B4-BE49-F238E27FC236}">
                <a16:creationId xmlns:a16="http://schemas.microsoft.com/office/drawing/2014/main" id="{17E9EA16-AED1-47BE-B472-5AB7CA4CD2B6}"/>
              </a:ext>
            </a:extLst>
          </p:cNvPr>
          <p:cNvSpPr/>
          <p:nvPr/>
        </p:nvSpPr>
        <p:spPr>
          <a:xfrm>
            <a:off x="7235672" y="2115040"/>
            <a:ext cx="382642" cy="232706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ED1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대각선 방향의 모서리가 둥근 사각형 57">
            <a:extLst>
              <a:ext uri="{FF2B5EF4-FFF2-40B4-BE49-F238E27FC236}">
                <a16:creationId xmlns:a16="http://schemas.microsoft.com/office/drawing/2014/main" id="{EC5769E6-B587-4673-B2FD-19FCADE07F04}"/>
              </a:ext>
            </a:extLst>
          </p:cNvPr>
          <p:cNvSpPr/>
          <p:nvPr/>
        </p:nvSpPr>
        <p:spPr>
          <a:xfrm>
            <a:off x="7235672" y="3411184"/>
            <a:ext cx="382642" cy="232706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ED1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대각선 방향의 모서리가 둥근 사각형 58">
            <a:extLst>
              <a:ext uri="{FF2B5EF4-FFF2-40B4-BE49-F238E27FC236}">
                <a16:creationId xmlns:a16="http://schemas.microsoft.com/office/drawing/2014/main" id="{84DEB7EF-FC1D-43FA-A021-11D89600C019}"/>
              </a:ext>
            </a:extLst>
          </p:cNvPr>
          <p:cNvSpPr/>
          <p:nvPr/>
        </p:nvSpPr>
        <p:spPr>
          <a:xfrm>
            <a:off x="7235672" y="4707328"/>
            <a:ext cx="382642" cy="232706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ED16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C3C143B-B69A-4690-9751-C3E16E84011C}"/>
              </a:ext>
            </a:extLst>
          </p:cNvPr>
          <p:cNvSpPr/>
          <p:nvPr/>
        </p:nvSpPr>
        <p:spPr>
          <a:xfrm>
            <a:off x="9245026" y="1451713"/>
            <a:ext cx="1980000" cy="3223944"/>
          </a:xfrm>
          <a:prstGeom prst="rect">
            <a:avLst/>
          </a:prstGeom>
          <a:noFill/>
        </p:spPr>
        <p:txBody>
          <a:bodyPr spcFirstLastPara="1" wrap="none" lIns="0" tIns="0" rIns="0" bIns="0" numCol="1">
            <a:prstTxWarp prst="textArchDown">
              <a:avLst/>
            </a:prstTxWarp>
            <a:spAutoFit/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Smart</a:t>
            </a:r>
            <a:r>
              <a:rPr lang="ko-KR" altLang="en-U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Factory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DE2A3D-0F80-7F6C-951A-28730D243D3B}"/>
              </a:ext>
            </a:extLst>
          </p:cNvPr>
          <p:cNvSpPr txBox="1"/>
          <p:nvPr/>
        </p:nvSpPr>
        <p:spPr>
          <a:xfrm>
            <a:off x="96256" y="85725"/>
            <a:ext cx="6405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1-1. </a:t>
            </a:r>
            <a:r>
              <a:rPr lang="ko-KR" altLang="en-US"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배경 및 목표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98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5AE662EC-4E11-4BEA-8770-756329D28306}"/>
              </a:ext>
            </a:extLst>
          </p:cNvPr>
          <p:cNvSpPr txBox="1"/>
          <p:nvPr/>
        </p:nvSpPr>
        <p:spPr>
          <a:xfrm>
            <a:off x="96256" y="85725"/>
            <a:ext cx="6405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1-2. </a:t>
            </a:r>
            <a:r>
              <a:rPr lang="ko-KR" altLang="en-US"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프로세스 분석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5818752" y="6544767"/>
            <a:ext cx="358405" cy="218125"/>
          </a:xfrm>
        </p:spPr>
        <p:txBody>
          <a:bodyPr/>
          <a:lstStyle/>
          <a:p>
            <a:fld id="{AB2A6665-3514-4948-8E09-39272CC142EA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4909DD5-1A36-4004-9E5C-51557371C514}"/>
              </a:ext>
            </a:extLst>
          </p:cNvPr>
          <p:cNvSpPr/>
          <p:nvPr/>
        </p:nvSpPr>
        <p:spPr>
          <a:xfrm>
            <a:off x="963345" y="1010186"/>
            <a:ext cx="4972173" cy="5273539"/>
          </a:xfrm>
          <a:prstGeom prst="roundRect">
            <a:avLst>
              <a:gd name="adj" fmla="val 2600"/>
            </a:avLst>
          </a:prstGeom>
          <a:noFill/>
          <a:ln w="9525">
            <a:solidFill>
              <a:srgbClr val="7B7B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0A11C61-7006-4F2D-A384-4F35C0C8C3E8}"/>
              </a:ext>
            </a:extLst>
          </p:cNvPr>
          <p:cNvSpPr/>
          <p:nvPr/>
        </p:nvSpPr>
        <p:spPr>
          <a:xfrm>
            <a:off x="2360945" y="800625"/>
            <a:ext cx="2186016" cy="45188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>
                <a:latin typeface="+mj-ea"/>
                <a:ea typeface="+mj-ea"/>
              </a:rPr>
              <a:t>현재 수준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25B6AE2-05A5-4012-863F-9DF5B981DE0B}"/>
              </a:ext>
            </a:extLst>
          </p:cNvPr>
          <p:cNvSpPr/>
          <p:nvPr/>
        </p:nvSpPr>
        <p:spPr>
          <a:xfrm>
            <a:off x="6228591" y="1050228"/>
            <a:ext cx="5000063" cy="5273539"/>
          </a:xfrm>
          <a:prstGeom prst="roundRect">
            <a:avLst>
              <a:gd name="adj" fmla="val 2131"/>
            </a:avLst>
          </a:prstGeom>
          <a:solidFill>
            <a:srgbClr val="FFF2CC"/>
          </a:solidFill>
          <a:ln w="9525">
            <a:solidFill>
              <a:srgbClr val="7B7B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83F3BD1-145D-4EF3-8C36-7541B54429E1}"/>
              </a:ext>
            </a:extLst>
          </p:cNvPr>
          <p:cNvSpPr/>
          <p:nvPr/>
        </p:nvSpPr>
        <p:spPr>
          <a:xfrm>
            <a:off x="7668376" y="795493"/>
            <a:ext cx="2186016" cy="50947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/>
              <a:t>개선방향</a:t>
            </a:r>
            <a:endParaRPr lang="ko-KR" altLang="en-US" b="1" dirty="0">
              <a:latin typeface="+mj-ea"/>
              <a:ea typeface="+mj-e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7A652B0-CD22-47F7-BD56-FB01CB128CD2}"/>
              </a:ext>
            </a:extLst>
          </p:cNvPr>
          <p:cNvCxnSpPr>
            <a:cxnSpLocks/>
          </p:cNvCxnSpPr>
          <p:nvPr/>
        </p:nvCxnSpPr>
        <p:spPr>
          <a:xfrm>
            <a:off x="6076733" y="1050228"/>
            <a:ext cx="0" cy="5233497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2">
            <a:extLst>
              <a:ext uri="{FF2B5EF4-FFF2-40B4-BE49-F238E27FC236}">
                <a16:creationId xmlns:a16="http://schemas.microsoft.com/office/drawing/2014/main" id="{35E4E00B-8C40-431D-B59F-25E5A47CD3D7}"/>
              </a:ext>
            </a:extLst>
          </p:cNvPr>
          <p:cNvSpPr txBox="1"/>
          <p:nvPr/>
        </p:nvSpPr>
        <p:spPr>
          <a:xfrm>
            <a:off x="1236001" y="1267963"/>
            <a:ext cx="4426859" cy="4615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latin typeface="+mn-ea"/>
              </a:rPr>
              <a:t>1. </a:t>
            </a:r>
            <a:r>
              <a:rPr lang="ko-KR" altLang="en-US" sz="1600" b="1">
                <a:latin typeface="+mn-ea"/>
              </a:rPr>
              <a:t>인사 정보 관리</a:t>
            </a:r>
            <a:endParaRPr lang="en-US" altLang="ko-KR" sz="16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>
                <a:latin typeface="+mn-ea"/>
              </a:rPr>
              <a:t> -. </a:t>
            </a:r>
            <a:r>
              <a:rPr lang="ko-KR" altLang="en-US" sz="1400" b="1">
                <a:latin typeface="+mn-ea"/>
              </a:rPr>
              <a:t>인사마스터 수기 관리</a:t>
            </a:r>
            <a:endParaRPr lang="en-US" altLang="ko-KR" sz="14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>
                <a:latin typeface="+mn-ea"/>
              </a:rPr>
              <a:t> -. </a:t>
            </a:r>
            <a:r>
              <a:rPr lang="ko-KR" altLang="en-US" sz="1400" b="1">
                <a:latin typeface="+mn-ea"/>
              </a:rPr>
              <a:t>급여계산</a:t>
            </a:r>
            <a:endParaRPr lang="en-US" altLang="ko-KR" sz="14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>
                <a:latin typeface="+mn-ea"/>
              </a:rPr>
              <a:t> -. </a:t>
            </a:r>
            <a:r>
              <a:rPr lang="ko-KR" altLang="en-US" sz="1400" b="1">
                <a:latin typeface="+mn-ea"/>
              </a:rPr>
              <a:t>각종 보고서 수기 작성</a:t>
            </a:r>
            <a:r>
              <a:rPr lang="en-US" altLang="ko-KR" sz="1400" b="1">
                <a:latin typeface="+mn-ea"/>
              </a:rPr>
              <a:t>, </a:t>
            </a:r>
            <a:r>
              <a:rPr lang="ko-KR" altLang="en-US" sz="1400" b="1">
                <a:latin typeface="+mn-ea"/>
              </a:rPr>
              <a:t>관리</a:t>
            </a:r>
            <a:endParaRPr lang="en-US" altLang="ko-KR" sz="14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+mn-ea"/>
              </a:rPr>
              <a:t>2. </a:t>
            </a:r>
            <a:r>
              <a:rPr lang="ko-KR" altLang="en-US" sz="1600" b="1">
                <a:latin typeface="+mn-ea"/>
              </a:rPr>
              <a:t>회계관리</a:t>
            </a:r>
            <a:endParaRPr lang="en-US" altLang="ko-KR" sz="16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+mn-ea"/>
              </a:rPr>
              <a:t> </a:t>
            </a:r>
            <a:r>
              <a:rPr lang="en-US" altLang="ko-KR" sz="1400" b="1">
                <a:latin typeface="+mn-ea"/>
              </a:rPr>
              <a:t>-. </a:t>
            </a:r>
            <a:r>
              <a:rPr lang="ko-KR" altLang="en-US" sz="1400" b="1">
                <a:latin typeface="+mn-ea"/>
              </a:rPr>
              <a:t>회계 정보관리 수기 관리 데이터 과다</a:t>
            </a:r>
            <a:endParaRPr lang="en-US" altLang="ko-KR" sz="14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>
                <a:latin typeface="+mn-ea"/>
              </a:rPr>
              <a:t> -. </a:t>
            </a:r>
            <a:r>
              <a:rPr lang="ko-KR" altLang="en-US" sz="1400" b="1">
                <a:latin typeface="+mn-ea"/>
              </a:rPr>
              <a:t>더존회계 시스템 사용중</a:t>
            </a:r>
            <a:r>
              <a:rPr lang="en-US" altLang="ko-KR" sz="1400" b="1">
                <a:latin typeface="+mn-ea"/>
              </a:rPr>
              <a:t>(</a:t>
            </a:r>
            <a:r>
              <a:rPr lang="ko-KR" altLang="en-US" sz="1400" b="1">
                <a:latin typeface="+mn-ea"/>
              </a:rPr>
              <a:t>일부기능</a:t>
            </a:r>
            <a:r>
              <a:rPr lang="en-US" altLang="ko-KR" sz="1400" b="1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>
                <a:latin typeface="+mn-ea"/>
              </a:rPr>
              <a:t> -. </a:t>
            </a:r>
            <a:r>
              <a:rPr lang="ko-KR" altLang="en-US" sz="1400" b="1">
                <a:latin typeface="+mn-ea"/>
              </a:rPr>
              <a:t>문서자료 수기작성 및 관리</a:t>
            </a:r>
            <a:endParaRPr lang="en-US" altLang="ko-KR" sz="14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+mn-ea"/>
              </a:rPr>
              <a:t>3. </a:t>
            </a:r>
            <a:r>
              <a:rPr lang="ko-KR" altLang="en-US" sz="1600" b="1">
                <a:latin typeface="+mn-ea"/>
              </a:rPr>
              <a:t>원가관리</a:t>
            </a:r>
            <a:endParaRPr lang="en-US" altLang="ko-KR" sz="16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+mn-ea"/>
              </a:rPr>
              <a:t> </a:t>
            </a:r>
            <a:r>
              <a:rPr lang="en-US" altLang="ko-KR" sz="1400" b="1">
                <a:latin typeface="+mn-ea"/>
              </a:rPr>
              <a:t>-. </a:t>
            </a:r>
            <a:r>
              <a:rPr lang="ko-KR" altLang="en-US" sz="1400" b="1">
                <a:latin typeface="+mn-ea"/>
              </a:rPr>
              <a:t>원가 관리 시스템 부재</a:t>
            </a:r>
            <a:endParaRPr lang="en-US" altLang="ko-KR" sz="16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+mn-ea"/>
              </a:rPr>
              <a:t>4. </a:t>
            </a:r>
            <a:r>
              <a:rPr lang="ko-KR" altLang="en-US" sz="1600" b="1">
                <a:latin typeface="+mn-ea"/>
              </a:rPr>
              <a:t>구매관리</a:t>
            </a:r>
            <a:endParaRPr lang="en-US" altLang="ko-KR" sz="16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+mn-ea"/>
              </a:rPr>
              <a:t> </a:t>
            </a:r>
            <a:r>
              <a:rPr lang="en-US" altLang="ko-KR" sz="1400" b="1">
                <a:latin typeface="+mn-ea"/>
              </a:rPr>
              <a:t>-. </a:t>
            </a:r>
            <a:r>
              <a:rPr lang="ko-KR" altLang="en-US" sz="1400" b="1">
                <a:latin typeface="+mn-ea"/>
              </a:rPr>
              <a:t>구매시스템 고도화 필요</a:t>
            </a:r>
            <a:endParaRPr lang="en-US" altLang="ko-KR" sz="1400" b="1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>
                <a:latin typeface="+mn-ea"/>
              </a:rPr>
              <a:t> -. </a:t>
            </a:r>
            <a:r>
              <a:rPr lang="ko-KR" altLang="en-US" sz="1400" b="1">
                <a:latin typeface="+mn-ea"/>
              </a:rPr>
              <a:t>법인간 구매 데이터 연동 부재</a:t>
            </a:r>
            <a:endParaRPr lang="en-US" altLang="ko-KR" sz="1400" b="1">
              <a:latin typeface="+mn-ea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F4B38EC2-918B-4262-9B4A-A473647C0F9C}"/>
              </a:ext>
            </a:extLst>
          </p:cNvPr>
          <p:cNvSpPr txBox="1"/>
          <p:nvPr/>
        </p:nvSpPr>
        <p:spPr>
          <a:xfrm>
            <a:off x="6345201" y="1411164"/>
            <a:ext cx="4555922" cy="4113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ea typeface="+mj-ea"/>
              </a:rPr>
              <a:t>1. </a:t>
            </a:r>
            <a:r>
              <a:rPr lang="ko-KR" altLang="en-US" sz="1600" b="1">
                <a:ea typeface="+mj-ea"/>
              </a:rPr>
              <a:t>인사마스터 통합 관리 시스템 구축</a:t>
            </a:r>
            <a:endParaRPr lang="en-US" altLang="ko-KR" sz="1600" b="1"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400" b="1"/>
              <a:t> -. </a:t>
            </a:r>
            <a:r>
              <a:rPr lang="ko-KR" altLang="en-US" sz="1400" b="1"/>
              <a:t>표준 인사관리 모듈 개발</a:t>
            </a:r>
            <a:endParaRPr lang="en-US" altLang="ko-KR" sz="1400" b="1"/>
          </a:p>
          <a:p>
            <a:pPr>
              <a:lnSpc>
                <a:spcPct val="150000"/>
              </a:lnSpc>
            </a:pPr>
            <a:r>
              <a:rPr lang="en-US" altLang="ko-KR" sz="1400" b="1"/>
              <a:t> -. </a:t>
            </a:r>
            <a:r>
              <a:rPr lang="ko-KR" altLang="en-US" sz="1400" b="1"/>
              <a:t>각종 보고서 및 문서 통합 관리</a:t>
            </a:r>
            <a:r>
              <a:rPr lang="en-US" altLang="ko-KR" sz="1400" b="1"/>
              <a:t>(</a:t>
            </a:r>
            <a:r>
              <a:rPr lang="ko-KR" altLang="en-US" sz="1400" b="1"/>
              <a:t>시스템에서 관리</a:t>
            </a:r>
            <a:r>
              <a:rPr lang="en-US" altLang="ko-KR" sz="1400" b="1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/>
              <a:t> -. </a:t>
            </a:r>
            <a:r>
              <a:rPr lang="ko-KR" altLang="en-US" sz="1400" b="1"/>
              <a:t>급여</a:t>
            </a:r>
            <a:r>
              <a:rPr lang="en-US" altLang="ko-KR" sz="1400" b="1"/>
              <a:t>, </a:t>
            </a:r>
            <a:r>
              <a:rPr lang="ko-KR" altLang="en-US" sz="1400" b="1"/>
              <a:t>전표관리 시스템화</a:t>
            </a:r>
            <a:endParaRPr lang="en-US" altLang="ko-KR" sz="1400" b="1"/>
          </a:p>
          <a:p>
            <a:pPr>
              <a:lnSpc>
                <a:spcPct val="150000"/>
              </a:lnSpc>
            </a:pPr>
            <a:r>
              <a:rPr lang="en-US" altLang="ko-KR" sz="1600" b="1"/>
              <a:t>2. </a:t>
            </a:r>
            <a:r>
              <a:rPr lang="ko-KR" altLang="en-US" sz="1600" b="1"/>
              <a:t>회계관리 시스템 구축</a:t>
            </a:r>
            <a:endParaRPr lang="en-US" altLang="ko-KR" sz="1600" b="1"/>
          </a:p>
          <a:p>
            <a:pPr>
              <a:lnSpc>
                <a:spcPct val="150000"/>
              </a:lnSpc>
            </a:pPr>
            <a:r>
              <a:rPr lang="en-US" altLang="ko-KR" sz="1400" b="1"/>
              <a:t> -. </a:t>
            </a:r>
            <a:r>
              <a:rPr lang="ko-KR" altLang="en-US" sz="1400" b="1"/>
              <a:t>표준화된 시스템으로 통합</a:t>
            </a:r>
            <a:endParaRPr lang="en-US" altLang="ko-KR" sz="1400" b="1"/>
          </a:p>
          <a:p>
            <a:pPr>
              <a:lnSpc>
                <a:spcPct val="150000"/>
              </a:lnSpc>
            </a:pPr>
            <a:r>
              <a:rPr lang="en-US" altLang="ko-KR" sz="1400" b="1"/>
              <a:t> -. </a:t>
            </a:r>
            <a:r>
              <a:rPr lang="ko-KR" altLang="en-US" sz="1400" b="1"/>
              <a:t>각종 자료 유기적 연결</a:t>
            </a:r>
            <a:r>
              <a:rPr lang="en-US" altLang="ko-KR" sz="1400" b="1"/>
              <a:t>(</a:t>
            </a:r>
            <a:r>
              <a:rPr lang="ko-KR" altLang="en-US" sz="1400" b="1"/>
              <a:t>은행</a:t>
            </a:r>
            <a:r>
              <a:rPr lang="en-US" altLang="ko-KR" sz="1400" b="1"/>
              <a:t>,</a:t>
            </a:r>
            <a:r>
              <a:rPr lang="ko-KR" altLang="en-US" sz="1400" b="1"/>
              <a:t>환율</a:t>
            </a:r>
            <a:r>
              <a:rPr lang="en-US" altLang="ko-KR" sz="1400" b="1"/>
              <a:t>,</a:t>
            </a:r>
            <a:r>
              <a:rPr lang="ko-KR" altLang="en-US" sz="1400" b="1"/>
              <a:t>전표</a:t>
            </a:r>
            <a:r>
              <a:rPr lang="en-US" altLang="ko-KR" sz="1400" b="1"/>
              <a:t>,…</a:t>
            </a:r>
            <a:r>
              <a:rPr lang="ko-KR" altLang="en-US" sz="1400" b="1"/>
              <a:t> 등</a:t>
            </a:r>
            <a:r>
              <a:rPr lang="en-US" altLang="ko-KR" sz="1400" b="1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b="1"/>
              <a:t>3. </a:t>
            </a:r>
            <a:r>
              <a:rPr lang="ko-KR" altLang="en-US" sz="1600" b="1"/>
              <a:t>원가관리 시스템 구축</a:t>
            </a:r>
            <a:endParaRPr lang="en-US" altLang="ko-KR" sz="1600" b="1"/>
          </a:p>
          <a:p>
            <a:pPr>
              <a:lnSpc>
                <a:spcPct val="150000"/>
              </a:lnSpc>
            </a:pPr>
            <a:r>
              <a:rPr lang="en-US" altLang="ko-KR" sz="1400" b="1"/>
              <a:t> -. </a:t>
            </a:r>
            <a:r>
              <a:rPr lang="ko-KR" altLang="en-US" sz="1400" b="1"/>
              <a:t>손익관리 및 원가관리 표준화 시스템 구축</a:t>
            </a:r>
            <a:endParaRPr lang="en-US" altLang="ko-KR" sz="1400" b="1"/>
          </a:p>
          <a:p>
            <a:pPr>
              <a:lnSpc>
                <a:spcPct val="150000"/>
              </a:lnSpc>
            </a:pPr>
            <a:r>
              <a:rPr lang="en-US" altLang="ko-KR" sz="1600" b="1"/>
              <a:t>4. </a:t>
            </a:r>
            <a:r>
              <a:rPr lang="ko-KR" altLang="en-US" sz="1600" b="1"/>
              <a:t>구매관리 고도화</a:t>
            </a:r>
            <a:endParaRPr lang="en-US" altLang="ko-KR" sz="1600" b="1"/>
          </a:p>
          <a:p>
            <a:pPr>
              <a:lnSpc>
                <a:spcPct val="150000"/>
              </a:lnSpc>
            </a:pPr>
            <a:r>
              <a:rPr lang="en-US" altLang="ko-KR" sz="1400" b="1"/>
              <a:t> -. </a:t>
            </a:r>
            <a:r>
              <a:rPr lang="ko-KR" altLang="en-US" sz="1400" b="1"/>
              <a:t>법인간 발주</a:t>
            </a:r>
            <a:r>
              <a:rPr lang="en-US" altLang="ko-KR" sz="1400" b="1"/>
              <a:t>,</a:t>
            </a:r>
            <a:r>
              <a:rPr lang="ko-KR" altLang="en-US" sz="1400" b="1"/>
              <a:t>입고 데이터 통합관리 및 인터페이스</a:t>
            </a:r>
            <a:endParaRPr lang="en-US" altLang="ko-KR" sz="1400" b="1"/>
          </a:p>
          <a:p>
            <a:pPr>
              <a:lnSpc>
                <a:spcPct val="150000"/>
              </a:lnSpc>
            </a:pPr>
            <a:r>
              <a:rPr lang="en-US" altLang="ko-KR" sz="1400" b="1"/>
              <a:t> -. </a:t>
            </a:r>
            <a:r>
              <a:rPr lang="ko-KR" altLang="en-US" sz="1400" b="1"/>
              <a:t>수기관리 장표 시스템화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63962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84147E-E369-78FA-4C39-AFEA0E1DC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2A6665-3514-4948-8E09-39272CC142EA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FCC0D1C-ABB4-4FC2-8058-BE6290887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84" y="686873"/>
            <a:ext cx="1145130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조직간 연계된 프로세스와 데이터 공유 기반이 구축되어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상호 유기적으로 통합 연계될 수 있도록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lang="ko-KR" altLang="en-US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물류모듈 중 구매관리</a:t>
            </a:r>
            <a:r>
              <a:rPr lang="en-US" altLang="ko-KR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고도화</a:t>
            </a:r>
            <a:r>
              <a:rPr lang="en-US" altLang="ko-KR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일반관리 모듈</a:t>
            </a:r>
            <a:r>
              <a:rPr lang="en-US" altLang="ko-KR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인사</a:t>
            </a:r>
            <a:r>
              <a:rPr lang="en-US" altLang="ko-KR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</a:t>
            </a:r>
            <a:r>
              <a:rPr lang="en-US" altLang="ko-KR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원가</a:t>
            </a:r>
            <a:r>
              <a:rPr lang="en-US" altLang="ko-KR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구축</a:t>
            </a:r>
            <a:endParaRPr lang="en-US" altLang="ko-KR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DE2A3D-0F80-7F6C-951A-28730D243D3B}"/>
              </a:ext>
            </a:extLst>
          </p:cNvPr>
          <p:cNvSpPr txBox="1"/>
          <p:nvPr/>
        </p:nvSpPr>
        <p:spPr>
          <a:xfrm>
            <a:off x="96256" y="85725"/>
            <a:ext cx="6405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1-3. </a:t>
            </a:r>
            <a:r>
              <a:rPr lang="ko-KR" altLang="en-US"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구축범위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1C02C3-E937-480E-87F6-D09AC81675FA}"/>
              </a:ext>
            </a:extLst>
          </p:cNvPr>
          <p:cNvSpPr/>
          <p:nvPr/>
        </p:nvSpPr>
        <p:spPr>
          <a:xfrm>
            <a:off x="1569860" y="1413572"/>
            <a:ext cx="8280001" cy="106200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2100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010FE8D-E0DF-4DE3-BAE3-33974E5E2FDB}"/>
              </a:ext>
            </a:extLst>
          </p:cNvPr>
          <p:cNvSpPr/>
          <p:nvPr/>
        </p:nvSpPr>
        <p:spPr>
          <a:xfrm>
            <a:off x="1713876" y="1421817"/>
            <a:ext cx="8080145" cy="1008176"/>
          </a:xfrm>
          <a:prstGeom prst="rect">
            <a:avLst/>
          </a:prstGeom>
          <a:solidFill>
            <a:schemeClr val="bg1"/>
          </a:solidFill>
          <a:ln w="9525" cmpd="sng">
            <a:gradFill>
              <a:gsLst>
                <a:gs pos="0">
                  <a:srgbClr val="2C479C"/>
                </a:gs>
                <a:gs pos="50000">
                  <a:srgbClr val="9DB6ED"/>
                </a:gs>
                <a:gs pos="100000">
                  <a:srgbClr val="24397E"/>
                </a:gs>
              </a:gsLst>
              <a:lin ang="5400000" scaled="0"/>
            </a:gra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t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/>
            <a:endParaRPr lang="en-US" altLang="ko-KR" sz="500" kern="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0" latinLnBrk="0" hangingPunct="0"/>
            <a:endParaRPr lang="ko-KR" altLang="en-US" sz="1400" b="1" kern="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8819BB1-FE00-486E-857E-85F5C26194E0}"/>
              </a:ext>
            </a:extLst>
          </p:cNvPr>
          <p:cNvSpPr/>
          <p:nvPr/>
        </p:nvSpPr>
        <p:spPr>
          <a:xfrm>
            <a:off x="1569861" y="2507111"/>
            <a:ext cx="8280000" cy="22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2100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latinLnBrk="0"/>
            <a:endParaRPr lang="ko-KR" altLang="en-US" sz="1400" b="1" kern="0">
              <a:solidFill>
                <a:sysClr val="window" lastClr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A363977-B836-4C2E-A1A1-6DFE789A217C}"/>
              </a:ext>
            </a:extLst>
          </p:cNvPr>
          <p:cNvSpPr/>
          <p:nvPr/>
        </p:nvSpPr>
        <p:spPr>
          <a:xfrm>
            <a:off x="1713877" y="4025214"/>
            <a:ext cx="8071882" cy="624084"/>
          </a:xfrm>
          <a:prstGeom prst="rect">
            <a:avLst/>
          </a:prstGeom>
          <a:gradFill>
            <a:gsLst>
              <a:gs pos="0">
                <a:schemeClr val="accent1">
                  <a:tint val="37000"/>
                  <a:satMod val="30000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B3CDA47-00F5-4302-8856-F514AF0743AE}"/>
              </a:ext>
            </a:extLst>
          </p:cNvPr>
          <p:cNvSpPr/>
          <p:nvPr/>
        </p:nvSpPr>
        <p:spPr>
          <a:xfrm>
            <a:off x="1672611" y="4798057"/>
            <a:ext cx="2700000" cy="4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2100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latinLnBrk="0"/>
            <a:r>
              <a:rPr kumimoji="1" lang="ko-KR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</a:t>
            </a:r>
            <a:r>
              <a:rPr kumimoji="1"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 도입 및 설치</a:t>
            </a:r>
          </a:p>
        </p:txBody>
      </p:sp>
      <p:sp>
        <p:nvSpPr>
          <p:cNvPr id="51" name="오각형 74">
            <a:extLst>
              <a:ext uri="{FF2B5EF4-FFF2-40B4-BE49-F238E27FC236}">
                <a16:creationId xmlns:a16="http://schemas.microsoft.com/office/drawing/2014/main" id="{C05BF7F7-1C26-4C79-96B3-0D3C10A59D4D}"/>
              </a:ext>
            </a:extLst>
          </p:cNvPr>
          <p:cNvSpPr/>
          <p:nvPr/>
        </p:nvSpPr>
        <p:spPr bwMode="auto">
          <a:xfrm>
            <a:off x="355664" y="4798057"/>
            <a:ext cx="1247252" cy="432000"/>
          </a:xfrm>
          <a:prstGeom prst="homePlate">
            <a:avLst>
              <a:gd name="adj" fmla="val 0"/>
            </a:avLst>
          </a:prstGeom>
          <a:solidFill>
            <a:srgbClr val="13295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1400" b="1" kern="0" dirty="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정보 인프라</a:t>
            </a:r>
          </a:p>
        </p:txBody>
      </p:sp>
      <p:sp>
        <p:nvSpPr>
          <p:cNvPr id="52" name="오각형 136">
            <a:extLst>
              <a:ext uri="{FF2B5EF4-FFF2-40B4-BE49-F238E27FC236}">
                <a16:creationId xmlns:a16="http://schemas.microsoft.com/office/drawing/2014/main" id="{404A724D-A5C1-4CAC-B3C2-08D073913271}"/>
              </a:ext>
            </a:extLst>
          </p:cNvPr>
          <p:cNvSpPr/>
          <p:nvPr/>
        </p:nvSpPr>
        <p:spPr bwMode="auto">
          <a:xfrm>
            <a:off x="358572" y="2504023"/>
            <a:ext cx="1240369" cy="2243040"/>
          </a:xfrm>
          <a:prstGeom prst="homePlate">
            <a:avLst>
              <a:gd name="adj" fmla="val 0"/>
            </a:avLst>
          </a:prstGeom>
          <a:solidFill>
            <a:srgbClr val="1F458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 lang="en-US" altLang="ko-KR" sz="1400" b="1" kern="0" dirty="0">
              <a:solidFill>
                <a:sysClr val="window" lastClr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 latinLnBrk="0"/>
            <a:endParaRPr lang="en-US" altLang="ko-KR" sz="1400" b="1" kern="0" dirty="0">
              <a:solidFill>
                <a:sysClr val="window" lastClr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 latinLnBrk="0"/>
            <a:endParaRPr lang="en-US" altLang="ko-KR" sz="1400" b="1" kern="0" dirty="0">
              <a:solidFill>
                <a:sysClr val="window" lastClr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 latinLnBrk="0"/>
            <a:r>
              <a:rPr lang="en-US" altLang="ko-KR" sz="1400" b="1" kern="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MES</a:t>
            </a:r>
            <a:endParaRPr lang="ko-KR" altLang="en-US" sz="1400" b="1" kern="0" dirty="0">
              <a:solidFill>
                <a:sysClr val="window" lastClr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53" name="AutoShape 220">
            <a:extLst>
              <a:ext uri="{FF2B5EF4-FFF2-40B4-BE49-F238E27FC236}">
                <a16:creationId xmlns:a16="http://schemas.microsoft.com/office/drawing/2014/main" id="{2141DA0B-9172-42CF-9481-2903FDB87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877" y="2569068"/>
            <a:ext cx="8071881" cy="126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mpd="sng">
            <a:gradFill>
              <a:gsLst>
                <a:gs pos="0">
                  <a:srgbClr val="2C479C"/>
                </a:gs>
                <a:gs pos="50000">
                  <a:srgbClr val="9DB6ED"/>
                </a:gs>
                <a:gs pos="100000">
                  <a:srgbClr val="24397E"/>
                </a:gs>
              </a:gsLst>
              <a:lin ang="5400000" scaled="0"/>
            </a:gradFill>
            <a:miter lim="800000"/>
            <a:headEnd/>
            <a:tailE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>
            <a:scene3d>
              <a:camera prst="orthographicFront"/>
              <a:lightRig rig="threePt" dir="t"/>
            </a:scene3d>
            <a:sp3d extrusionH="57150" contourW="31750">
              <a:bevelT w="0"/>
              <a:extrusionClr>
                <a:schemeClr val="tx1"/>
              </a:extrusionClr>
              <a:contourClr>
                <a:srgbClr val="101A38"/>
              </a:contourClr>
            </a:sp3d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/>
            <a:endParaRPr lang="ko-KR" altLang="en-US" sz="1200" kern="0" dirty="0">
              <a:solidFill>
                <a:srgbClr val="0000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4" name="그림 53" descr="시계이(가) 표시된 사진&#10;&#10;자동 생성된 설명">
            <a:extLst>
              <a:ext uri="{FF2B5EF4-FFF2-40B4-BE49-F238E27FC236}">
                <a16:creationId xmlns:a16="http://schemas.microsoft.com/office/drawing/2014/main" id="{BCE0A1A5-93D3-4674-8D36-4C68B66B1B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6" t="15775" r="9250" b="15722"/>
          <a:stretch/>
        </p:blipFill>
        <p:spPr>
          <a:xfrm>
            <a:off x="5373926" y="2635747"/>
            <a:ext cx="751783" cy="180000"/>
          </a:xfrm>
          <a:prstGeom prst="rect">
            <a:avLst/>
          </a:prstGeom>
        </p:spPr>
      </p:pic>
      <p:sp>
        <p:nvSpPr>
          <p:cNvPr id="55" name="Rounded Rectangle 13">
            <a:extLst>
              <a:ext uri="{FF2B5EF4-FFF2-40B4-BE49-F238E27FC236}">
                <a16:creationId xmlns:a16="http://schemas.microsoft.com/office/drawing/2014/main" id="{51AC45E2-95AD-4AD5-BBB5-B43A94CCC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7591" y="3477855"/>
            <a:ext cx="7848000" cy="244689"/>
          </a:xfrm>
          <a:prstGeom prst="roundRect">
            <a:avLst>
              <a:gd name="adj" fmla="val 1852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Middleware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15461C78-89F3-4515-866F-0B4F54C6D83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73669" y="4077766"/>
            <a:ext cx="635306" cy="5400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B7E15C9E-5B2E-431B-AC64-E19D08EFD07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88111" y="4077766"/>
            <a:ext cx="467258" cy="540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F71B671-9377-432E-A641-BD13525952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051" y="4077766"/>
            <a:ext cx="514418" cy="54000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2E6A17AE-8F8F-4567-9D44-3655083C3B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969" y="4077766"/>
            <a:ext cx="728608" cy="54000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FD5EBFB6-F33A-4288-906E-4F223AC758F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545" y="4077766"/>
            <a:ext cx="881348" cy="54000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ACDEFE24-4848-442A-8778-BBF080E390C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4743445" y="4077766"/>
            <a:ext cx="442148" cy="540000"/>
          </a:xfrm>
          <a:prstGeom prst="rect">
            <a:avLst/>
          </a:prstGeom>
        </p:spPr>
      </p:pic>
      <p:pic>
        <p:nvPicPr>
          <p:cNvPr id="62" name="그림 61" descr="카메라, 전자기기이(가) 표시된 사진&#10;&#10;자동 생성된 설명">
            <a:extLst>
              <a:ext uri="{FF2B5EF4-FFF2-40B4-BE49-F238E27FC236}">
                <a16:creationId xmlns:a16="http://schemas.microsoft.com/office/drawing/2014/main" id="{4352C8E1-3D31-4223-94D9-8AAEAA42A2E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655" y="4077766"/>
            <a:ext cx="533078" cy="540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42812A7C-9C15-4383-9409-19E44D067B93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3506859" y="4077766"/>
            <a:ext cx="393176" cy="540000"/>
          </a:xfrm>
          <a:prstGeom prst="rect">
            <a:avLst/>
          </a:prstGeom>
        </p:spPr>
      </p:pic>
      <p:grpSp>
        <p:nvGrpSpPr>
          <p:cNvPr id="64" name="그룹 63">
            <a:extLst>
              <a:ext uri="{FF2B5EF4-FFF2-40B4-BE49-F238E27FC236}">
                <a16:creationId xmlns:a16="http://schemas.microsoft.com/office/drawing/2014/main" id="{31F01FB7-E8AD-44F5-816B-F25E724D592E}"/>
              </a:ext>
            </a:extLst>
          </p:cNvPr>
          <p:cNvGrpSpPr/>
          <p:nvPr/>
        </p:nvGrpSpPr>
        <p:grpSpPr>
          <a:xfrm>
            <a:off x="2145925" y="4077766"/>
            <a:ext cx="655366" cy="540000"/>
            <a:chOff x="4042062" y="5085184"/>
            <a:chExt cx="655366" cy="540000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44407EAA-6142-4C81-9B22-B49D19BBE8A3}"/>
                </a:ext>
              </a:extLst>
            </p:cNvPr>
            <p:cNvGrpSpPr/>
            <p:nvPr/>
          </p:nvGrpSpPr>
          <p:grpSpPr>
            <a:xfrm>
              <a:off x="4042062" y="5151024"/>
              <a:ext cx="420964" cy="254119"/>
              <a:chOff x="9229897" y="5823944"/>
              <a:chExt cx="683027" cy="366713"/>
            </a:xfrm>
          </p:grpSpPr>
          <p:pic>
            <p:nvPicPr>
              <p:cNvPr id="117" name="Picture 6">
                <a:extLst>
                  <a:ext uri="{FF2B5EF4-FFF2-40B4-BE49-F238E27FC236}">
                    <a16:creationId xmlns:a16="http://schemas.microsoft.com/office/drawing/2014/main" id="{5FE970C7-FE75-40B0-972E-E635FED556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29897" y="5823944"/>
                <a:ext cx="528637" cy="360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18" name="Picture 7">
                <a:extLst>
                  <a:ext uri="{FF2B5EF4-FFF2-40B4-BE49-F238E27FC236}">
                    <a16:creationId xmlns:a16="http://schemas.microsoft.com/office/drawing/2014/main" id="{3C6CEDF4-6D2B-4276-BFFB-7727933C9B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22424" y="5830294"/>
                <a:ext cx="190500" cy="3603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115" name="Picture 61" descr="103-125">
              <a:extLst>
                <a:ext uri="{FF2B5EF4-FFF2-40B4-BE49-F238E27FC236}">
                  <a16:creationId xmlns:a16="http://schemas.microsoft.com/office/drawing/2014/main" id="{0E790C14-EE33-402A-9B4F-073EE2FA3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4057063" y="5414046"/>
              <a:ext cx="460375" cy="211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6" name="Picture 59" descr="570-302">
              <a:extLst>
                <a:ext uri="{FF2B5EF4-FFF2-40B4-BE49-F238E27FC236}">
                  <a16:creationId xmlns:a16="http://schemas.microsoft.com/office/drawing/2014/main" id="{3BE433BA-5734-4419-BB4B-50A4E7544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4469792" y="5085184"/>
              <a:ext cx="227636" cy="54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5B95CFE1-B26B-4AF1-AB18-1F1D53F70102}"/>
              </a:ext>
            </a:extLst>
          </p:cNvPr>
          <p:cNvGrpSpPr/>
          <p:nvPr/>
        </p:nvGrpSpPr>
        <p:grpSpPr>
          <a:xfrm>
            <a:off x="3405410" y="3845214"/>
            <a:ext cx="284362" cy="180000"/>
            <a:chOff x="3397863" y="3619805"/>
            <a:chExt cx="284362" cy="180000"/>
          </a:xfrm>
        </p:grpSpPr>
        <p:sp>
          <p:nvSpPr>
            <p:cNvPr id="112" name="화살표: 위쪽 111">
              <a:extLst>
                <a:ext uri="{FF2B5EF4-FFF2-40B4-BE49-F238E27FC236}">
                  <a16:creationId xmlns:a16="http://schemas.microsoft.com/office/drawing/2014/main" id="{BA08DC5D-60E0-4890-B8DF-8FCE0773B0FF}"/>
                </a:ext>
              </a:extLst>
            </p:cNvPr>
            <p:cNvSpPr/>
            <p:nvPr/>
          </p:nvSpPr>
          <p:spPr>
            <a:xfrm>
              <a:off x="3397863" y="3619805"/>
              <a:ext cx="144000" cy="180000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3" name="화살표: 아래쪽 112">
              <a:extLst>
                <a:ext uri="{FF2B5EF4-FFF2-40B4-BE49-F238E27FC236}">
                  <a16:creationId xmlns:a16="http://schemas.microsoft.com/office/drawing/2014/main" id="{EB6A8C76-4299-49BA-B0A0-57234398E076}"/>
                </a:ext>
              </a:extLst>
            </p:cNvPr>
            <p:cNvSpPr/>
            <p:nvPr/>
          </p:nvSpPr>
          <p:spPr>
            <a:xfrm>
              <a:off x="3538225" y="3619805"/>
              <a:ext cx="144000" cy="18000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BBF8CE2A-07F6-40B5-9950-8FB57ED4361B}"/>
              </a:ext>
            </a:extLst>
          </p:cNvPr>
          <p:cNvGrpSpPr/>
          <p:nvPr/>
        </p:nvGrpSpPr>
        <p:grpSpPr>
          <a:xfrm>
            <a:off x="7816132" y="3845214"/>
            <a:ext cx="284362" cy="180000"/>
            <a:chOff x="3397863" y="3619805"/>
            <a:chExt cx="284362" cy="180000"/>
          </a:xfrm>
        </p:grpSpPr>
        <p:sp>
          <p:nvSpPr>
            <p:cNvPr id="110" name="화살표: 위쪽 109">
              <a:extLst>
                <a:ext uri="{FF2B5EF4-FFF2-40B4-BE49-F238E27FC236}">
                  <a16:creationId xmlns:a16="http://schemas.microsoft.com/office/drawing/2014/main" id="{E391E5E4-90D9-495B-B2BB-ED2C8A773C69}"/>
                </a:ext>
              </a:extLst>
            </p:cNvPr>
            <p:cNvSpPr/>
            <p:nvPr/>
          </p:nvSpPr>
          <p:spPr>
            <a:xfrm>
              <a:off x="3397863" y="3619805"/>
              <a:ext cx="144000" cy="180000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1" name="화살표: 아래쪽 110">
              <a:extLst>
                <a:ext uri="{FF2B5EF4-FFF2-40B4-BE49-F238E27FC236}">
                  <a16:creationId xmlns:a16="http://schemas.microsoft.com/office/drawing/2014/main" id="{A53089C2-5A58-4836-BEF0-D477C7859851}"/>
                </a:ext>
              </a:extLst>
            </p:cNvPr>
            <p:cNvSpPr/>
            <p:nvPr/>
          </p:nvSpPr>
          <p:spPr>
            <a:xfrm>
              <a:off x="3538225" y="3619805"/>
              <a:ext cx="144000" cy="18000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67" name="AutoShape 220">
            <a:extLst>
              <a:ext uri="{FF2B5EF4-FFF2-40B4-BE49-F238E27FC236}">
                <a16:creationId xmlns:a16="http://schemas.microsoft.com/office/drawing/2014/main" id="{7EADABFB-6DC4-40BE-BEF7-A32BC9784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7591" y="2857259"/>
            <a:ext cx="7830722" cy="377656"/>
          </a:xfrm>
          <a:prstGeom prst="roundRect">
            <a:avLst>
              <a:gd name="adj" fmla="val 2880"/>
            </a:avLst>
          </a:prstGeom>
          <a:solidFill>
            <a:schemeClr val="accent1">
              <a:lumMod val="20000"/>
              <a:lumOff val="80000"/>
            </a:schemeClr>
          </a:solidFill>
          <a:ln w="9525" cmpd="sng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cene3d>
              <a:camera prst="orthographicFront"/>
              <a:lightRig rig="threePt" dir="t"/>
            </a:scene3d>
            <a:sp3d extrusionH="57150" contourW="31750">
              <a:bevelT w="0"/>
              <a:extrusionClr>
                <a:schemeClr val="tx1"/>
              </a:extrusionClr>
              <a:contourClr>
                <a:srgbClr val="101A38"/>
              </a:contourClr>
            </a:sp3d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/>
            <a:endParaRPr lang="ko-KR" altLang="en-US" sz="1200" kern="0" dirty="0">
              <a:solidFill>
                <a:srgbClr val="0000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Rounded Rectangle 13">
            <a:extLst>
              <a:ext uri="{FF2B5EF4-FFF2-40B4-BE49-F238E27FC236}">
                <a16:creationId xmlns:a16="http://schemas.microsoft.com/office/drawing/2014/main" id="{135C36B1-ADED-4102-9F51-6AC340BCF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6653" y="2908758"/>
            <a:ext cx="792000" cy="274659"/>
          </a:xfrm>
          <a:prstGeom prst="roundRect">
            <a:avLst>
              <a:gd name="adj" fmla="val 1852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모니터링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69" name="Rounded Rectangle 13">
            <a:extLst>
              <a:ext uri="{FF2B5EF4-FFF2-40B4-BE49-F238E27FC236}">
                <a16:creationId xmlns:a16="http://schemas.microsoft.com/office/drawing/2014/main" id="{2212E6B5-6393-48E7-A270-25C59DBF4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4905" y="2908758"/>
            <a:ext cx="792000" cy="274659"/>
          </a:xfrm>
          <a:prstGeom prst="roundRect">
            <a:avLst>
              <a:gd name="adj" fmla="val 1852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기준정보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70" name="Rounded Rectangle 13">
            <a:extLst>
              <a:ext uri="{FF2B5EF4-FFF2-40B4-BE49-F238E27FC236}">
                <a16:creationId xmlns:a16="http://schemas.microsoft.com/office/drawing/2014/main" id="{7F6153EE-DA48-4609-AFDB-56D1D835D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693" y="2908758"/>
            <a:ext cx="792000" cy="274659"/>
          </a:xfrm>
          <a:prstGeom prst="roundRect">
            <a:avLst>
              <a:gd name="adj" fmla="val 1852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생산정보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71" name="Rounded Rectangle 13">
            <a:extLst>
              <a:ext uri="{FF2B5EF4-FFF2-40B4-BE49-F238E27FC236}">
                <a16:creationId xmlns:a16="http://schemas.microsoft.com/office/drawing/2014/main" id="{F1BC81C2-A995-4418-9795-197C8DCB0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5925" y="2908758"/>
            <a:ext cx="792000" cy="274659"/>
          </a:xfrm>
          <a:prstGeom prst="roundRect">
            <a:avLst>
              <a:gd name="adj" fmla="val 1852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품질관리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72" name="Rounded Rectangle 13">
            <a:extLst>
              <a:ext uri="{FF2B5EF4-FFF2-40B4-BE49-F238E27FC236}">
                <a16:creationId xmlns:a16="http://schemas.microsoft.com/office/drawing/2014/main" id="{0C3FF35C-A1E8-46E7-8002-43C46DF34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3704" y="2908758"/>
            <a:ext cx="792000" cy="274659"/>
          </a:xfrm>
          <a:prstGeom prst="roundRect">
            <a:avLst>
              <a:gd name="adj" fmla="val 1852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POP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831125D7-7B9D-4726-B3D7-8BE02C4B8BEE}"/>
              </a:ext>
            </a:extLst>
          </p:cNvPr>
          <p:cNvGrpSpPr/>
          <p:nvPr/>
        </p:nvGrpSpPr>
        <p:grpSpPr>
          <a:xfrm>
            <a:off x="5605979" y="3259331"/>
            <a:ext cx="284362" cy="180000"/>
            <a:chOff x="3397863" y="3619805"/>
            <a:chExt cx="284362" cy="180000"/>
          </a:xfrm>
        </p:grpSpPr>
        <p:sp>
          <p:nvSpPr>
            <p:cNvPr id="108" name="화살표: 위쪽 107">
              <a:extLst>
                <a:ext uri="{FF2B5EF4-FFF2-40B4-BE49-F238E27FC236}">
                  <a16:creationId xmlns:a16="http://schemas.microsoft.com/office/drawing/2014/main" id="{A25470D8-FFD6-4F40-A88E-72BEE8564BB3}"/>
                </a:ext>
              </a:extLst>
            </p:cNvPr>
            <p:cNvSpPr/>
            <p:nvPr/>
          </p:nvSpPr>
          <p:spPr>
            <a:xfrm>
              <a:off x="3397863" y="3619805"/>
              <a:ext cx="144000" cy="180000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9" name="화살표: 아래쪽 108">
              <a:extLst>
                <a:ext uri="{FF2B5EF4-FFF2-40B4-BE49-F238E27FC236}">
                  <a16:creationId xmlns:a16="http://schemas.microsoft.com/office/drawing/2014/main" id="{CEABAA44-E36E-421E-B486-C2F18964D00D}"/>
                </a:ext>
              </a:extLst>
            </p:cNvPr>
            <p:cNvSpPr/>
            <p:nvPr/>
          </p:nvSpPr>
          <p:spPr>
            <a:xfrm>
              <a:off x="3538225" y="3619805"/>
              <a:ext cx="144000" cy="18000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74" name="오각형 136">
            <a:extLst>
              <a:ext uri="{FF2B5EF4-FFF2-40B4-BE49-F238E27FC236}">
                <a16:creationId xmlns:a16="http://schemas.microsoft.com/office/drawing/2014/main" id="{8767580B-9814-4E9A-8F69-10271E2A68D8}"/>
              </a:ext>
            </a:extLst>
          </p:cNvPr>
          <p:cNvSpPr/>
          <p:nvPr/>
        </p:nvSpPr>
        <p:spPr bwMode="auto">
          <a:xfrm>
            <a:off x="362548" y="1405975"/>
            <a:ext cx="1240369" cy="1017152"/>
          </a:xfrm>
          <a:prstGeom prst="homePlate">
            <a:avLst>
              <a:gd name="adj" fmla="val 0"/>
            </a:avLst>
          </a:prstGeom>
          <a:solidFill>
            <a:srgbClr val="2D5AB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endParaRPr lang="en-US" altLang="ko-KR" sz="1400" b="1" kern="0" dirty="0">
              <a:solidFill>
                <a:sysClr val="window" lastClr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 latinLnBrk="0"/>
            <a:endParaRPr lang="en-US" altLang="ko-KR" sz="1400" b="1" kern="0" dirty="0">
              <a:solidFill>
                <a:sysClr val="window" lastClr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algn="ctr" latinLnBrk="0"/>
            <a:r>
              <a:rPr lang="en-US" altLang="ko-KR" sz="1400" b="1" kern="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ERP</a:t>
            </a:r>
            <a:endParaRPr lang="ko-KR" altLang="en-US" sz="1400" b="1" kern="0" dirty="0">
              <a:solidFill>
                <a:sysClr val="window" lastClr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18FEE9E7-D4E1-4864-9F89-4307DFB3725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50" y="1541927"/>
            <a:ext cx="446199" cy="446199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FF900A5A-03E8-4B7C-8EAE-EA08ED08637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46" y="3217575"/>
            <a:ext cx="484273" cy="484273"/>
          </a:xfrm>
          <a:prstGeom prst="rect">
            <a:avLst/>
          </a:prstGeom>
        </p:spPr>
      </p:pic>
      <p:grpSp>
        <p:nvGrpSpPr>
          <p:cNvPr id="83" name="그룹 82">
            <a:extLst>
              <a:ext uri="{FF2B5EF4-FFF2-40B4-BE49-F238E27FC236}">
                <a16:creationId xmlns:a16="http://schemas.microsoft.com/office/drawing/2014/main" id="{B8300FCA-96E2-4AE6-89CA-A327B44D995B}"/>
              </a:ext>
            </a:extLst>
          </p:cNvPr>
          <p:cNvGrpSpPr/>
          <p:nvPr/>
        </p:nvGrpSpPr>
        <p:grpSpPr>
          <a:xfrm>
            <a:off x="3445739" y="2393052"/>
            <a:ext cx="284362" cy="180000"/>
            <a:chOff x="3397863" y="3619805"/>
            <a:chExt cx="284362" cy="180000"/>
          </a:xfrm>
        </p:grpSpPr>
        <p:sp>
          <p:nvSpPr>
            <p:cNvPr id="106" name="화살표: 위쪽 105">
              <a:extLst>
                <a:ext uri="{FF2B5EF4-FFF2-40B4-BE49-F238E27FC236}">
                  <a16:creationId xmlns:a16="http://schemas.microsoft.com/office/drawing/2014/main" id="{B83962CD-6942-4ED7-8971-BE8167374374}"/>
                </a:ext>
              </a:extLst>
            </p:cNvPr>
            <p:cNvSpPr/>
            <p:nvPr/>
          </p:nvSpPr>
          <p:spPr>
            <a:xfrm>
              <a:off x="3397863" y="3619805"/>
              <a:ext cx="144000" cy="180000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7" name="화살표: 아래쪽 106">
              <a:extLst>
                <a:ext uri="{FF2B5EF4-FFF2-40B4-BE49-F238E27FC236}">
                  <a16:creationId xmlns:a16="http://schemas.microsoft.com/office/drawing/2014/main" id="{2621B41D-F77C-40AA-85BC-1D593B96E62A}"/>
                </a:ext>
              </a:extLst>
            </p:cNvPr>
            <p:cNvSpPr/>
            <p:nvPr/>
          </p:nvSpPr>
          <p:spPr>
            <a:xfrm>
              <a:off x="3538225" y="3619805"/>
              <a:ext cx="144000" cy="18000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pic>
        <p:nvPicPr>
          <p:cNvPr id="84" name="그림 83">
            <a:extLst>
              <a:ext uri="{FF2B5EF4-FFF2-40B4-BE49-F238E27FC236}">
                <a16:creationId xmlns:a16="http://schemas.microsoft.com/office/drawing/2014/main" id="{79915340-5E18-4D26-A2C7-D03ADF453A67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89367" y="4077766"/>
            <a:ext cx="329416" cy="540000"/>
          </a:xfrm>
          <a:prstGeom prst="rect">
            <a:avLst/>
          </a:prstGeom>
        </p:spPr>
      </p:pic>
      <p:sp>
        <p:nvSpPr>
          <p:cNvPr id="85" name="Rounded Rectangle 13">
            <a:extLst>
              <a:ext uri="{FF2B5EF4-FFF2-40B4-BE49-F238E27FC236}">
                <a16:creationId xmlns:a16="http://schemas.microsoft.com/office/drawing/2014/main" id="{52DD5C22-20E0-4755-9965-4B1221CD5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8541" y="2908758"/>
            <a:ext cx="792000" cy="274659"/>
          </a:xfrm>
          <a:prstGeom prst="roundRect">
            <a:avLst>
              <a:gd name="adj" fmla="val 1852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설비관리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86" name="Rounded Rectangle 13">
            <a:extLst>
              <a:ext uri="{FF2B5EF4-FFF2-40B4-BE49-F238E27FC236}">
                <a16:creationId xmlns:a16="http://schemas.microsoft.com/office/drawing/2014/main" id="{FCCAA50E-BC2E-4665-84F3-2AA0C367A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8077" y="2908758"/>
            <a:ext cx="792000" cy="274659"/>
          </a:xfrm>
          <a:prstGeom prst="roundRect">
            <a:avLst>
              <a:gd name="adj" fmla="val 1852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생산계획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87" name="Rounded Rectangle 13">
            <a:extLst>
              <a:ext uri="{FF2B5EF4-FFF2-40B4-BE49-F238E27FC236}">
                <a16:creationId xmlns:a16="http://schemas.microsoft.com/office/drawing/2014/main" id="{1B765FDE-DB56-422F-B59B-8BCD5EEF5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309" y="2908758"/>
            <a:ext cx="792000" cy="274659"/>
          </a:xfrm>
          <a:prstGeom prst="roundRect">
            <a:avLst>
              <a:gd name="adj" fmla="val 1852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공정관리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3763A41E-A4F0-4EBC-A86F-E740695192D8}"/>
              </a:ext>
            </a:extLst>
          </p:cNvPr>
          <p:cNvSpPr/>
          <p:nvPr/>
        </p:nvSpPr>
        <p:spPr>
          <a:xfrm>
            <a:off x="4411546" y="4798057"/>
            <a:ext cx="2700000" cy="4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2100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latinLnBrk="0"/>
            <a:r>
              <a:rPr kumimoji="1" lang="ko-KR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각종 </a:t>
            </a:r>
            <a:r>
              <a:rPr kumimoji="1"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S/W </a:t>
            </a:r>
            <a:r>
              <a:rPr kumimoji="1" lang="ko-KR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도입 및 설치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89BA280-E645-4CAF-9CB1-F52FA1279545}"/>
              </a:ext>
            </a:extLst>
          </p:cNvPr>
          <p:cNvSpPr/>
          <p:nvPr/>
        </p:nvSpPr>
        <p:spPr>
          <a:xfrm>
            <a:off x="7150481" y="4798057"/>
            <a:ext cx="2700000" cy="4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2100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latinLnBrk="0"/>
            <a:r>
              <a:rPr kumimoji="1" lang="ko-KR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생산정보 수집 장비 도입 및 설치</a:t>
            </a: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B8300FCA-96E2-4AE6-89CA-A327B44D995B}"/>
              </a:ext>
            </a:extLst>
          </p:cNvPr>
          <p:cNvGrpSpPr/>
          <p:nvPr/>
        </p:nvGrpSpPr>
        <p:grpSpPr>
          <a:xfrm>
            <a:off x="7779220" y="2359646"/>
            <a:ext cx="284362" cy="180000"/>
            <a:chOff x="3397863" y="3619805"/>
            <a:chExt cx="284362" cy="180000"/>
          </a:xfrm>
        </p:grpSpPr>
        <p:sp>
          <p:nvSpPr>
            <p:cNvPr id="104" name="화살표: 위쪽 103">
              <a:extLst>
                <a:ext uri="{FF2B5EF4-FFF2-40B4-BE49-F238E27FC236}">
                  <a16:creationId xmlns:a16="http://schemas.microsoft.com/office/drawing/2014/main" id="{B83962CD-6942-4ED7-8971-BE8167374374}"/>
                </a:ext>
              </a:extLst>
            </p:cNvPr>
            <p:cNvSpPr/>
            <p:nvPr/>
          </p:nvSpPr>
          <p:spPr>
            <a:xfrm>
              <a:off x="3397863" y="3619805"/>
              <a:ext cx="144000" cy="180000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5" name="화살표: 아래쪽 104">
              <a:extLst>
                <a:ext uri="{FF2B5EF4-FFF2-40B4-BE49-F238E27FC236}">
                  <a16:creationId xmlns:a16="http://schemas.microsoft.com/office/drawing/2014/main" id="{2621B41D-F77C-40AA-85BC-1D593B96E62A}"/>
                </a:ext>
              </a:extLst>
            </p:cNvPr>
            <p:cNvSpPr/>
            <p:nvPr/>
          </p:nvSpPr>
          <p:spPr>
            <a:xfrm>
              <a:off x="3538225" y="3619805"/>
              <a:ext cx="144000" cy="18000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2C7BD6E-F4A1-4229-9D68-31BFC0B65D0F}"/>
              </a:ext>
            </a:extLst>
          </p:cNvPr>
          <p:cNvSpPr/>
          <p:nvPr/>
        </p:nvSpPr>
        <p:spPr>
          <a:xfrm>
            <a:off x="1672611" y="5780608"/>
            <a:ext cx="2700000" cy="4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2100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latinLnBrk="0">
              <a:defRPr/>
            </a:pPr>
            <a:r>
              <a:rPr kumimoji="1" lang="ko-KR" altLang="en-US" sz="1400" b="1" kern="0" dirty="0">
                <a:solidFill>
                  <a:srgbClr val="FF66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프로세스 재정립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BE60819-63CE-4583-AB88-40945BABC511}"/>
              </a:ext>
            </a:extLst>
          </p:cNvPr>
          <p:cNvSpPr/>
          <p:nvPr/>
        </p:nvSpPr>
        <p:spPr>
          <a:xfrm>
            <a:off x="4411546" y="5780608"/>
            <a:ext cx="2700000" cy="4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2100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latinLnBrk="0"/>
            <a:r>
              <a:rPr kumimoji="1" lang="ko-KR" altLang="en-US" sz="1400" b="1" kern="0" dirty="0">
                <a:solidFill>
                  <a:srgbClr val="FF66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기준정보 표준화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43D159B-F086-4BD6-B0BE-A2E9EF5901B3}"/>
              </a:ext>
            </a:extLst>
          </p:cNvPr>
          <p:cNvSpPr/>
          <p:nvPr/>
        </p:nvSpPr>
        <p:spPr>
          <a:xfrm>
            <a:off x="7150481" y="5780608"/>
            <a:ext cx="2700000" cy="4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2100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latinLnBrk="0"/>
            <a:r>
              <a:rPr kumimoji="1" lang="ko-KR" altLang="en-US" sz="1400" b="1" kern="0" dirty="0">
                <a:solidFill>
                  <a:srgbClr val="FF66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정비</a:t>
            </a:r>
            <a:endParaRPr kumimoji="1" lang="en-US" altLang="ko-KR" sz="1400" b="1" kern="0" baseline="30000" dirty="0">
              <a:solidFill>
                <a:srgbClr val="FF66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174684E-1A23-48D2-9DCE-DA6EE145E29E}"/>
              </a:ext>
            </a:extLst>
          </p:cNvPr>
          <p:cNvSpPr/>
          <p:nvPr/>
        </p:nvSpPr>
        <p:spPr>
          <a:xfrm>
            <a:off x="1570781" y="5289913"/>
            <a:ext cx="8280000" cy="4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2100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latinLnBrk="0"/>
            <a:r>
              <a:rPr kumimoji="1" lang="en-US" altLang="ko-KR" sz="1400" b="1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kumimoji="1" lang="ko-KR" altLang="en-US" sz="1400" b="1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kumimoji="1" lang="en-US" altLang="ko-KR" sz="1400" b="1" ker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 </a:t>
            </a:r>
            <a:r>
              <a:rPr kumimoji="1" lang="ko-KR" altLang="en-US" sz="1400" b="1" ker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본사</a:t>
            </a:r>
            <a:r>
              <a:rPr kumimoji="1" lang="en-US" altLang="ko-KR" sz="1400" b="1" ker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,VINA </a:t>
            </a:r>
            <a:r>
              <a:rPr kumimoji="1" lang="ko-KR" altLang="en-US" sz="1400" b="1" kern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물류시스템 구축</a:t>
            </a:r>
            <a:r>
              <a:rPr kumimoji="1" lang="en-US" altLang="ko-KR" sz="1400" b="1" ker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1"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kumimoji="1"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고도화</a:t>
            </a:r>
            <a:r>
              <a:rPr kumimoji="1"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1"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 </a:t>
            </a:r>
            <a:r>
              <a:rPr kumimoji="1"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본사</a:t>
            </a:r>
            <a:r>
              <a:rPr kumimoji="1"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,VINA</a:t>
            </a:r>
            <a:r>
              <a:rPr kumimoji="1"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 일반관리 시스템 구축</a:t>
            </a:r>
            <a:endParaRPr kumimoji="1" lang="ko-KR" altLang="en-US" sz="1400" kern="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오각형 65">
            <a:extLst>
              <a:ext uri="{FF2B5EF4-FFF2-40B4-BE49-F238E27FC236}">
                <a16:creationId xmlns:a16="http://schemas.microsoft.com/office/drawing/2014/main" id="{24D03259-238A-4E94-B879-3AA972EC9AF4}"/>
              </a:ext>
            </a:extLst>
          </p:cNvPr>
          <p:cNvSpPr/>
          <p:nvPr/>
        </p:nvSpPr>
        <p:spPr bwMode="auto">
          <a:xfrm>
            <a:off x="355665" y="5289913"/>
            <a:ext cx="1247251" cy="432000"/>
          </a:xfrm>
          <a:prstGeom prst="homePlate">
            <a:avLst>
              <a:gd name="adj" fmla="val 0"/>
            </a:avLst>
          </a:prstGeom>
          <a:solidFill>
            <a:srgbClr val="13295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ko-KR" altLang="en-US" sz="1400" b="1" kern="0" dirty="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구축 대상</a:t>
            </a:r>
          </a:p>
        </p:txBody>
      </p:sp>
      <p:sp>
        <p:nvSpPr>
          <p:cNvPr id="96" name="오각형 60">
            <a:extLst>
              <a:ext uri="{FF2B5EF4-FFF2-40B4-BE49-F238E27FC236}">
                <a16:creationId xmlns:a16="http://schemas.microsoft.com/office/drawing/2014/main" id="{F5C39E8F-C020-411B-ACD6-1FF490D647FC}"/>
              </a:ext>
            </a:extLst>
          </p:cNvPr>
          <p:cNvSpPr/>
          <p:nvPr/>
        </p:nvSpPr>
        <p:spPr bwMode="auto">
          <a:xfrm>
            <a:off x="355665" y="5780608"/>
            <a:ext cx="1247251" cy="432000"/>
          </a:xfrm>
          <a:prstGeom prst="homePlate">
            <a:avLst>
              <a:gd name="adj" fmla="val 0"/>
            </a:avLst>
          </a:prstGeom>
          <a:solidFill>
            <a:srgbClr val="13295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/>
            <a:r>
              <a:rPr lang="en-US" altLang="ko-KR" sz="1400" b="1" kern="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PI </a:t>
            </a:r>
            <a:r>
              <a:rPr lang="ko-KR" altLang="en-US" sz="1400" b="1" kern="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활동</a:t>
            </a:r>
            <a:endParaRPr lang="ko-KR" altLang="en-US" sz="1400" b="1" kern="0" dirty="0">
              <a:solidFill>
                <a:sysClr val="window" lastClr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1A9D0F64-0C47-5F20-8D25-982D71E928D6}"/>
              </a:ext>
            </a:extLst>
          </p:cNvPr>
          <p:cNvGrpSpPr/>
          <p:nvPr/>
        </p:nvGrpSpPr>
        <p:grpSpPr>
          <a:xfrm>
            <a:off x="2397979" y="1627628"/>
            <a:ext cx="2928168" cy="665754"/>
            <a:chOff x="1858051" y="1592793"/>
            <a:chExt cx="2928168" cy="665754"/>
          </a:xfrm>
        </p:grpSpPr>
        <p:sp>
          <p:nvSpPr>
            <p:cNvPr id="75" name="Rounded Rectangle 13">
              <a:extLst>
                <a:ext uri="{FF2B5EF4-FFF2-40B4-BE49-F238E27FC236}">
                  <a16:creationId xmlns:a16="http://schemas.microsoft.com/office/drawing/2014/main" id="{7B08DB63-46F5-4456-BA7A-6814048FD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313" y="1957466"/>
              <a:ext cx="792000" cy="229091"/>
            </a:xfrm>
            <a:prstGeom prst="roundRect">
              <a:avLst>
                <a:gd name="adj" fmla="val 1852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itchFamily="34" charset="0"/>
                </a:rPr>
                <a:t>영업관리</a:t>
              </a:r>
              <a:endPara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endParaRPr>
            </a:p>
          </p:txBody>
        </p:sp>
        <p:sp>
          <p:nvSpPr>
            <p:cNvPr id="76" name="Rounded Rectangle 13">
              <a:extLst>
                <a:ext uri="{FF2B5EF4-FFF2-40B4-BE49-F238E27FC236}">
                  <a16:creationId xmlns:a16="http://schemas.microsoft.com/office/drawing/2014/main" id="{614D2C8C-D493-4FF8-A3DC-A27ABCF22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061" y="1684618"/>
              <a:ext cx="792000" cy="229091"/>
            </a:xfrm>
            <a:prstGeom prst="roundRect">
              <a:avLst>
                <a:gd name="adj" fmla="val 1852"/>
              </a:avLst>
            </a:prstGeom>
            <a:solidFill>
              <a:schemeClr val="accent2"/>
            </a:soli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itchFamily="34" charset="0"/>
                </a:rPr>
                <a:t>구매관리</a:t>
              </a:r>
              <a:endPara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endParaRPr>
            </a:p>
          </p:txBody>
        </p:sp>
        <p:sp>
          <p:nvSpPr>
            <p:cNvPr id="77" name="Rounded Rectangle 13">
              <a:extLst>
                <a:ext uri="{FF2B5EF4-FFF2-40B4-BE49-F238E27FC236}">
                  <a16:creationId xmlns:a16="http://schemas.microsoft.com/office/drawing/2014/main" id="{35BA795A-1589-4EE2-8A9D-9586C3FDA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9687" y="1684618"/>
              <a:ext cx="792000" cy="229091"/>
            </a:xfrm>
            <a:prstGeom prst="roundRect">
              <a:avLst>
                <a:gd name="adj" fmla="val 1852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itchFamily="34" charset="0"/>
                </a:rPr>
                <a:t>재고관리</a:t>
              </a:r>
              <a:endPara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endParaRPr>
            </a:p>
          </p:txBody>
        </p:sp>
        <p:sp>
          <p:nvSpPr>
            <p:cNvPr id="78" name="Rounded Rectangle 13">
              <a:extLst>
                <a:ext uri="{FF2B5EF4-FFF2-40B4-BE49-F238E27FC236}">
                  <a16:creationId xmlns:a16="http://schemas.microsoft.com/office/drawing/2014/main" id="{0AF66849-B6F9-426A-A887-22A6765CF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0061" y="1957466"/>
              <a:ext cx="792000" cy="229091"/>
            </a:xfrm>
            <a:prstGeom prst="roundRect">
              <a:avLst>
                <a:gd name="adj" fmla="val 1852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itchFamily="34" charset="0"/>
                </a:rPr>
                <a:t>생산관리</a:t>
              </a:r>
              <a:endPara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endParaRPr>
            </a:p>
          </p:txBody>
        </p:sp>
        <p:sp>
          <p:nvSpPr>
            <p:cNvPr id="79" name="Rounded Rectangle 13">
              <a:extLst>
                <a:ext uri="{FF2B5EF4-FFF2-40B4-BE49-F238E27FC236}">
                  <a16:creationId xmlns:a16="http://schemas.microsoft.com/office/drawing/2014/main" id="{D97F8CF6-4C28-4F4D-8AB6-C54A381CE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9687" y="1957466"/>
              <a:ext cx="792000" cy="229091"/>
            </a:xfrm>
            <a:prstGeom prst="roundRect">
              <a:avLst>
                <a:gd name="adj" fmla="val 1852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itchFamily="34" charset="0"/>
                </a:rPr>
                <a:t>품질관리</a:t>
              </a:r>
              <a:endPara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endParaRPr>
            </a:p>
          </p:txBody>
        </p:sp>
        <p:sp>
          <p:nvSpPr>
            <p:cNvPr id="80" name="Rounded Rectangle 13">
              <a:extLst>
                <a:ext uri="{FF2B5EF4-FFF2-40B4-BE49-F238E27FC236}">
                  <a16:creationId xmlns:a16="http://schemas.microsoft.com/office/drawing/2014/main" id="{BC19A74D-EF4A-498E-9C6E-51BEA95E9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313" y="1684618"/>
              <a:ext cx="792000" cy="229091"/>
            </a:xfrm>
            <a:prstGeom prst="roundRect">
              <a:avLst>
                <a:gd name="adj" fmla="val 1852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itchFamily="34" charset="0"/>
                </a:rPr>
                <a:t>기준정보관리</a:t>
              </a:r>
              <a:endPara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9663EB43-37FD-4E04-8A27-DFF153CA66AB}"/>
                </a:ext>
              </a:extLst>
            </p:cNvPr>
            <p:cNvSpPr/>
            <p:nvPr/>
          </p:nvSpPr>
          <p:spPr>
            <a:xfrm>
              <a:off x="1858051" y="1592793"/>
              <a:ext cx="2928168" cy="665754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52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0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455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607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758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910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063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214" algn="l" defTabSz="914303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98" name="Rounded Rectangle 13">
            <a:extLst>
              <a:ext uri="{FF2B5EF4-FFF2-40B4-BE49-F238E27FC236}">
                <a16:creationId xmlns:a16="http://schemas.microsoft.com/office/drawing/2014/main" id="{0AF66849-B6F9-426A-A887-22A6765CF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3552" y="1720637"/>
            <a:ext cx="792000" cy="229091"/>
          </a:xfrm>
          <a:prstGeom prst="roundRect">
            <a:avLst>
              <a:gd name="adj" fmla="val 1852"/>
            </a:avLst>
          </a:prstGeom>
          <a:solidFill>
            <a:schemeClr val="accent2"/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인사관리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99" name="Rounded Rectangle 13">
            <a:extLst>
              <a:ext uri="{FF2B5EF4-FFF2-40B4-BE49-F238E27FC236}">
                <a16:creationId xmlns:a16="http://schemas.microsoft.com/office/drawing/2014/main" id="{0AF66849-B6F9-426A-A887-22A6765CF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3552" y="1997814"/>
            <a:ext cx="792000" cy="229091"/>
          </a:xfrm>
          <a:prstGeom prst="roundRect">
            <a:avLst>
              <a:gd name="adj" fmla="val 1852"/>
            </a:avLst>
          </a:prstGeom>
          <a:solidFill>
            <a:schemeClr val="accent2"/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원가관리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100" name="Rounded Rectangle 13">
            <a:extLst>
              <a:ext uri="{FF2B5EF4-FFF2-40B4-BE49-F238E27FC236}">
                <a16:creationId xmlns:a16="http://schemas.microsoft.com/office/drawing/2014/main" id="{0AF66849-B6F9-426A-A887-22A6765CF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582" y="1720637"/>
            <a:ext cx="792000" cy="229091"/>
          </a:xfrm>
          <a:prstGeom prst="roundRect">
            <a:avLst>
              <a:gd name="adj" fmla="val 1852"/>
            </a:avLst>
          </a:prstGeom>
          <a:solidFill>
            <a:schemeClr val="accent2"/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회계관리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101" name="Rounded Rectangle 13">
            <a:extLst>
              <a:ext uri="{FF2B5EF4-FFF2-40B4-BE49-F238E27FC236}">
                <a16:creationId xmlns:a16="http://schemas.microsoft.com/office/drawing/2014/main" id="{0AF66849-B6F9-426A-A887-22A6765CF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582" y="1997814"/>
            <a:ext cx="792000" cy="229091"/>
          </a:xfrm>
          <a:prstGeom prst="roundRect">
            <a:avLst>
              <a:gd name="adj" fmla="val 1852"/>
            </a:avLst>
          </a:prstGeom>
          <a:solidFill>
            <a:schemeClr val="accent2"/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itchFamily="34" charset="0"/>
              </a:rPr>
              <a:t>손익관리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itchFamily="34" charset="0"/>
            </a:endParaRPr>
          </a:p>
        </p:txBody>
      </p:sp>
      <p:sp>
        <p:nvSpPr>
          <p:cNvPr id="103" name="TextBox 3">
            <a:extLst>
              <a:ext uri="{FF2B5EF4-FFF2-40B4-BE49-F238E27FC236}">
                <a16:creationId xmlns:a16="http://schemas.microsoft.com/office/drawing/2014/main" id="{008EB749-9836-4C82-B848-F00C1895C405}"/>
              </a:ext>
            </a:extLst>
          </p:cNvPr>
          <p:cNvSpPr txBox="1"/>
          <p:nvPr/>
        </p:nvSpPr>
        <p:spPr>
          <a:xfrm>
            <a:off x="362548" y="6235665"/>
            <a:ext cx="64299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50">
                <a:latin typeface="+mn-ea"/>
              </a:rPr>
              <a:t>PI</a:t>
            </a:r>
            <a:r>
              <a:rPr lang="ko-KR" altLang="en-US" sz="1050">
                <a:latin typeface="+mn-ea"/>
              </a:rPr>
              <a:t>활동</a:t>
            </a:r>
            <a:r>
              <a:rPr lang="en-US" altLang="ko-KR" sz="1050">
                <a:latin typeface="+mn-ea"/>
              </a:rPr>
              <a:t> -</a:t>
            </a:r>
            <a:r>
              <a:rPr lang="ko-KR" altLang="en-US" sz="1050">
                <a:latin typeface="+mn-ea"/>
              </a:rPr>
              <a:t> </a:t>
            </a:r>
            <a:r>
              <a:rPr lang="en-US" altLang="ko-KR" sz="1050">
                <a:latin typeface="+mn-ea"/>
              </a:rPr>
              <a:t>Performance Improvement, </a:t>
            </a:r>
            <a:r>
              <a:rPr lang="ko-KR" altLang="en-US" sz="1050">
                <a:latin typeface="+mn-ea"/>
              </a:rPr>
              <a:t>문제를 발견하고 그 원인을 찾아 업무 프로세스를 개선하는 활동</a:t>
            </a:r>
          </a:p>
        </p:txBody>
      </p:sp>
      <p:sp>
        <p:nvSpPr>
          <p:cNvPr id="119" name="TextBox 2">
            <a:extLst>
              <a:ext uri="{FF2B5EF4-FFF2-40B4-BE49-F238E27FC236}">
                <a16:creationId xmlns:a16="http://schemas.microsoft.com/office/drawing/2014/main" id="{360D560C-55F7-E60B-2A10-BAD110838CB3}"/>
              </a:ext>
            </a:extLst>
          </p:cNvPr>
          <p:cNvSpPr txBox="1"/>
          <p:nvPr/>
        </p:nvSpPr>
        <p:spPr>
          <a:xfrm>
            <a:off x="3523741" y="1465409"/>
            <a:ext cx="726083" cy="21544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물류</a:t>
            </a:r>
            <a:endParaRPr lang="en-US" altLang="ko-KR" sz="8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B68DD11-B0CA-8A53-B3BE-2A11EEB7F390}"/>
              </a:ext>
            </a:extLst>
          </p:cNvPr>
          <p:cNvSpPr/>
          <p:nvPr/>
        </p:nvSpPr>
        <p:spPr>
          <a:xfrm>
            <a:off x="5863415" y="1623757"/>
            <a:ext cx="2928168" cy="66575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2" name="TextBox 2">
            <a:extLst>
              <a:ext uri="{FF2B5EF4-FFF2-40B4-BE49-F238E27FC236}">
                <a16:creationId xmlns:a16="http://schemas.microsoft.com/office/drawing/2014/main" id="{1A4F27FD-ED0B-864A-3DE4-394B11888819}"/>
              </a:ext>
            </a:extLst>
          </p:cNvPr>
          <p:cNvSpPr txBox="1"/>
          <p:nvPr/>
        </p:nvSpPr>
        <p:spPr>
          <a:xfrm>
            <a:off x="7103797" y="1457783"/>
            <a:ext cx="726083" cy="2154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>
                <a:solidFill>
                  <a:srgbClr val="FF0000"/>
                </a:solidFill>
              </a:rPr>
              <a:t>일반관리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34AB773-17B5-B9C3-22AD-EF4163E106F7}"/>
              </a:ext>
            </a:extLst>
          </p:cNvPr>
          <p:cNvSpPr/>
          <p:nvPr/>
        </p:nvSpPr>
        <p:spPr>
          <a:xfrm>
            <a:off x="10331289" y="1423237"/>
            <a:ext cx="1662443" cy="999889"/>
          </a:xfrm>
          <a:prstGeom prst="rect">
            <a:avLst/>
          </a:prstGeom>
          <a:solidFill>
            <a:schemeClr val="bg1"/>
          </a:solidFill>
          <a:ln w="9525" cmpd="sng">
            <a:gradFill>
              <a:gsLst>
                <a:gs pos="0">
                  <a:srgbClr val="2C479C"/>
                </a:gs>
                <a:gs pos="50000">
                  <a:srgbClr val="9DB6ED"/>
                </a:gs>
                <a:gs pos="100000">
                  <a:srgbClr val="24397E"/>
                </a:gs>
              </a:gsLst>
              <a:lin ang="5400000" scaled="0"/>
            </a:gra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/>
            <a:r>
              <a:rPr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ERP </a:t>
            </a:r>
          </a:p>
          <a:p>
            <a:pPr algn="ctr" eaLnBrk="0" latinLnBrk="0" hangingPunct="0"/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모듈 구축</a:t>
            </a:r>
            <a:r>
              <a:rPr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 eaLnBrk="0" latinLnBrk="0" hangingPunct="0"/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물류시스템</a:t>
            </a:r>
            <a:endParaRPr lang="en-US" altLang="ko-KR" sz="1400" b="1" ker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0" latinLnBrk="0" hangingPunct="0"/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고도화</a:t>
            </a:r>
            <a:endParaRPr lang="ko-KR" altLang="en-US" sz="1400" b="1" kern="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9FF08D68-A65B-0548-C656-3E147628832C}"/>
              </a:ext>
            </a:extLst>
          </p:cNvPr>
          <p:cNvCxnSpPr>
            <a:cxnSpLocks/>
            <a:stCxn id="47" idx="3"/>
            <a:endCxn id="132" idx="1"/>
          </p:cNvCxnSpPr>
          <p:nvPr/>
        </p:nvCxnSpPr>
        <p:spPr>
          <a:xfrm flipV="1">
            <a:off x="9794021" y="1923182"/>
            <a:ext cx="537268" cy="2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90EF3849-FD29-C90A-AB02-3817B4EDB1A9}"/>
              </a:ext>
            </a:extLst>
          </p:cNvPr>
          <p:cNvSpPr/>
          <p:nvPr/>
        </p:nvSpPr>
        <p:spPr>
          <a:xfrm>
            <a:off x="10331289" y="2572520"/>
            <a:ext cx="1662443" cy="1256548"/>
          </a:xfrm>
          <a:prstGeom prst="rect">
            <a:avLst/>
          </a:prstGeom>
          <a:solidFill>
            <a:schemeClr val="bg1"/>
          </a:solidFill>
          <a:ln w="9525" cmpd="sng">
            <a:gradFill>
              <a:gsLst>
                <a:gs pos="0">
                  <a:srgbClr val="2C479C"/>
                </a:gs>
                <a:gs pos="50000">
                  <a:srgbClr val="9DB6ED"/>
                </a:gs>
                <a:gs pos="100000">
                  <a:srgbClr val="24397E"/>
                </a:gs>
              </a:gsLst>
              <a:lin ang="5400000" scaled="0"/>
            </a:gra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/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인력 확보</a:t>
            </a:r>
            <a:endParaRPr lang="en-US" altLang="ko-KR" sz="1400" b="1" ker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0" latinLnBrk="0" hangingPunct="0"/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 개발 및</a:t>
            </a:r>
            <a:endParaRPr lang="en-US" altLang="ko-KR" sz="1400" b="1" ker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0" latinLnBrk="0" hangingPunct="0"/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</a:t>
            </a:r>
            <a:endParaRPr lang="en-US" altLang="ko-KR" sz="1400" b="1" ker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0" latinLnBrk="0" hangingPunct="0"/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양성</a:t>
            </a:r>
            <a:endParaRPr lang="ko-KR" altLang="en-US" sz="1400" b="1" kern="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5E07174B-4958-D1D4-680C-CA1D865DD375}"/>
              </a:ext>
            </a:extLst>
          </p:cNvPr>
          <p:cNvCxnSpPr>
            <a:cxnSpLocks/>
            <a:stCxn id="53" idx="3"/>
            <a:endCxn id="138" idx="1"/>
          </p:cNvCxnSpPr>
          <p:nvPr/>
        </p:nvCxnSpPr>
        <p:spPr>
          <a:xfrm>
            <a:off x="9785758" y="3199068"/>
            <a:ext cx="545531" cy="1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4D7202DB-2FE0-FB01-C22F-042DB7FCB39E}"/>
              </a:ext>
            </a:extLst>
          </p:cNvPr>
          <p:cNvSpPr/>
          <p:nvPr/>
        </p:nvSpPr>
        <p:spPr>
          <a:xfrm>
            <a:off x="10331289" y="3935214"/>
            <a:ext cx="1662443" cy="1256548"/>
          </a:xfrm>
          <a:prstGeom prst="rect">
            <a:avLst/>
          </a:prstGeom>
          <a:solidFill>
            <a:schemeClr val="bg1"/>
          </a:solidFill>
          <a:ln w="9525" cmpd="sng">
            <a:gradFill>
              <a:gsLst>
                <a:gs pos="0">
                  <a:srgbClr val="2C479C"/>
                </a:gs>
                <a:gs pos="50000">
                  <a:srgbClr val="9DB6ED"/>
                </a:gs>
                <a:gs pos="100000">
                  <a:srgbClr val="24397E"/>
                </a:gs>
              </a:gsLst>
              <a:lin ang="5400000" scaled="0"/>
            </a:gra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/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실시간 연동</a:t>
            </a:r>
            <a:r>
              <a:rPr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 eaLnBrk="0" latinLnBrk="0" hangingPunct="0"/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모니터링</a:t>
            </a:r>
            <a:r>
              <a:rPr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</a:t>
            </a:r>
            <a:endParaRPr lang="en-US" altLang="ko-KR" sz="1400" b="1" ker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0" latinLnBrk="0" hangingPunct="0"/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구축</a:t>
            </a:r>
            <a:endParaRPr lang="en-US" altLang="ko-KR" sz="1400" b="1" ker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0" latinLnBrk="0" hangingPunct="0"/>
            <a:r>
              <a:rPr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단계별 구축</a:t>
            </a:r>
            <a:r>
              <a:rPr lang="en-US" altLang="ko-KR" sz="1400" b="1" ker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b="1" kern="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84245FF7-533C-3714-9031-966D12EDAF47}"/>
              </a:ext>
            </a:extLst>
          </p:cNvPr>
          <p:cNvCxnSpPr>
            <a:cxnSpLocks/>
            <a:endCxn id="144" idx="1"/>
          </p:cNvCxnSpPr>
          <p:nvPr/>
        </p:nvCxnSpPr>
        <p:spPr>
          <a:xfrm>
            <a:off x="9849861" y="4563488"/>
            <a:ext cx="4814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8">
            <a:extLst>
              <a:ext uri="{FF2B5EF4-FFF2-40B4-BE49-F238E27FC236}">
                <a16:creationId xmlns:a16="http://schemas.microsoft.com/office/drawing/2014/main" id="{8AF1B314-3BCD-0419-CAD4-11C5A3D7FC0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568927" y="1126028"/>
            <a:ext cx="1040888" cy="216000"/>
          </a:xfrm>
          <a:prstGeom prst="rect">
            <a:avLst/>
          </a:prstGeom>
          <a:noFill/>
          <a:ln w="3175">
            <a:noFill/>
            <a:miter lim="800000"/>
            <a:headEnd type="none" w="sm" len="sm"/>
            <a:tailEnd type="none" w="med" len="sm"/>
          </a:ln>
          <a:effectLst/>
        </p:spPr>
        <p:txBody>
          <a:bodyPr lIns="0" tIns="0" rIns="0" bIns="0" anchor="ctr"/>
          <a:lstStyle>
            <a:defPPr>
              <a:defRPr lang="ko-KR"/>
            </a:defPPr>
            <a:lvl1pPr marL="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2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5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7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8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10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63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14" algn="l" defTabSz="914303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en-US" sz="14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 표</a:t>
            </a:r>
            <a:endParaRPr kumimoji="0" lang="en-US" altLang="ko-KR" sz="1400" b="1" u="sng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650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FEB8D8F-F66F-575A-E24B-07C5FF02F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2A6665-3514-4948-8E09-39272CC142EA}" type="slidenum">
              <a:rPr lang="ko-KR" altLang="en-US" smtClean="0"/>
              <a:pPr/>
              <a:t>5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FF3DFAE-0317-375F-5569-70309983E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708349"/>
              </p:ext>
            </p:extLst>
          </p:nvPr>
        </p:nvGraphicFramePr>
        <p:xfrm>
          <a:off x="264318" y="1078478"/>
          <a:ext cx="11663364" cy="5381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320">
                  <a:extLst>
                    <a:ext uri="{9D8B030D-6E8A-4147-A177-3AD203B41FA5}">
                      <a16:colId xmlns:a16="http://schemas.microsoft.com/office/drawing/2014/main" val="3856658877"/>
                    </a:ext>
                  </a:extLst>
                </a:gridCol>
                <a:gridCol w="2664823">
                  <a:extLst>
                    <a:ext uri="{9D8B030D-6E8A-4147-A177-3AD203B41FA5}">
                      <a16:colId xmlns:a16="http://schemas.microsoft.com/office/drawing/2014/main" val="678010932"/>
                    </a:ext>
                  </a:extLst>
                </a:gridCol>
                <a:gridCol w="374468">
                  <a:extLst>
                    <a:ext uri="{9D8B030D-6E8A-4147-A177-3AD203B41FA5}">
                      <a16:colId xmlns:a16="http://schemas.microsoft.com/office/drawing/2014/main" val="4156894903"/>
                    </a:ext>
                  </a:extLst>
                </a:gridCol>
                <a:gridCol w="1979023">
                  <a:extLst>
                    <a:ext uri="{9D8B030D-6E8A-4147-A177-3AD203B41FA5}">
                      <a16:colId xmlns:a16="http://schemas.microsoft.com/office/drawing/2014/main" val="3522846935"/>
                    </a:ext>
                  </a:extLst>
                </a:gridCol>
                <a:gridCol w="3402874">
                  <a:extLst>
                    <a:ext uri="{9D8B030D-6E8A-4147-A177-3AD203B41FA5}">
                      <a16:colId xmlns:a16="http://schemas.microsoft.com/office/drawing/2014/main" val="3219131753"/>
                    </a:ext>
                  </a:extLst>
                </a:gridCol>
                <a:gridCol w="493328">
                  <a:extLst>
                    <a:ext uri="{9D8B030D-6E8A-4147-A177-3AD203B41FA5}">
                      <a16:colId xmlns:a16="http://schemas.microsoft.com/office/drawing/2014/main" val="1620779397"/>
                    </a:ext>
                  </a:extLst>
                </a:gridCol>
              </a:tblGrid>
              <a:tr h="2704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내용 </a:t>
                      </a: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기간</a:t>
                      </a:r>
                      <a:endParaRPr lang="ko-KR" altLang="en-US" b="1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견적</a:t>
                      </a: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871954"/>
                  </a:ext>
                </a:extLst>
              </a:tr>
              <a:tr h="218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준비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프로젝트 준비</a:t>
                      </a:r>
                      <a:r>
                        <a:rPr lang="en-US" altLang="ko-KR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착수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업체 일정협의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 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TFT,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계약서 작성</a:t>
                      </a: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품의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377954"/>
                  </a:ext>
                </a:extLst>
              </a:tr>
              <a:tr h="279122">
                <a:tc rowSpan="10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컨설팅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시스템분석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AS-IS, TO-BE 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분석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</a:t>
                      </a:r>
                      <a:endParaRPr lang="en-US" altLang="ko-KR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262,080,000</a:t>
                      </a:r>
                      <a:endParaRPr lang="en-US" altLang="ko-KR" sz="1400" b="1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SGH :  212,940,000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SGV :   49,140,000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665975"/>
                  </a:ext>
                </a:extLst>
              </a:tr>
              <a:tr h="279122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 spc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 요구사항 설계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50">
                          <a:latin typeface="+mn-ea"/>
                          <a:ea typeface="+mn-ea"/>
                        </a:rPr>
                        <a:t>기준정보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, DB 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743628"/>
                  </a:ext>
                </a:extLst>
              </a:tr>
              <a:tr h="279122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 spc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 spc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8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>
                          <a:latin typeface="+mn-ea"/>
                          <a:ea typeface="+mn-ea"/>
                        </a:rPr>
                        <a:t>MES-POP I/F 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08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772505"/>
                  </a:ext>
                </a:extLst>
              </a:tr>
              <a:tr h="270475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요구사항 개발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50">
                          <a:latin typeface="+mn-ea"/>
                          <a:ea typeface="+mn-ea"/>
                        </a:rPr>
                        <a:t>프로그램 개발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단위 테스트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126,828,000</a:t>
                      </a:r>
                      <a:endParaRPr lang="en-US" altLang="ko-KR" sz="1400" b="1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SGH : 120,528,000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출장비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6,300,000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-. SGH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구축 완료후 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VINA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 구축</a:t>
                      </a: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숙식 및 항공료 본사 부담</a:t>
                      </a: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725562"/>
                  </a:ext>
                </a:extLst>
              </a:tr>
              <a:tr h="270475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 spc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Pilot OPEN, </a:t>
                      </a: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50">
                          <a:latin typeface="+mn-ea"/>
                          <a:ea typeface="+mn-ea"/>
                        </a:rPr>
                        <a:t>시범 운영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사용자 교육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345143"/>
                  </a:ext>
                </a:extLst>
              </a:tr>
              <a:tr h="270475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 spc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본가동</a:t>
                      </a:r>
                      <a:r>
                        <a:rPr lang="en-US" altLang="ko-KR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안정화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50">
                          <a:latin typeface="+mn-ea"/>
                          <a:ea typeface="+mn-ea"/>
                        </a:rPr>
                        <a:t>전체 모듈 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OPEN, 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통합테스트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검수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286528"/>
                  </a:ext>
                </a:extLst>
              </a:tr>
              <a:tr h="270475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 spc="0">
                        <a:solidFill>
                          <a:schemeClr val="tx1"/>
                        </a:solidFill>
                        <a:effectLst/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50">
                          <a:latin typeface="+mn-ea"/>
                          <a:ea typeface="+mn-ea"/>
                        </a:rPr>
                        <a:t>종료보고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운영인계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803631"/>
                  </a:ext>
                </a:extLst>
              </a:tr>
              <a:tr h="616017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라이센스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50">
                          <a:latin typeface="+mn-ea"/>
                          <a:ea typeface="+mn-ea"/>
                        </a:rPr>
                        <a:t>솔루션 라이선스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동시접속 기준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05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08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103,200,000</a:t>
                      </a:r>
                      <a:endParaRPr lang="en-US" altLang="ko-KR" sz="1400" b="1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r" defTabSz="908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본사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28,800,000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VINA : 28,800,000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라이선스 추가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45,600,000</a:t>
                      </a: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동시접속 기준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본사 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 user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-. VINA : 40 User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-.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본사 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 User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 구매</a:t>
                      </a: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525289"/>
                  </a:ext>
                </a:extLst>
              </a:tr>
              <a:tr h="252663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50">
                          <a:latin typeface="+mn-ea"/>
                          <a:ea typeface="+mn-ea"/>
                        </a:rPr>
                        <a:t>옵션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세무회계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,CMS,</a:t>
                      </a:r>
                      <a:r>
                        <a:rPr lang="ko-KR" altLang="en-US" sz="1050">
                          <a:latin typeface="+mn-ea"/>
                          <a:ea typeface="+mn-ea"/>
                        </a:rPr>
                        <a:t>열린광장</a:t>
                      </a:r>
                      <a:r>
                        <a:rPr lang="en-US" altLang="ko-KR" sz="105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05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8,400,000</a:t>
                      </a: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u="sng" baseline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984351"/>
                  </a:ext>
                </a:extLst>
              </a:tr>
              <a:tr h="360633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시스템 합계</a:t>
                      </a:r>
                      <a:endParaRPr lang="en-US" altLang="ko-KR" sz="16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altLang="ko-KR" sz="1800" b="1">
                          <a:solidFill>
                            <a:srgbClr val="FF3300"/>
                          </a:solidFill>
                          <a:latin typeface="+mn-ea"/>
                          <a:ea typeface="+mn-ea"/>
                        </a:rPr>
                        <a:t>500,508,000</a:t>
                      </a:r>
                      <a:endParaRPr lang="ko-KR" altLang="en-US" sz="1200" b="1">
                        <a:solidFill>
                          <a:srgbClr val="FF33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95998"/>
                  </a:ext>
                </a:extLst>
              </a:tr>
              <a:tr h="270475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2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백업시스템</a:t>
                      </a: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50">
                          <a:latin typeface="+mn-ea"/>
                          <a:ea typeface="+mn-ea"/>
                        </a:rPr>
                        <a:t>데이터베이스 물리적 백업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endParaRPr lang="ko-KR" altLang="en-US" sz="1200" b="1"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100" b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100" b="0">
                          <a:latin typeface="+mn-ea"/>
                          <a:ea typeface="+mn-ea"/>
                        </a:rPr>
                        <a:t>데이터 생성량에 따라 사양 변경으로 추후 품의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337287"/>
                  </a:ext>
                </a:extLst>
              </a:tr>
              <a:tr h="270475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1050"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endParaRPr lang="ko-KR" altLang="en-US" sz="1200" b="1">
                        <a:latin typeface="+mn-ea"/>
                        <a:ea typeface="+mn-ea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1000" b="0">
                        <a:latin typeface="+mn-ea"/>
                        <a:ea typeface="+mn-ea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743504"/>
                  </a:ext>
                </a:extLst>
              </a:tr>
              <a:tr h="360633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b="0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                                </a:t>
                      </a:r>
                      <a:r>
                        <a:rPr lang="ko-KR" altLang="en-US" sz="1600" b="1" kern="120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 합계</a:t>
                      </a:r>
                      <a:endParaRPr lang="en-US" altLang="ko-KR" sz="1600" b="1" kern="120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endParaRPr lang="ko-KR" altLang="en-US" sz="1600" b="1" kern="1200">
                        <a:solidFill>
                          <a:srgbClr val="FF33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ko-KR" altLang="en-US" sz="1200" b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646222"/>
                  </a:ext>
                </a:extLst>
              </a:tr>
              <a:tr h="5897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200" b="0" kern="120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2000" b="0" kern="120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        </a:t>
                      </a:r>
                      <a:r>
                        <a:rPr lang="ko-KR" altLang="en-US" sz="2000" b="1" kern="120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 시스템 도입 비용</a:t>
                      </a:r>
                      <a:endParaRPr lang="en-US" altLang="ko-KR" sz="2000" b="1" kern="1200" spc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altLang="ko-KR" sz="2000" b="1" kern="1200" spc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500,000,000</a:t>
                      </a:r>
                      <a:endParaRPr lang="ko-KR" altLang="en-US" sz="2000" b="1" kern="1200" spc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7200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200" b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-. 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십만단위 이하 절사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200" b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0314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7D568AB-D416-ED75-E171-F8F62443C7C5}"/>
              </a:ext>
            </a:extLst>
          </p:cNvPr>
          <p:cNvSpPr txBox="1"/>
          <p:nvPr/>
        </p:nvSpPr>
        <p:spPr>
          <a:xfrm>
            <a:off x="264318" y="691954"/>
            <a:ext cx="6035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  <a:latin typeface="+mn-ea"/>
              </a:rPr>
              <a:t>● 개발기간 </a:t>
            </a:r>
            <a:r>
              <a:rPr lang="en-US" altLang="ko-KR" b="1">
                <a:solidFill>
                  <a:srgbClr val="0000FF"/>
                </a:solidFill>
                <a:latin typeface="+mn-ea"/>
              </a:rPr>
              <a:t>: 5</a:t>
            </a:r>
            <a:r>
              <a:rPr lang="ko-KR" altLang="en-US" b="1">
                <a:solidFill>
                  <a:srgbClr val="0000FF"/>
                </a:solidFill>
                <a:latin typeface="+mn-ea"/>
              </a:rPr>
              <a:t>개월</a:t>
            </a:r>
            <a:r>
              <a:rPr lang="en-US" altLang="ko-KR" b="1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b="1">
                <a:solidFill>
                  <a:srgbClr val="0000FF"/>
                </a:solidFill>
                <a:latin typeface="+mn-ea"/>
              </a:rPr>
              <a:t>준비기간 제외</a:t>
            </a:r>
            <a:r>
              <a:rPr lang="en-US" altLang="ko-KR" b="1">
                <a:solidFill>
                  <a:srgbClr val="0000FF"/>
                </a:solidFill>
                <a:latin typeface="+mn-ea"/>
              </a:rPr>
              <a:t>) - 24</a:t>
            </a:r>
            <a:r>
              <a:rPr lang="ko-KR" altLang="en-US" b="1">
                <a:solidFill>
                  <a:srgbClr val="0000FF"/>
                </a:solidFill>
                <a:latin typeface="+mn-ea"/>
              </a:rPr>
              <a:t>년 </a:t>
            </a:r>
            <a:r>
              <a:rPr lang="en-US" altLang="ko-KR" b="1">
                <a:solidFill>
                  <a:srgbClr val="0000FF"/>
                </a:solidFill>
                <a:latin typeface="+mn-ea"/>
              </a:rPr>
              <a:t>08</a:t>
            </a:r>
            <a:r>
              <a:rPr lang="ko-KR" altLang="en-US" b="1">
                <a:solidFill>
                  <a:srgbClr val="0000FF"/>
                </a:solidFill>
                <a:latin typeface="+mn-ea"/>
              </a:rPr>
              <a:t>월 </a:t>
            </a:r>
            <a:r>
              <a:rPr lang="en-US" altLang="ko-KR" b="1">
                <a:solidFill>
                  <a:srgbClr val="0000FF"/>
                </a:solidFill>
                <a:latin typeface="+mn-ea"/>
              </a:rPr>
              <a:t>~ 12</a:t>
            </a:r>
            <a:r>
              <a:rPr lang="ko-KR" altLang="en-US" b="1">
                <a:solidFill>
                  <a:srgbClr val="0000FF"/>
                </a:solidFill>
                <a:latin typeface="+mn-ea"/>
              </a:rPr>
              <a:t>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F875E-92BF-523B-F324-0D55FF96881A}"/>
              </a:ext>
            </a:extLst>
          </p:cNvPr>
          <p:cNvSpPr txBox="1"/>
          <p:nvPr/>
        </p:nvSpPr>
        <p:spPr>
          <a:xfrm>
            <a:off x="96256" y="85725"/>
            <a:ext cx="6405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1-4. </a:t>
            </a:r>
            <a:r>
              <a:rPr lang="ko-KR" altLang="en-US"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 내용 및 견적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524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E7ADA82-872F-66F1-A397-5C0505175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2A6665-3514-4948-8E09-39272CC142EA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3F831-266B-4F95-261E-C8C4C053C7DF}"/>
              </a:ext>
            </a:extLst>
          </p:cNvPr>
          <p:cNvSpPr txBox="1"/>
          <p:nvPr/>
        </p:nvSpPr>
        <p:spPr>
          <a:xfrm>
            <a:off x="96256" y="85725"/>
            <a:ext cx="6405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1-5. </a:t>
            </a:r>
            <a:r>
              <a:rPr lang="ko-KR" altLang="en-US"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 세부 일정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A70C7FA-7829-C621-63FD-85B19F88B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661734"/>
              </p:ext>
            </p:extLst>
          </p:nvPr>
        </p:nvGraphicFramePr>
        <p:xfrm>
          <a:off x="123092" y="653722"/>
          <a:ext cx="11938471" cy="6155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5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684">
                  <a:extLst>
                    <a:ext uri="{9D8B030D-6E8A-4147-A177-3AD203B41FA5}">
                      <a16:colId xmlns:a16="http://schemas.microsoft.com/office/drawing/2014/main" val="353753307"/>
                    </a:ext>
                  </a:extLst>
                </a:gridCol>
                <a:gridCol w="506991">
                  <a:extLst>
                    <a:ext uri="{9D8B030D-6E8A-4147-A177-3AD203B41FA5}">
                      <a16:colId xmlns:a16="http://schemas.microsoft.com/office/drawing/2014/main" val="436158209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530963407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2374736220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2052086738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245861115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6095931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3379226723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3233123742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1337229322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4062459441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892477528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3076129155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1505699151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1153886651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2074007757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3257254005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53930707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3522846935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1764842696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4178605082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938518563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3202036574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397813689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3261980123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2145867672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965774991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1688524641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631968775"/>
                    </a:ext>
                  </a:extLst>
                </a:gridCol>
                <a:gridCol w="294254">
                  <a:extLst>
                    <a:ext uri="{9D8B030D-6E8A-4147-A177-3AD203B41FA5}">
                      <a16:colId xmlns:a16="http://schemas.microsoft.com/office/drawing/2014/main" val="344041547"/>
                    </a:ext>
                  </a:extLst>
                </a:gridCol>
              </a:tblGrid>
              <a:tr h="25278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활동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산출물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기간</a:t>
                      </a:r>
                      <a:endParaRPr lang="en-US" altLang="ko-KR" sz="1200" b="1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1200" b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871954"/>
                  </a:ext>
                </a:extLst>
              </a:tr>
              <a:tr h="252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dirty="0">
                        <a:solidFill>
                          <a:schemeClr val="tx1"/>
                        </a:solidFill>
                        <a:latin typeface="에스코어 드림 6 Bold" panose="020B0703030302020204" pitchFamily="34" charset="-127"/>
                        <a:ea typeface="에스코어 드림 6 Bold" panose="020B07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00914"/>
                  </a:ext>
                </a:extLst>
              </a:tr>
              <a:tr h="243777"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프로젝트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준비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착수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08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업체 협의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전체일정 협의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377954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계약서작성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품의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가계약서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286528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계획수립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세부 </a:t>
                      </a:r>
                      <a:r>
                        <a:rPr lang="en-US" altLang="ko-KR" sz="1000" b="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WBS, </a:t>
                      </a:r>
                      <a:r>
                        <a:rPr lang="ko-KR" altLang="en-US" sz="1000" b="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계약서</a:t>
                      </a:r>
                      <a:endParaRPr lang="en-US" altLang="ko-KR" sz="10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rgbClr val="31B47B"/>
                        </a:solidFill>
                        <a:effectLst/>
                        <a:highlight>
                          <a:srgbClr val="31B47B"/>
                        </a:highlight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0855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662741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착수준비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착수보고서</a:t>
                      </a:r>
                      <a:endParaRPr lang="en-US" altLang="ko-KR" sz="10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16335"/>
                  </a:ext>
                </a:extLst>
              </a:tr>
              <a:tr h="243777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시스템분석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분석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(AS_IS)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AS-IS,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803631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프로세스 설계서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967969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중간보고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중간보고서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991985"/>
                  </a:ext>
                </a:extLst>
              </a:tr>
              <a:tr h="243777"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 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요구사항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기준정보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기준정보 설계서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579685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066562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프로그램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프로그램 설계서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957538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프로그램 설계서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10448"/>
                  </a:ext>
                </a:extLst>
              </a:tr>
              <a:tr h="243777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요구사항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소스코드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016599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단위테스트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소스코드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186675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연계 테스트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소스코드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127412"/>
                  </a:ext>
                </a:extLst>
              </a:tr>
              <a:tr h="243777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Pilot OPEN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Pilot OPEN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운영시스템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525289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메뉴얼 작성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 메뉴얼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906319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시범운영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교육결과서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16170"/>
                  </a:ext>
                </a:extLst>
              </a:tr>
              <a:tr h="243777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본가동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안정화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본가동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통합테스트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운영일지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05608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검수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검수확인서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148397"/>
                  </a:ext>
                </a:extLst>
              </a:tr>
              <a:tr h="243777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인프라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백업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백업 스케줄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000" b="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SGH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033419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서버이중화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이중화 계획서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SGH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179352"/>
                  </a:ext>
                </a:extLst>
              </a:tr>
              <a:tr h="243777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종료보고서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종료보고서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38807"/>
                  </a:ext>
                </a:extLst>
              </a:tr>
              <a:tr h="24377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운영인계</a:t>
                      </a:r>
                      <a:endParaRPr lang="en-US" altLang="ko-KR" sz="10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PJT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5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884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759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F7A7A5-7D87-4AC3-818C-71B81A3C0B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1849" y="6356350"/>
            <a:ext cx="2743200" cy="365125"/>
          </a:xfrm>
        </p:spPr>
        <p:txBody>
          <a:bodyPr/>
          <a:lstStyle/>
          <a:p>
            <a:r>
              <a:rPr lang="en-US" altLang="ko-KR"/>
              <a:t>SEGYUNG HITECH  l </a:t>
            </a:r>
            <a:r>
              <a:rPr lang="ko-KR" altLang="en-US"/>
              <a:t> </a:t>
            </a:r>
            <a:fld id="{AB2A6665-3514-4948-8E09-39272CC142EA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8EAE1-9C50-4931-8B7C-DAA715F2629B}"/>
              </a:ext>
            </a:extLst>
          </p:cNvPr>
          <p:cNvSpPr txBox="1"/>
          <p:nvPr/>
        </p:nvSpPr>
        <p:spPr>
          <a:xfrm>
            <a:off x="3429829" y="2470256"/>
            <a:ext cx="534911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47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566A15FC-3F58-4611-893F-9C6C01103E04}"/>
              </a:ext>
            </a:extLst>
          </p:cNvPr>
          <p:cNvSpPr/>
          <p:nvPr/>
        </p:nvSpPr>
        <p:spPr>
          <a:xfrm rot="8100000">
            <a:off x="9101989" y="4900168"/>
            <a:ext cx="4596985" cy="2337451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Picture 2" descr="주)세경하이테크 2021년 기업정보 | 사원수 187명, 근무환경, 복리후생 등 기업정보 제공 - 사람인">
            <a:extLst>
              <a:ext uri="{FF2B5EF4-FFF2-40B4-BE49-F238E27FC236}">
                <a16:creationId xmlns:a16="http://schemas.microsoft.com/office/drawing/2014/main" id="{C181DAE8-3C41-41D9-A0DF-2574D4E75B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17"/>
          <a:stretch/>
        </p:blipFill>
        <p:spPr bwMode="auto">
          <a:xfrm>
            <a:off x="10479172" y="5546789"/>
            <a:ext cx="1321934" cy="95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7908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32148</TotalTime>
  <Words>905</Words>
  <Application>Microsoft Office PowerPoint</Application>
  <PresentationFormat>와이드스크린</PresentationFormat>
  <Paragraphs>321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SGIT-Royal</dc:creator>
  <cp:lastModifiedBy>TFOX</cp:lastModifiedBy>
  <cp:revision>798</cp:revision>
  <cp:lastPrinted>2023-01-03T01:46:00Z</cp:lastPrinted>
  <dcterms:created xsi:type="dcterms:W3CDTF">2021-08-02T07:10:03Z</dcterms:created>
  <dcterms:modified xsi:type="dcterms:W3CDTF">2024-07-12T06:53:33Z</dcterms:modified>
</cp:coreProperties>
</file>